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ce_college_logo.png"/>
          <p:cNvPicPr>
            <a:picLocks noChangeAspect="1"/>
          </p:cNvPicPr>
          <p:nvPr/>
        </p:nvPicPr>
        <p:blipFill>
          <a:blip r:embed="rId2"/>
          <a:stretch>
            <a:fillRect/>
          </a:stretch>
        </p:blipFill>
        <p:spPr>
          <a:xfrm>
            <a:off x="731520" y="365760"/>
            <a:ext cx="3254692" cy="777240"/>
          </a:xfrm>
          <a:prstGeom prst="rect">
            <a:avLst/>
          </a:prstGeom>
        </p:spPr>
      </p:pic>
      <p:pic>
        <p:nvPicPr>
          <p:cNvPr id="4" name="Picture 3" descr="affiliations_logo.png"/>
          <p:cNvPicPr>
            <a:picLocks noChangeAspect="1"/>
          </p:cNvPicPr>
          <p:nvPr/>
        </p:nvPicPr>
        <p:blipFill>
          <a:blip r:embed="rId3"/>
          <a:stretch>
            <a:fillRect/>
          </a:stretch>
        </p:blipFill>
        <p:spPr>
          <a:xfrm>
            <a:off x="7223760" y="411480"/>
            <a:ext cx="4133335" cy="685800"/>
          </a:xfrm>
          <a:prstGeom prst="rect">
            <a:avLst/>
          </a:prstGeom>
        </p:spPr>
      </p:pic>
      <p:sp>
        <p:nvSpPr>
          <p:cNvPr id="5" name="TextBox 4"/>
          <p:cNvSpPr txBox="1"/>
          <p:nvPr/>
        </p:nvSpPr>
        <p:spPr>
          <a:xfrm>
            <a:off x="731520" y="1371600"/>
            <a:ext cx="10728655" cy="731520"/>
          </a:xfrm>
          <a:prstGeom prst="rect">
            <a:avLst/>
          </a:prstGeom>
          <a:noFill/>
        </p:spPr>
        <p:txBody>
          <a:bodyPr wrap="square">
            <a:spAutoFit/>
          </a:bodyPr>
          <a:lstStyle/>
          <a:p>
            <a:pPr algn="ctr">
              <a:defRPr sz="1800" b="1">
                <a:solidFill>
                  <a:srgbClr val="FFFFFF"/>
                </a:solidFill>
                <a:latin typeface="Calibri"/>
              </a:defRPr>
            </a:pPr>
            <a:r>
              <a:t>ACE ENGINEERING COLLEGE (AN AUTONOMOUS INSTITUTION)</a:t>
            </a:r>
          </a:p>
          <a:p>
            <a:pPr algn="ctr">
              <a:defRPr sz="1300">
                <a:solidFill>
                  <a:srgbClr val="C7D2FE"/>
                </a:solidFill>
                <a:latin typeface="Calibri"/>
              </a:defRPr>
            </a:pPr>
            <a:r>
              <a:t>Department of Computer Science &amp; Engineering (IoT &amp; AI&amp;DS)</a:t>
            </a:r>
          </a:p>
        </p:txBody>
      </p:sp>
      <p:sp>
        <p:nvSpPr>
          <p:cNvPr id="6" name="Rounded Rectangle 5"/>
          <p:cNvSpPr/>
          <p:nvPr/>
        </p:nvSpPr>
        <p:spPr>
          <a:xfrm>
            <a:off x="731520" y="2240280"/>
            <a:ext cx="10728655" cy="2194560"/>
          </a:xfrm>
          <a:prstGeom prst="roundRect">
            <a:avLst/>
          </a:prstGeom>
          <a:solidFill>
            <a:srgbClr val="183153"/>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23160"/>
            <a:ext cx="10362895" cy="1828800"/>
          </a:xfrm>
          <a:prstGeom prst="rect">
            <a:avLst/>
          </a:prstGeom>
          <a:noFill/>
        </p:spPr>
        <p:txBody>
          <a:bodyPr wrap="square">
            <a:spAutoFit/>
          </a:bodyPr>
          <a:lstStyle/>
          <a:p>
            <a:pPr algn="ctr">
              <a:spcAft>
                <a:spcPts val="400"/>
              </a:spcAft>
              <a:defRPr sz="1100" b="1">
                <a:solidFill>
                  <a:srgbClr val="60A5FA"/>
                </a:solidFill>
                <a:latin typeface="Calibri"/>
              </a:defRPr>
            </a:pPr>
            <a:r>
              <a:t>MAJOR PROJECT REVIEW — STAGE 1</a:t>
            </a:r>
          </a:p>
          <a:p>
            <a:pPr algn="ctr">
              <a:spcAft>
                <a:spcPts val="600"/>
              </a:spcAft>
              <a:defRPr sz="3000" b="1">
                <a:solidFill>
                  <a:srgbClr val="FFFFFF"/>
                </a:solidFill>
                <a:latin typeface="Times New Roman"/>
              </a:defRPr>
            </a:pPr>
            <a:r>
              <a:t>WORKUP: Virtual Professional Experience Platform</a:t>
            </a:r>
          </a:p>
          <a:p>
            <a:pPr algn="ctr">
              <a:defRPr sz="1400" i="1">
                <a:solidFill>
                  <a:srgbClr val="CBD5E1"/>
                </a:solidFill>
                <a:latin typeface="Calibri"/>
              </a:defRPr>
            </a:pPr>
            <a:r>
              <a:t>A Simulated Workplace Platform for Practical Software Engineering and Skill Verification</a:t>
            </a:r>
          </a:p>
        </p:txBody>
      </p:sp>
      <p:sp>
        <p:nvSpPr>
          <p:cNvPr id="8" name="Rounded Rectangle 7"/>
          <p:cNvSpPr/>
          <p:nvPr/>
        </p:nvSpPr>
        <p:spPr>
          <a:xfrm>
            <a:off x="731520" y="4617720"/>
            <a:ext cx="10728655" cy="1691640"/>
          </a:xfrm>
          <a:prstGeom prst="roundRect">
            <a:avLst/>
          </a:prstGeom>
          <a:solidFill>
            <a:srgbClr val="11223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709160"/>
            <a:ext cx="5029200" cy="1508760"/>
          </a:xfrm>
          <a:prstGeom prst="rect">
            <a:avLst/>
          </a:prstGeom>
          <a:noFill/>
        </p:spPr>
        <p:txBody>
          <a:bodyPr wrap="square">
            <a:spAutoFit/>
          </a:bodyPr>
          <a:lstStyle/>
          <a:p>
            <a:pPr>
              <a:defRPr sz="1100" b="1">
                <a:solidFill>
                  <a:srgbClr val="93C5FD"/>
                </a:solidFill>
                <a:latin typeface="Calibri"/>
              </a:defRPr>
            </a:pPr>
            <a:r>
              <a:t>BATCH NO: 05  |  TEAM DETAILS:</a:t>
            </a:r>
          </a:p>
          <a:p>
            <a:pPr>
              <a:defRPr sz="1150">
                <a:solidFill>
                  <a:srgbClr val="F1F5F9"/>
                </a:solidFill>
                <a:latin typeface="Calibri"/>
              </a:defRPr>
            </a:pPr>
            <a:r>
              <a:t>• Mashetty Rohith (23AG1A7236)</a:t>
            </a:r>
          </a:p>
          <a:p>
            <a:pPr>
              <a:defRPr sz="1150">
                <a:solidFill>
                  <a:srgbClr val="F1F5F9"/>
                </a:solidFill>
                <a:latin typeface="Calibri"/>
              </a:defRPr>
            </a:pPr>
            <a:r>
              <a:t>• Chintam Archana (23AG1A7214)</a:t>
            </a:r>
          </a:p>
          <a:p>
            <a:pPr>
              <a:defRPr sz="1150">
                <a:solidFill>
                  <a:srgbClr val="F1F5F9"/>
                </a:solidFill>
                <a:latin typeface="Calibri"/>
              </a:defRPr>
            </a:pPr>
            <a:r>
              <a:t>• Namasi Aravind (24AG5A7205)</a:t>
            </a:r>
          </a:p>
        </p:txBody>
      </p:sp>
      <p:sp>
        <p:nvSpPr>
          <p:cNvPr id="10" name="TextBox 9"/>
          <p:cNvSpPr txBox="1"/>
          <p:nvPr/>
        </p:nvSpPr>
        <p:spPr>
          <a:xfrm>
            <a:off x="6583680" y="4709160"/>
            <a:ext cx="4572000" cy="1508760"/>
          </a:xfrm>
          <a:prstGeom prst="rect">
            <a:avLst/>
          </a:prstGeom>
          <a:noFill/>
        </p:spPr>
        <p:txBody>
          <a:bodyPr wrap="square">
            <a:spAutoFit/>
          </a:bodyPr>
          <a:lstStyle/>
          <a:p>
            <a:pPr>
              <a:defRPr sz="1100" b="1">
                <a:solidFill>
                  <a:srgbClr val="93C5FD"/>
                </a:solidFill>
                <a:latin typeface="Calibri"/>
              </a:defRPr>
            </a:pPr>
            <a:r>
              <a:t>SUPERVISION &amp; REVIEW:</a:t>
            </a:r>
          </a:p>
          <a:p>
            <a:pPr>
              <a:defRPr sz="1150" b="1">
                <a:solidFill>
                  <a:srgbClr val="F1F5F9"/>
                </a:solidFill>
                <a:latin typeface="Calibri"/>
              </a:defRPr>
            </a:pPr>
            <a:r>
              <a:t>Internal Guide: Mrs. P. Swaroopa</a:t>
            </a:r>
          </a:p>
          <a:p>
            <a:pPr>
              <a:defRPr sz="1100" b="0">
                <a:solidFill>
                  <a:srgbClr val="94A3B8"/>
                </a:solidFill>
                <a:latin typeface="Calibri"/>
              </a:defRPr>
            </a:pPr>
            <a:r>
              <a:t>Assistant Professor, Dept. of CSE (IoT &amp; AI&amp;DS)</a:t>
            </a:r>
          </a:p>
          <a:p>
            <a:pPr>
              <a:defRPr sz="1150" b="1">
                <a:solidFill>
                  <a:srgbClr val="F1F5F9"/>
                </a:solidFill>
                <a:latin typeface="Calibri"/>
              </a:defRPr>
            </a:pPr>
            <a:r>
              <a:t>Head of Department: Dr. M. V. Vijaya Saradhi</a:t>
            </a:r>
          </a:p>
          <a:p>
            <a:pPr>
              <a:defRPr sz="1100" b="0">
                <a:solidFill>
                  <a:srgbClr val="94A3B8"/>
                </a:solidFill>
                <a:latin typeface="Calibri"/>
              </a:defRPr>
            </a:pPr>
            <a:r>
              <a:t>Professor &amp; HoD-CSE (IoT &amp; AI&amp;DS)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PROJECT OVERVIEW</a:t>
            </a:r>
          </a:p>
          <a:p>
            <a:pPr>
              <a:spcAft>
                <a:spcPts val="100"/>
              </a:spcAft>
              <a:defRPr sz="2400" b="1">
                <a:solidFill>
                  <a:srgbClr val="0F2942"/>
                </a:solidFill>
                <a:latin typeface="Calibri"/>
              </a:defRPr>
            </a:pPr>
            <a:r>
              <a:t>Abstract</a:t>
            </a:r>
          </a:p>
          <a:p>
            <a:pPr>
              <a:defRPr sz="1200">
                <a:solidFill>
                  <a:srgbClr val="64748B"/>
                </a:solidFill>
                <a:latin typeface="Calibri"/>
              </a:defRPr>
            </a:pPr>
            <a:r>
              <a:t>A virtual workplace platform bridging the gap between classroom coding and industry practice</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508760"/>
            <a:ext cx="9997135" cy="4389120"/>
          </a:xfrm>
          <a:prstGeom prst="rect">
            <a:avLst/>
          </a:prstGeom>
          <a:noFill/>
        </p:spPr>
        <p:txBody>
          <a:bodyPr wrap="square">
            <a:spAutoFit/>
          </a:bodyPr>
          <a:lstStyle/>
          <a:p>
            <a:pPr>
              <a:spcAft>
                <a:spcPts val="200"/>
              </a:spcAft>
              <a:defRPr sz="1100" b="1">
                <a:solidFill>
                  <a:srgbClr val="2563EB"/>
                </a:solidFill>
                <a:latin typeface="Calibri"/>
              </a:defRPr>
            </a:pPr>
            <a:r>
              <a:t>THE ACADEMIC GAP</a:t>
            </a:r>
          </a:p>
          <a:p>
            <a:pPr algn="just">
              <a:spcAft>
                <a:spcPts val="1200"/>
              </a:spcAft>
              <a:defRPr sz="1300">
                <a:solidFill>
                  <a:srgbClr val="1E293B"/>
                </a:solidFill>
                <a:latin typeface="Calibri"/>
              </a:defRPr>
            </a:pPr>
            <a:r>
              <a:t>Most computer science students learn programming concepts through lectures and isolated coding exercises, but face significant difficulties when transitioning to professional software engineering teams. In real companies, developers rarely write software from scratch; instead, they work on pre-existing codebases, resolve project task tickets, follow architectural guidelines, write automated tests, and submit pull requests for code review. Existing learning platforms focus heavily on syntax and algorithmic puzzles, leaving students with limited exposure to realistic team workflows.</a:t>
            </a:r>
          </a:p>
          <a:p>
            <a:pPr>
              <a:spcAft>
                <a:spcPts val="200"/>
              </a:spcAft>
              <a:defRPr sz="1100" b="1">
                <a:solidFill>
                  <a:srgbClr val="2563EB"/>
                </a:solidFill>
                <a:latin typeface="Calibri"/>
              </a:defRPr>
            </a:pPr>
            <a:r>
              <a:t>THE WORKUP SOLUTION</a:t>
            </a:r>
          </a:p>
          <a:p>
            <a:pPr algn="just">
              <a:spcAft>
                <a:spcPts val="1200"/>
              </a:spcAft>
              <a:defRPr sz="1300">
                <a:solidFill>
                  <a:srgbClr val="1E293B"/>
                </a:solidFill>
                <a:latin typeface="Calibri"/>
              </a:defRPr>
            </a:pPr>
            <a:r>
              <a:t>This project presents WORKUP, a web-based virtual professional experience platform designed to bridge this practical gap. Instead of solving toy problems, learners enter simulated tech companies (such as FinFlow Technologies) and take on realistic engineering roles. The platform organizes work into project backlogs using a task dependency engine, linking each task to real business scenarios and Architecture Decision Records (ADRs). Learners work inside isolated browser-based development sandboxes where they can edit code, run automated tests locally, and submit their changes for review.</a:t>
            </a:r>
          </a:p>
          <a:p>
            <a:pPr>
              <a:spcAft>
                <a:spcPts val="200"/>
              </a:spcAft>
              <a:defRPr sz="1100" b="1">
                <a:solidFill>
                  <a:srgbClr val="2563EB"/>
                </a:solidFill>
                <a:latin typeface="Calibri"/>
              </a:defRPr>
            </a:pPr>
            <a:r>
              <a:t>EVALUATION &amp; SKILL PROOF</a:t>
            </a:r>
          </a:p>
          <a:p>
            <a:pPr algn="just">
              <a:spcAft>
                <a:spcPts val="1200"/>
              </a:spcAft>
              <a:defRPr sz="1300">
                <a:solidFill>
                  <a:srgbClr val="1E293B"/>
                </a:solidFill>
                <a:latin typeface="Calibri"/>
              </a:defRPr>
            </a:pPr>
            <a:r>
              <a:t>An automated AI-assisted code review engine evaluates code changes against defined rubrics and provides line-level feedback to guide the learner. As tasks are approved, the platform creates an Evidence-of-Skill portfolio backed by verified Git commits. The system is designed and prototyped using Next.js 14, React.js, TypeScript, Prisma ORM, and Vitest, offering a safe, hands-on environment where students gain realistic workplace experience before starting their careers.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PROBLEM IDENTIFICATION</a:t>
            </a:r>
          </a:p>
          <a:p>
            <a:pPr>
              <a:spcAft>
                <a:spcPts val="100"/>
              </a:spcAft>
              <a:defRPr sz="2400" b="1">
                <a:solidFill>
                  <a:srgbClr val="0F2942"/>
                </a:solidFill>
                <a:latin typeface="Calibri"/>
              </a:defRPr>
            </a:pPr>
            <a:r>
              <a:t>Describe the Identified Problem</a:t>
            </a:r>
          </a:p>
          <a:p>
            <a:pPr>
              <a:defRPr sz="1200">
                <a:solidFill>
                  <a:srgbClr val="64748B"/>
                </a:solidFill>
                <a:latin typeface="Calibri"/>
              </a:defRPr>
            </a:pPr>
            <a:r>
              <a:t>Four fundamental challenges students face when transitioning from classroom coding to industry</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3 of 28</a:t>
            </a:r>
          </a:p>
        </p:txBody>
      </p:sp>
      <p:sp>
        <p:nvSpPr>
          <p:cNvPr id="8" name="Rounded Rectangle 7"/>
          <p:cNvSpPr/>
          <p:nvPr/>
        </p:nvSpPr>
        <p:spPr>
          <a:xfrm>
            <a:off x="731520" y="1280160"/>
            <a:ext cx="5212080" cy="2377440"/>
          </a:xfrm>
          <a:prstGeom prst="roundRect">
            <a:avLst/>
          </a:prstGeom>
          <a:solidFill>
            <a:srgbClr val="FEF2F2"/>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463040"/>
            <a:ext cx="137160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CHALLENGE 1</a:t>
            </a:r>
          </a:p>
        </p:txBody>
      </p:sp>
      <p:sp>
        <p:nvSpPr>
          <p:cNvPr id="10" name="TextBox 9"/>
          <p:cNvSpPr txBox="1"/>
          <p:nvPr/>
        </p:nvSpPr>
        <p:spPr>
          <a:xfrm>
            <a:off x="960120" y="1810512"/>
            <a:ext cx="4754880" cy="1737360"/>
          </a:xfrm>
          <a:prstGeom prst="rect">
            <a:avLst/>
          </a:prstGeom>
          <a:noFill/>
        </p:spPr>
        <p:txBody>
          <a:bodyPr wrap="square">
            <a:spAutoFit/>
          </a:bodyPr>
          <a:lstStyle/>
          <a:p>
            <a:pPr>
              <a:spcAft>
                <a:spcPts val="400"/>
              </a:spcAft>
              <a:defRPr sz="1400" b="1">
                <a:solidFill>
                  <a:srgbClr val="0F2942"/>
                </a:solidFill>
                <a:latin typeface="Calibri"/>
              </a:defRPr>
            </a:pPr>
            <a:r>
              <a:t>Clean-Slate Learning (Toy Problems)</a:t>
            </a:r>
          </a:p>
          <a:p>
            <a:pPr>
              <a:defRPr sz="1150">
                <a:solidFill>
                  <a:srgbClr val="1E293B"/>
                </a:solidFill>
                <a:latin typeface="Calibri"/>
              </a:defRPr>
            </a:pPr>
            <a:r>
              <a:t>Students usually practice writing small programs from an empty file. In real software jobs, developers almost never write code from scratch. Instead, they must read, understand, debug, and improve large existing project codebases that already have technical debt.</a:t>
            </a:r>
          </a:p>
        </p:txBody>
      </p:sp>
      <p:sp>
        <p:nvSpPr>
          <p:cNvPr id="11" name="Rounded Rectangle 10"/>
          <p:cNvSpPr/>
          <p:nvPr/>
        </p:nvSpPr>
        <p:spPr>
          <a:xfrm>
            <a:off x="6248095" y="1280160"/>
            <a:ext cx="5212080" cy="2377440"/>
          </a:xfrm>
          <a:prstGeom prst="roundRect">
            <a:avLst/>
          </a:prstGeom>
          <a:solidFill>
            <a:srgbClr val="FEF3C7"/>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76695" y="1463040"/>
            <a:ext cx="1371600"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CHALLENGE 2</a:t>
            </a:r>
          </a:p>
        </p:txBody>
      </p:sp>
      <p:sp>
        <p:nvSpPr>
          <p:cNvPr id="13" name="TextBox 12"/>
          <p:cNvSpPr txBox="1"/>
          <p:nvPr/>
        </p:nvSpPr>
        <p:spPr>
          <a:xfrm>
            <a:off x="6476695" y="1810512"/>
            <a:ext cx="4754880" cy="1737360"/>
          </a:xfrm>
          <a:prstGeom prst="rect">
            <a:avLst/>
          </a:prstGeom>
          <a:noFill/>
        </p:spPr>
        <p:txBody>
          <a:bodyPr wrap="square">
            <a:spAutoFit/>
          </a:bodyPr>
          <a:lstStyle/>
          <a:p>
            <a:pPr>
              <a:spcAft>
                <a:spcPts val="400"/>
              </a:spcAft>
              <a:defRPr sz="1400" b="1">
                <a:solidFill>
                  <a:srgbClr val="0F2942"/>
                </a:solidFill>
                <a:latin typeface="Calibri"/>
              </a:defRPr>
            </a:pPr>
            <a:r>
              <a:t>No Real Architectural Context</a:t>
            </a:r>
          </a:p>
          <a:p>
            <a:pPr>
              <a:defRPr sz="1150">
                <a:solidFill>
                  <a:srgbClr val="1E293B"/>
                </a:solidFill>
                <a:latin typeface="Calibri"/>
              </a:defRPr>
            </a:pPr>
            <a:r>
              <a:t>Classroom assignments only give simple algorithmic prompts without business background, task tickets, or Architecture Decision Records (ADRs). As a result, students do not learn how to follow company design standards or handle production constraints.</a:t>
            </a:r>
          </a:p>
        </p:txBody>
      </p:sp>
      <p:sp>
        <p:nvSpPr>
          <p:cNvPr id="14" name="Rounded Rectangle 13"/>
          <p:cNvSpPr/>
          <p:nvPr/>
        </p:nvSpPr>
        <p:spPr>
          <a:xfrm>
            <a:off x="731520" y="3840480"/>
            <a:ext cx="5212080" cy="2377440"/>
          </a:xfrm>
          <a:prstGeom prst="roundRect">
            <a:avLst/>
          </a:prstGeom>
          <a:solidFill>
            <a:srgbClr val="EFF6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 y="4023360"/>
            <a:ext cx="137160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CHALLENGE 3</a:t>
            </a:r>
          </a:p>
        </p:txBody>
      </p:sp>
      <p:sp>
        <p:nvSpPr>
          <p:cNvPr id="16" name="TextBox 15"/>
          <p:cNvSpPr txBox="1"/>
          <p:nvPr/>
        </p:nvSpPr>
        <p:spPr>
          <a:xfrm>
            <a:off x="960120" y="4370832"/>
            <a:ext cx="4754880" cy="1737360"/>
          </a:xfrm>
          <a:prstGeom prst="rect">
            <a:avLst/>
          </a:prstGeom>
          <a:noFill/>
        </p:spPr>
        <p:txBody>
          <a:bodyPr wrap="square">
            <a:spAutoFit/>
          </a:bodyPr>
          <a:lstStyle/>
          <a:p>
            <a:pPr>
              <a:spcAft>
                <a:spcPts val="400"/>
              </a:spcAft>
              <a:defRPr sz="1400" b="1">
                <a:solidFill>
                  <a:srgbClr val="0F2942"/>
                </a:solidFill>
                <a:latin typeface="Calibri"/>
              </a:defRPr>
            </a:pPr>
            <a:r>
              <a:t>Lack of In-Depth Code Review</a:t>
            </a:r>
          </a:p>
          <a:p>
            <a:pPr>
              <a:defRPr sz="1150">
                <a:solidFill>
                  <a:srgbClr val="1E293B"/>
                </a:solidFill>
                <a:latin typeface="Calibri"/>
              </a:defRPr>
            </a:pPr>
            <a:r>
              <a:t>Standard practice websites only test code with simple pass or fail checks. Students rarely experience line-by-line code reviews from senior engineers to learn clean coding habits, edge-case handling, and proper pull request communication.</a:t>
            </a:r>
          </a:p>
        </p:txBody>
      </p:sp>
      <p:sp>
        <p:nvSpPr>
          <p:cNvPr id="17" name="Rounded Rectangle 16"/>
          <p:cNvSpPr/>
          <p:nvPr/>
        </p:nvSpPr>
        <p:spPr>
          <a:xfrm>
            <a:off x="6248095" y="3840480"/>
            <a:ext cx="5212080" cy="2377440"/>
          </a:xfrm>
          <a:prstGeom prst="roundRect">
            <a:avLst/>
          </a:prstGeom>
          <a:solidFill>
            <a:srgbClr val="ECFDF5"/>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76695" y="4023360"/>
            <a:ext cx="13716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CHALLENGE 4</a:t>
            </a:r>
          </a:p>
        </p:txBody>
      </p:sp>
      <p:sp>
        <p:nvSpPr>
          <p:cNvPr id="19" name="TextBox 18"/>
          <p:cNvSpPr txBox="1"/>
          <p:nvPr/>
        </p:nvSpPr>
        <p:spPr>
          <a:xfrm>
            <a:off x="6476695" y="4370832"/>
            <a:ext cx="4754880" cy="1737360"/>
          </a:xfrm>
          <a:prstGeom prst="rect">
            <a:avLst/>
          </a:prstGeom>
          <a:noFill/>
        </p:spPr>
        <p:txBody>
          <a:bodyPr wrap="square">
            <a:spAutoFit/>
          </a:bodyPr>
          <a:lstStyle/>
          <a:p>
            <a:pPr>
              <a:spcAft>
                <a:spcPts val="400"/>
              </a:spcAft>
              <a:defRPr sz="1400" b="1">
                <a:solidFill>
                  <a:srgbClr val="0F2942"/>
                </a:solidFill>
                <a:latin typeface="Calibri"/>
              </a:defRPr>
            </a:pPr>
            <a:r>
              <a:t>Unverifiable Resume Claims</a:t>
            </a:r>
          </a:p>
          <a:p>
            <a:pPr>
              <a:defRPr sz="1150">
                <a:solidFill>
                  <a:srgbClr val="1E293B"/>
                </a:solidFill>
                <a:latin typeface="Calibri"/>
              </a:defRPr>
            </a:pPr>
            <a:r>
              <a:t>Resumes only show self-written lists of technologies and course certificates. Recruiters and faculty have no practical way to verify a student's actual problem-solving and coding ability on realistic, multi-file engineering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CURRENT APPROACHES</a:t>
            </a:r>
          </a:p>
          <a:p>
            <a:pPr>
              <a:spcAft>
                <a:spcPts val="100"/>
              </a:spcAft>
              <a:defRPr sz="2400" b="1">
                <a:solidFill>
                  <a:srgbClr val="0F2942"/>
                </a:solidFill>
                <a:latin typeface="Calibri"/>
              </a:defRPr>
            </a:pPr>
            <a:r>
              <a:t>Existing Systems</a:t>
            </a:r>
          </a:p>
          <a:p>
            <a:pPr>
              <a:defRPr sz="1200">
                <a:solidFill>
                  <a:srgbClr val="64748B"/>
                </a:solidFill>
                <a:latin typeface="Calibri"/>
              </a:defRPr>
            </a:pPr>
            <a:r>
              <a:t>Overview of current learning platforms, coding websites, and job simulations</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4 of 28</a:t>
            </a:r>
          </a:p>
        </p:txBody>
      </p:sp>
      <p:sp>
        <p:nvSpPr>
          <p:cNvPr id="8" name="Rounded Rectangle 7"/>
          <p:cNvSpPr/>
          <p:nvPr/>
        </p:nvSpPr>
        <p:spPr>
          <a:xfrm>
            <a:off x="731520" y="1234440"/>
            <a:ext cx="10728655" cy="1097280"/>
          </a:xfrm>
          <a:prstGeom prst="roundRect">
            <a:avLst/>
          </a:prstGeom>
          <a:solidFill>
            <a:srgbClr val="EFF6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344168"/>
            <a:ext cx="10149840" cy="868680"/>
          </a:xfrm>
          <a:prstGeom prst="rect">
            <a:avLst/>
          </a:prstGeom>
          <a:noFill/>
        </p:spPr>
        <p:txBody>
          <a:bodyPr wrap="square">
            <a:spAutoFit/>
          </a:bodyPr>
          <a:lstStyle/>
          <a:p>
            <a:pPr>
              <a:spcAft>
                <a:spcPts val="200"/>
              </a:spcAft>
              <a:defRPr sz="1350" b="1">
                <a:solidFill>
                  <a:srgbClr val="0F2942"/>
                </a:solidFill>
                <a:latin typeface="Calibri"/>
              </a:defRPr>
            </a:pPr>
            <a:r>
              <a:t>Algorithmic Practice Websites (LeetCode, HackerRank)</a:t>
            </a:r>
          </a:p>
          <a:p>
            <a:pPr>
              <a:defRPr sz="1150">
                <a:solidFill>
                  <a:srgbClr val="1E293B"/>
                </a:solidFill>
                <a:latin typeface="Calibri"/>
              </a:defRPr>
            </a:pPr>
            <a:r>
              <a:t>Focus on short algorithm puzzles and interview math problems in a single file. They do not expose learners to multi-file codebases, configuration files, or team collaboration.</a:t>
            </a:r>
          </a:p>
        </p:txBody>
      </p:sp>
      <p:sp>
        <p:nvSpPr>
          <p:cNvPr id="10" name="Rounded Rectangle 9"/>
          <p:cNvSpPr/>
          <p:nvPr/>
        </p:nvSpPr>
        <p:spPr>
          <a:xfrm>
            <a:off x="731520" y="2468880"/>
            <a:ext cx="10728655" cy="1097280"/>
          </a:xfrm>
          <a:prstGeom prst="roundRect">
            <a:avLst/>
          </a:prstGeom>
          <a:solidFill>
            <a:srgbClr val="FEF3C7"/>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78608"/>
            <a:ext cx="10149840" cy="868680"/>
          </a:xfrm>
          <a:prstGeom prst="rect">
            <a:avLst/>
          </a:prstGeom>
          <a:noFill/>
        </p:spPr>
        <p:txBody>
          <a:bodyPr wrap="square">
            <a:spAutoFit/>
          </a:bodyPr>
          <a:lstStyle/>
          <a:p>
            <a:pPr>
              <a:spcAft>
                <a:spcPts val="200"/>
              </a:spcAft>
              <a:defRPr sz="1350" b="1">
                <a:solidFill>
                  <a:srgbClr val="0F2942"/>
                </a:solidFill>
                <a:latin typeface="Calibri"/>
              </a:defRPr>
            </a:pPr>
            <a:r>
              <a:t>Video-Based Online Courses (Coursera, Udemy, edX)</a:t>
            </a:r>
          </a:p>
          <a:p>
            <a:pPr>
              <a:defRPr sz="1150">
                <a:solidFill>
                  <a:srgbClr val="1E293B"/>
                </a:solidFill>
                <a:latin typeface="Calibri"/>
              </a:defRPr>
            </a:pPr>
            <a:r>
              <a:t>Rely primarily on passive video lectures and follow-along tutorials. Students type code alongside instructors without experiencing realistic debugging or architectural decision-making.</a:t>
            </a:r>
          </a:p>
        </p:txBody>
      </p:sp>
      <p:sp>
        <p:nvSpPr>
          <p:cNvPr id="12" name="Rounded Rectangle 11"/>
          <p:cNvSpPr/>
          <p:nvPr/>
        </p:nvSpPr>
        <p:spPr>
          <a:xfrm>
            <a:off x="731520" y="3703320"/>
            <a:ext cx="10728655" cy="1097280"/>
          </a:xfrm>
          <a:prstGeom prst="roundRect">
            <a:avLst/>
          </a:prstGeom>
          <a:solidFill>
            <a:srgbClr val="F3E8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10149840" cy="868680"/>
          </a:xfrm>
          <a:prstGeom prst="rect">
            <a:avLst/>
          </a:prstGeom>
          <a:noFill/>
        </p:spPr>
        <p:txBody>
          <a:bodyPr wrap="square">
            <a:spAutoFit/>
          </a:bodyPr>
          <a:lstStyle/>
          <a:p>
            <a:pPr>
              <a:spcAft>
                <a:spcPts val="200"/>
              </a:spcAft>
              <a:defRPr sz="1350" b="1">
                <a:solidFill>
                  <a:srgbClr val="0F2942"/>
                </a:solidFill>
                <a:latin typeface="Calibri"/>
              </a:defRPr>
            </a:pPr>
            <a:r>
              <a:t>Static Job Simulations (Forage)</a:t>
            </a:r>
          </a:p>
          <a:p>
            <a:pPr>
              <a:defRPr sz="1150">
                <a:solidFill>
                  <a:srgbClr val="1E293B"/>
                </a:solidFill>
                <a:latin typeface="Calibri"/>
              </a:defRPr>
            </a:pPr>
            <a:r>
              <a:t>Provide corporate business scenarios and job briefs, but learner submissions are static documents (PDFs, PPT slides, or spreadsheets) with no live coding, automated testing, or Git version control.</a:t>
            </a:r>
          </a:p>
        </p:txBody>
      </p:sp>
      <p:sp>
        <p:nvSpPr>
          <p:cNvPr id="14" name="Rounded Rectangle 13"/>
          <p:cNvSpPr/>
          <p:nvPr/>
        </p:nvSpPr>
        <p:spPr>
          <a:xfrm>
            <a:off x="731520" y="4937760"/>
            <a:ext cx="10728655" cy="10972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047488"/>
            <a:ext cx="10149840" cy="868680"/>
          </a:xfrm>
          <a:prstGeom prst="rect">
            <a:avLst/>
          </a:prstGeom>
          <a:noFill/>
        </p:spPr>
        <p:txBody>
          <a:bodyPr wrap="square">
            <a:spAutoFit/>
          </a:bodyPr>
          <a:lstStyle/>
          <a:p>
            <a:pPr>
              <a:spcAft>
                <a:spcPts val="200"/>
              </a:spcAft>
              <a:defRPr sz="1350" b="1">
                <a:solidFill>
                  <a:srgbClr val="0F2942"/>
                </a:solidFill>
                <a:latin typeface="Calibri"/>
              </a:defRPr>
            </a:pPr>
            <a:r>
              <a:t>Unguided Cloud IDEs (GitHub Codespaces, Gitpod)</a:t>
            </a:r>
          </a:p>
          <a:p>
            <a:pPr>
              <a:defRPr sz="1150">
                <a:solidFill>
                  <a:srgbClr val="1E293B"/>
                </a:solidFill>
                <a:latin typeface="Calibri"/>
              </a:defRPr>
            </a:pPr>
            <a:r>
              <a:t>Provide full Linux virtual machines in the browser, but lack curriculum structure, simulated company context, guided task backlogs, or automated rubric-based code evaluations.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LIMITATIONS OF CURRENT TOOLS</a:t>
            </a:r>
          </a:p>
          <a:p>
            <a:pPr>
              <a:spcAft>
                <a:spcPts val="100"/>
              </a:spcAft>
              <a:defRPr sz="2400" b="1">
                <a:solidFill>
                  <a:srgbClr val="0F2942"/>
                </a:solidFill>
                <a:latin typeface="Calibri"/>
              </a:defRPr>
            </a:pPr>
            <a:r>
              <a:t>Disadvantages of Existing Systems</a:t>
            </a:r>
          </a:p>
          <a:p>
            <a:pPr>
              <a:defRPr sz="1200">
                <a:solidFill>
                  <a:srgbClr val="64748B"/>
                </a:solidFill>
                <a:latin typeface="Calibri"/>
              </a:defRPr>
            </a:pPr>
            <a:r>
              <a:t>Key drawbacks that leave fresh computer science graduates unprepared for engineering jobs</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5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997135" cy="4572000"/>
          </a:xfrm>
          <a:prstGeom prst="rect">
            <a:avLst/>
          </a:prstGeom>
          <a:noFill/>
        </p:spPr>
        <p:txBody>
          <a:bodyPr wrap="square">
            <a:spAutoFit/>
          </a:bodyPr>
          <a:lstStyle/>
          <a:p>
            <a:pPr>
              <a:spcAft>
                <a:spcPts val="1400"/>
              </a:spcAft>
            </a:pPr>
            <a:r>
              <a:rPr b="1" sz="1400">
                <a:solidFill>
                  <a:srgbClr val="DC2626"/>
                </a:solidFill>
              </a:rPr>
              <a:t>•  </a:t>
            </a:r>
            <a:r>
              <a:rPr sz="1350" b="1">
                <a:solidFill>
                  <a:srgbClr val="0F2942"/>
                </a:solidFill>
                <a:latin typeface="Calibri"/>
              </a:rPr>
              <a:t>Clean-Slate Bias: </a:t>
            </a:r>
            <a:r>
              <a:rPr sz="1200">
                <a:solidFill>
                  <a:srgbClr val="1E293B"/>
                </a:solidFill>
                <a:latin typeface="Calibri"/>
              </a:rPr>
              <a:t>Students only learn to write code from scratch, leaving them overwhelmed when faced with large production codebases with thousands of existing lines.</a:t>
            </a:r>
          </a:p>
          <a:p>
            <a:pPr>
              <a:spcAft>
                <a:spcPts val="1400"/>
              </a:spcAft>
            </a:pPr>
            <a:r>
              <a:rPr b="1" sz="1400">
                <a:solidFill>
                  <a:srgbClr val="DC2626"/>
                </a:solidFill>
              </a:rPr>
              <a:t>•  </a:t>
            </a:r>
            <a:r>
              <a:rPr sz="1350" b="1">
                <a:solidFill>
                  <a:srgbClr val="0F2942"/>
                </a:solidFill>
                <a:latin typeface="Calibri"/>
              </a:rPr>
              <a:t>No Real Business Context: </a:t>
            </a:r>
            <a:r>
              <a:rPr sz="1200">
                <a:solidFill>
                  <a:srgbClr val="1E293B"/>
                </a:solidFill>
                <a:latin typeface="Calibri"/>
              </a:rPr>
              <a:t>Assignments lack authentic company background, Architecture Decision Records (ADRs), product requirements, and realistic issue tracking.</a:t>
            </a:r>
          </a:p>
          <a:p>
            <a:pPr>
              <a:spcAft>
                <a:spcPts val="1400"/>
              </a:spcAft>
            </a:pPr>
            <a:r>
              <a:rPr b="1" sz="1400">
                <a:solidFill>
                  <a:srgbClr val="DC2626"/>
                </a:solidFill>
              </a:rPr>
              <a:t>•  </a:t>
            </a:r>
            <a:r>
              <a:rPr sz="1350" b="1">
                <a:solidFill>
                  <a:srgbClr val="0F2942"/>
                </a:solidFill>
                <a:latin typeface="Calibri"/>
              </a:rPr>
              <a:t>Binary Pass / Fail Grading: </a:t>
            </a:r>
            <a:r>
              <a:rPr sz="1200">
                <a:solidFill>
                  <a:srgbClr val="1E293B"/>
                </a:solidFill>
                <a:latin typeface="Calibri"/>
              </a:rPr>
              <a:t>Current auto-graders only test simple string outputs rather than inspecting code design, maintainability, architectural compliance, and clean code principles.</a:t>
            </a:r>
          </a:p>
          <a:p>
            <a:pPr>
              <a:spcAft>
                <a:spcPts val="1400"/>
              </a:spcAft>
            </a:pPr>
            <a:r>
              <a:rPr b="1" sz="1400">
                <a:solidFill>
                  <a:srgbClr val="DC2626"/>
                </a:solidFill>
              </a:rPr>
              <a:t>•  </a:t>
            </a:r>
            <a:r>
              <a:rPr sz="1350" b="1">
                <a:solidFill>
                  <a:srgbClr val="0F2942"/>
                </a:solidFill>
                <a:latin typeface="Calibri"/>
              </a:rPr>
              <a:t>Unverifiable Resumes: </a:t>
            </a:r>
            <a:r>
              <a:rPr sz="1200">
                <a:solidFill>
                  <a:srgbClr val="1E293B"/>
                </a:solidFill>
                <a:latin typeface="Calibri"/>
              </a:rPr>
              <a:t>Self-reported technical skills on resumes are easy to exaggerate and offer hiring teams zero evidence of genuine problem-solving ability.</a:t>
            </a:r>
          </a:p>
          <a:p>
            <a:pPr>
              <a:spcAft>
                <a:spcPts val="1400"/>
              </a:spcAft>
            </a:pPr>
            <a:r>
              <a:rPr b="1" sz="1400">
                <a:solidFill>
                  <a:srgbClr val="DC2626"/>
                </a:solidFill>
              </a:rPr>
              <a:t>•  </a:t>
            </a:r>
            <a:r>
              <a:rPr sz="1350" b="1">
                <a:solidFill>
                  <a:srgbClr val="0F2942"/>
                </a:solidFill>
                <a:latin typeface="Calibri"/>
              </a:rPr>
              <a:t>Fragmented Learning Tools: </a:t>
            </a:r>
            <a:r>
              <a:rPr sz="1200">
                <a:solidFill>
                  <a:srgbClr val="1E293B"/>
                </a:solidFill>
                <a:latin typeface="Calibri"/>
              </a:rPr>
              <a:t>Learners must constantly switch between tutorial videos, coding websites, personal editors, and GitHub without a unified workplace workflow.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SYSTEM OVERVIEW</a:t>
            </a:r>
          </a:p>
          <a:p>
            <a:pPr>
              <a:spcAft>
                <a:spcPts val="100"/>
              </a:spcAft>
              <a:defRPr sz="2400" b="1">
                <a:solidFill>
                  <a:srgbClr val="0F2942"/>
                </a:solidFill>
                <a:latin typeface="Calibri"/>
              </a:defRPr>
            </a:pPr>
            <a:r>
              <a:t>Proposed System &amp; Workflow</a:t>
            </a:r>
          </a:p>
          <a:p>
            <a:pPr>
              <a:defRPr sz="1200">
                <a:solidFill>
                  <a:srgbClr val="64748B"/>
                </a:solidFill>
                <a:latin typeface="Calibri"/>
              </a:defRPr>
            </a:pPr>
            <a:r>
              <a:t>The WORKUP platform workflow connecting simulated companies, tasks, sandboxes, and reviews</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6 of 28</a:t>
            </a:r>
          </a:p>
        </p:txBody>
      </p:sp>
      <p:sp>
        <p:nvSpPr>
          <p:cNvPr id="8" name="Rounded Rectangle 7"/>
          <p:cNvSpPr/>
          <p:nvPr/>
        </p:nvSpPr>
        <p:spPr>
          <a:xfrm>
            <a:off x="731520" y="1234440"/>
            <a:ext cx="10728655" cy="1097280"/>
          </a:xfrm>
          <a:prstGeom prst="roundRect">
            <a:avLst/>
          </a:prstGeom>
          <a:solidFill>
            <a:srgbClr val="EFF6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325880"/>
            <a:ext cx="10149840" cy="914400"/>
          </a:xfrm>
          <a:prstGeom prst="rect">
            <a:avLst/>
          </a:prstGeom>
          <a:noFill/>
        </p:spPr>
        <p:txBody>
          <a:bodyPr wrap="square">
            <a:spAutoFit/>
          </a:bodyPr>
          <a:lstStyle/>
          <a:p>
            <a:pPr>
              <a:spcAft>
                <a:spcPts val="200"/>
              </a:spcAft>
              <a:defRPr sz="1050" b="1">
                <a:solidFill>
                  <a:srgbClr val="2563EB"/>
                </a:solidFill>
                <a:latin typeface="Calibri"/>
              </a:defRPr>
            </a:pPr>
            <a:r>
              <a:t>CORE PLATFORM CONCEPT</a:t>
            </a:r>
          </a:p>
          <a:p>
            <a:pPr>
              <a:defRPr sz="1150">
                <a:solidFill>
                  <a:srgbClr val="1E293B"/>
                </a:solidFill>
                <a:latin typeface="Calibri"/>
              </a:defRPr>
            </a:pPr>
            <a:r>
              <a:t>WORKUP acts as a virtual workplace platform that immerses learners in simulated engineering companies. It provides realistic task tickets, executes code in isolated cloud sandboxes, and delivers automated line-level reviews to help students build practical engineering competence.</a:t>
            </a:r>
          </a:p>
        </p:txBody>
      </p:sp>
      <p:sp>
        <p:nvSpPr>
          <p:cNvPr id="10" name="Rounded Rectangle 9"/>
          <p:cNvSpPr/>
          <p:nvPr/>
        </p:nvSpPr>
        <p:spPr>
          <a:xfrm>
            <a:off x="731520" y="2468880"/>
            <a:ext cx="10728655" cy="37216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06040"/>
            <a:ext cx="10149840" cy="3429000"/>
          </a:xfrm>
          <a:prstGeom prst="rect">
            <a:avLst/>
          </a:prstGeom>
          <a:noFill/>
        </p:spPr>
        <p:txBody>
          <a:bodyPr wrap="square">
            <a:spAutoFit/>
          </a:bodyPr>
          <a:lstStyle/>
          <a:p>
            <a:pPr>
              <a:spcAft>
                <a:spcPts val="600"/>
              </a:spcAft>
              <a:defRPr sz="1100" b="1">
                <a:solidFill>
                  <a:srgbClr val="0F2942"/>
                </a:solidFill>
                <a:latin typeface="Calibri"/>
              </a:defRPr>
            </a:pPr>
            <a:r>
              <a:t>END-TO-END 7-STAGE PROCESS FLOW</a:t>
            </a:r>
          </a:p>
          <a:p>
            <a:pPr>
              <a:spcAft>
                <a:spcPts val="400"/>
              </a:spcAft>
            </a:pPr>
            <a:r>
              <a:rPr sz="1150" b="1">
                <a:solidFill>
                  <a:srgbClr val="2563EB"/>
                </a:solidFill>
                <a:latin typeface="Calibri"/>
              </a:rPr>
              <a:t>1. Career &amp; Role Selection: </a:t>
            </a:r>
            <a:r>
              <a:rPr sz="1100">
                <a:solidFill>
                  <a:srgbClr val="1E293B"/>
                </a:solidFill>
                <a:latin typeface="Calibri"/>
              </a:rPr>
              <a:t>Learner chooses a career family and specialized role (e.g., Backend Engineer, Platform SRE).</a:t>
            </a:r>
          </a:p>
          <a:p>
            <a:pPr>
              <a:spcAft>
                <a:spcPts val="400"/>
              </a:spcAft>
            </a:pPr>
            <a:r>
              <a:rPr sz="1150" b="1">
                <a:solidFill>
                  <a:srgbClr val="2563EB"/>
                </a:solidFill>
                <a:latin typeface="Calibri"/>
              </a:rPr>
              <a:t>2. Simulated Company: </a:t>
            </a:r>
            <a:r>
              <a:rPr sz="1100">
                <a:solidFill>
                  <a:srgbClr val="1E293B"/>
                </a:solidFill>
                <a:latin typeface="Calibri"/>
              </a:rPr>
              <a:t>Enters a simulated enterprise (e.g., FinFlow Technologies) with authentic business context.</a:t>
            </a:r>
          </a:p>
          <a:p>
            <a:pPr>
              <a:spcAft>
                <a:spcPts val="400"/>
              </a:spcAft>
            </a:pPr>
            <a:r>
              <a:rPr sz="1150" b="1">
                <a:solidFill>
                  <a:srgbClr val="2563EB"/>
                </a:solidFill>
                <a:latin typeface="Calibri"/>
              </a:rPr>
              <a:t>3. Task Ticket &amp; ADR: </a:t>
            </a:r>
            <a:r>
              <a:rPr sz="1100">
                <a:solidFill>
                  <a:srgbClr val="1E293B"/>
                </a:solidFill>
                <a:latin typeface="Calibri"/>
              </a:rPr>
              <a:t>Receives a Jira-style task ticket with acceptance criteria and Architecture Decision Records.</a:t>
            </a:r>
          </a:p>
          <a:p>
            <a:pPr>
              <a:spcAft>
                <a:spcPts val="400"/>
              </a:spcAft>
            </a:pPr>
            <a:r>
              <a:rPr sz="1150" b="1">
                <a:solidFill>
                  <a:srgbClr val="2563EB"/>
                </a:solidFill>
                <a:latin typeface="Calibri"/>
              </a:rPr>
              <a:t>4. Isolated Cloud Sandbox: </a:t>
            </a:r>
            <a:r>
              <a:rPr sz="1100">
                <a:solidFill>
                  <a:srgbClr val="1E293B"/>
                </a:solidFill>
                <a:latin typeface="Calibri"/>
              </a:rPr>
              <a:t>Opens a zero-setup browser workspace with path-jailed file execution.</a:t>
            </a:r>
          </a:p>
          <a:p>
            <a:pPr>
              <a:spcAft>
                <a:spcPts val="400"/>
              </a:spcAft>
            </a:pPr>
            <a:r>
              <a:rPr sz="1150" b="1">
                <a:solidFill>
                  <a:srgbClr val="2563EB"/>
                </a:solidFill>
                <a:latin typeface="Calibri"/>
              </a:rPr>
              <a:t>5. Implementation &amp; Tests: </a:t>
            </a:r>
            <a:r>
              <a:rPr sz="1100">
                <a:solidFill>
                  <a:srgbClr val="1E293B"/>
                </a:solidFill>
                <a:latin typeface="Calibri"/>
              </a:rPr>
              <a:t>Refactors code and executes in-sandbox automated tests (Vitest) to verify correctness.</a:t>
            </a:r>
          </a:p>
          <a:p>
            <a:pPr>
              <a:spcAft>
                <a:spcPts val="400"/>
              </a:spcAft>
            </a:pPr>
            <a:r>
              <a:rPr sz="1150" b="1">
                <a:solidFill>
                  <a:srgbClr val="2563EB"/>
                </a:solidFill>
                <a:latin typeface="Calibri"/>
              </a:rPr>
              <a:t>6. AI Code Review: </a:t>
            </a:r>
            <a:r>
              <a:rPr sz="1100">
                <a:solidFill>
                  <a:srgbClr val="1E293B"/>
                </a:solidFill>
                <a:latin typeface="Calibri"/>
              </a:rPr>
              <a:t>Submits a pull request; the review engine evaluates code diffs and provides line-level feedback.</a:t>
            </a:r>
          </a:p>
          <a:p>
            <a:pPr>
              <a:spcAft>
                <a:spcPts val="400"/>
              </a:spcAft>
            </a:pPr>
            <a:r>
              <a:rPr sz="1150" b="1">
                <a:solidFill>
                  <a:srgbClr val="2563EB"/>
                </a:solidFill>
                <a:latin typeface="Calibri"/>
              </a:rPr>
              <a:t>7. Evidence of Skill: </a:t>
            </a:r>
            <a:r>
              <a:rPr sz="1100">
                <a:solidFill>
                  <a:srgbClr val="1E293B"/>
                </a:solidFill>
                <a:latin typeface="Calibri"/>
              </a:rPr>
              <a:t>Approved tasks generate an immutable portfolio backed by verified Git commit SHAs.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SYSTEM BENEFITS</a:t>
            </a:r>
          </a:p>
          <a:p>
            <a:pPr>
              <a:spcAft>
                <a:spcPts val="100"/>
              </a:spcAft>
              <a:defRPr sz="2400" b="1">
                <a:solidFill>
                  <a:srgbClr val="0F2942"/>
                </a:solidFill>
                <a:latin typeface="Calibri"/>
              </a:defRPr>
            </a:pPr>
            <a:r>
              <a:t>Advantages of Proposed System</a:t>
            </a:r>
          </a:p>
          <a:p>
            <a:pPr>
              <a:defRPr sz="1200">
                <a:solidFill>
                  <a:srgbClr val="64748B"/>
                </a:solidFill>
                <a:latin typeface="Calibri"/>
              </a:defRPr>
            </a:pPr>
            <a:r>
              <a:t>Key practical advantages for students, faculty, and recruiting institutions</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7 of 28</a:t>
            </a:r>
          </a:p>
        </p:txBody>
      </p:sp>
      <p:sp>
        <p:nvSpPr>
          <p:cNvPr id="8" name="Rounded Rectangle 7"/>
          <p:cNvSpPr/>
          <p:nvPr/>
        </p:nvSpPr>
        <p:spPr>
          <a:xfrm>
            <a:off x="731520" y="1280160"/>
            <a:ext cx="5212080" cy="1508760"/>
          </a:xfrm>
          <a:prstGeom prst="roundRect">
            <a:avLst/>
          </a:prstGeom>
          <a:solidFill>
            <a:srgbClr val="EFF6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4846320" cy="1289304"/>
          </a:xfrm>
          <a:prstGeom prst="rect">
            <a:avLst/>
          </a:prstGeom>
          <a:noFill/>
        </p:spPr>
        <p:txBody>
          <a:bodyPr wrap="square">
            <a:spAutoFit/>
          </a:bodyPr>
          <a:lstStyle/>
          <a:p>
            <a:pPr>
              <a:spcAft>
                <a:spcPts val="200"/>
              </a:spcAft>
              <a:defRPr sz="1300" b="1">
                <a:solidFill>
                  <a:srgbClr val="0F2942"/>
                </a:solidFill>
                <a:latin typeface="Calibri"/>
              </a:defRPr>
            </a:pPr>
            <a:r>
              <a:t>Realistic Workplace Experience</a:t>
            </a:r>
          </a:p>
          <a:p>
            <a:pPr>
              <a:defRPr sz="1100">
                <a:solidFill>
                  <a:srgbClr val="1E293B"/>
                </a:solidFill>
                <a:latin typeface="Calibri"/>
              </a:defRPr>
            </a:pPr>
            <a:r>
              <a:t>Learners work inside simulated companies (such as FinFlow Technologies) and solve genuine business problems instead of isolated syntax puzzles.</a:t>
            </a:r>
          </a:p>
        </p:txBody>
      </p:sp>
      <p:sp>
        <p:nvSpPr>
          <p:cNvPr id="10" name="Rounded Rectangle 9"/>
          <p:cNvSpPr/>
          <p:nvPr/>
        </p:nvSpPr>
        <p:spPr>
          <a:xfrm>
            <a:off x="6248095" y="1280160"/>
            <a:ext cx="5212080" cy="1508760"/>
          </a:xfrm>
          <a:prstGeom prst="roundRect">
            <a:avLst/>
          </a:prstGeom>
          <a:solidFill>
            <a:srgbClr val="F0FDF4"/>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389888"/>
            <a:ext cx="4846320" cy="1289304"/>
          </a:xfrm>
          <a:prstGeom prst="rect">
            <a:avLst/>
          </a:prstGeom>
          <a:noFill/>
        </p:spPr>
        <p:txBody>
          <a:bodyPr wrap="square">
            <a:spAutoFit/>
          </a:bodyPr>
          <a:lstStyle/>
          <a:p>
            <a:pPr>
              <a:spcAft>
                <a:spcPts val="200"/>
              </a:spcAft>
              <a:defRPr sz="1300" b="1">
                <a:solidFill>
                  <a:srgbClr val="0F2942"/>
                </a:solidFill>
                <a:latin typeface="Calibri"/>
              </a:defRPr>
            </a:pPr>
            <a:r>
              <a:t>Connected Project Workflows</a:t>
            </a:r>
          </a:p>
          <a:p>
            <a:pPr>
              <a:defRPr sz="1100">
                <a:solidFill>
                  <a:srgbClr val="1E293B"/>
                </a:solidFill>
                <a:latin typeface="Calibri"/>
              </a:defRPr>
            </a:pPr>
            <a:r>
              <a:t>Follows the complete engineering cycle from task tickets to testing, pull request review, and portfolio evidence in one platform.</a:t>
            </a:r>
          </a:p>
        </p:txBody>
      </p:sp>
      <p:sp>
        <p:nvSpPr>
          <p:cNvPr id="12" name="Rounded Rectangle 11"/>
          <p:cNvSpPr/>
          <p:nvPr/>
        </p:nvSpPr>
        <p:spPr>
          <a:xfrm>
            <a:off x="731520" y="2926080"/>
            <a:ext cx="5212080" cy="1508760"/>
          </a:xfrm>
          <a:prstGeom prst="roundRect">
            <a:avLst/>
          </a:prstGeom>
          <a:solidFill>
            <a:srgbClr val="FEF3C7"/>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35808"/>
            <a:ext cx="4846320" cy="1289304"/>
          </a:xfrm>
          <a:prstGeom prst="rect">
            <a:avLst/>
          </a:prstGeom>
          <a:noFill/>
        </p:spPr>
        <p:txBody>
          <a:bodyPr wrap="square">
            <a:spAutoFit/>
          </a:bodyPr>
          <a:lstStyle/>
          <a:p>
            <a:pPr>
              <a:spcAft>
                <a:spcPts val="200"/>
              </a:spcAft>
              <a:defRPr sz="1300" b="1">
                <a:solidFill>
                  <a:srgbClr val="0F2942"/>
                </a:solidFill>
                <a:latin typeface="Calibri"/>
              </a:defRPr>
            </a:pPr>
            <a:r>
              <a:t>Zero-Setup Cloud Sandboxes</a:t>
            </a:r>
          </a:p>
          <a:p>
            <a:pPr>
              <a:defRPr sz="1100">
                <a:solidFill>
                  <a:srgbClr val="1E293B"/>
                </a:solidFill>
                <a:latin typeface="Calibri"/>
              </a:defRPr>
            </a:pPr>
            <a:r>
              <a:t>Students write and test code directly in the browser without installing complex tools or dealing with operating system incompatibilities.</a:t>
            </a:r>
          </a:p>
        </p:txBody>
      </p:sp>
      <p:sp>
        <p:nvSpPr>
          <p:cNvPr id="14" name="Rounded Rectangle 13"/>
          <p:cNvSpPr/>
          <p:nvPr/>
        </p:nvSpPr>
        <p:spPr>
          <a:xfrm>
            <a:off x="6248095" y="2926080"/>
            <a:ext cx="5212080" cy="1508760"/>
          </a:xfrm>
          <a:prstGeom prst="roundRect">
            <a:avLst/>
          </a:prstGeom>
          <a:solidFill>
            <a:srgbClr val="F3E8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0975" y="3035808"/>
            <a:ext cx="4846320" cy="1289304"/>
          </a:xfrm>
          <a:prstGeom prst="rect">
            <a:avLst/>
          </a:prstGeom>
          <a:noFill/>
        </p:spPr>
        <p:txBody>
          <a:bodyPr wrap="square">
            <a:spAutoFit/>
          </a:bodyPr>
          <a:lstStyle/>
          <a:p>
            <a:pPr>
              <a:spcAft>
                <a:spcPts val="200"/>
              </a:spcAft>
              <a:defRPr sz="1300" b="1">
                <a:solidFill>
                  <a:srgbClr val="0F2942"/>
                </a:solidFill>
                <a:latin typeface="Calibri"/>
              </a:defRPr>
            </a:pPr>
            <a:r>
              <a:t>Automated In-Sandbox Testing</a:t>
            </a:r>
          </a:p>
          <a:p>
            <a:pPr>
              <a:defRPr sz="1100">
                <a:solidFill>
                  <a:srgbClr val="1E293B"/>
                </a:solidFill>
                <a:latin typeface="Calibri"/>
              </a:defRPr>
            </a:pPr>
            <a:r>
              <a:t>Built-in test execution (Vitest) allows learners to run tests locally, see immediate feedback, and fix bugs before submitting work.</a:t>
            </a:r>
          </a:p>
        </p:txBody>
      </p:sp>
      <p:sp>
        <p:nvSpPr>
          <p:cNvPr id="16" name="Rounded Rectangle 15"/>
          <p:cNvSpPr/>
          <p:nvPr/>
        </p:nvSpPr>
        <p:spPr>
          <a:xfrm>
            <a:off x="731520" y="4572000"/>
            <a:ext cx="5212080" cy="1508760"/>
          </a:xfrm>
          <a:prstGeom prst="roundRect">
            <a:avLst/>
          </a:prstGeom>
          <a:solidFill>
            <a:srgbClr val="FFF1F2"/>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81728"/>
            <a:ext cx="4846320" cy="1289304"/>
          </a:xfrm>
          <a:prstGeom prst="rect">
            <a:avLst/>
          </a:prstGeom>
          <a:noFill/>
        </p:spPr>
        <p:txBody>
          <a:bodyPr wrap="square">
            <a:spAutoFit/>
          </a:bodyPr>
          <a:lstStyle/>
          <a:p>
            <a:pPr>
              <a:spcAft>
                <a:spcPts val="200"/>
              </a:spcAft>
              <a:defRPr sz="1300" b="1">
                <a:solidFill>
                  <a:srgbClr val="0F2942"/>
                </a:solidFill>
                <a:latin typeface="Calibri"/>
              </a:defRPr>
            </a:pPr>
            <a:r>
              <a:t>Line-by-Line Code Review</a:t>
            </a:r>
          </a:p>
          <a:p>
            <a:pPr>
              <a:defRPr sz="1100">
                <a:solidFill>
                  <a:srgbClr val="1E293B"/>
                </a:solidFill>
                <a:latin typeface="Calibri"/>
              </a:defRPr>
            </a:pPr>
            <a:r>
              <a:t>An automated AI Tech Lead reviewer inspects code diffs and provides specific comments on clean architecture, security, and edge cases.</a:t>
            </a:r>
          </a:p>
        </p:txBody>
      </p:sp>
      <p:sp>
        <p:nvSpPr>
          <p:cNvPr id="18" name="Rounded Rectangle 17"/>
          <p:cNvSpPr/>
          <p:nvPr/>
        </p:nvSpPr>
        <p:spPr>
          <a:xfrm>
            <a:off x="6248095" y="4572000"/>
            <a:ext cx="5212080" cy="150876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0975" y="4681728"/>
            <a:ext cx="4846320" cy="1289304"/>
          </a:xfrm>
          <a:prstGeom prst="rect">
            <a:avLst/>
          </a:prstGeom>
          <a:noFill/>
        </p:spPr>
        <p:txBody>
          <a:bodyPr wrap="square">
            <a:spAutoFit/>
          </a:bodyPr>
          <a:lstStyle/>
          <a:p>
            <a:pPr>
              <a:spcAft>
                <a:spcPts val="200"/>
              </a:spcAft>
              <a:defRPr sz="1300" b="1">
                <a:solidFill>
                  <a:srgbClr val="0F2942"/>
                </a:solidFill>
                <a:latin typeface="Calibri"/>
              </a:defRPr>
            </a:pPr>
            <a:r>
              <a:t>Verifiable Proof of Skills</a:t>
            </a:r>
          </a:p>
          <a:p>
            <a:pPr>
              <a:defRPr sz="1100">
                <a:solidFill>
                  <a:srgbClr val="1E293B"/>
                </a:solidFill>
                <a:latin typeface="Calibri"/>
              </a:defRPr>
            </a:pPr>
            <a:r>
              <a:t>Replaces self-reported resume claims with an Evidence-of-Skill portfolio backed by verified Git commit hashes and test logs.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STAKEHOLDER ANALYSIS</a:t>
            </a:r>
          </a:p>
          <a:p>
            <a:pPr>
              <a:spcAft>
                <a:spcPts val="100"/>
              </a:spcAft>
              <a:defRPr sz="2400" b="1">
                <a:solidFill>
                  <a:srgbClr val="0F2942"/>
                </a:solidFill>
                <a:latin typeface="Calibri"/>
              </a:defRPr>
            </a:pPr>
            <a:r>
              <a:t>End Users / Target Beneficiaries</a:t>
            </a:r>
          </a:p>
          <a:p>
            <a:pPr>
              <a:defRPr sz="1200">
                <a:solidFill>
                  <a:srgbClr val="64748B"/>
                </a:solidFill>
                <a:latin typeface="Calibri"/>
              </a:defRPr>
            </a:pPr>
            <a:r>
              <a:t>Key user roles and institutional groups that benefit from the WORKUP platform</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8 of 28</a:t>
            </a:r>
          </a:p>
        </p:txBody>
      </p:sp>
      <p:sp>
        <p:nvSpPr>
          <p:cNvPr id="8" name="Rounded Rectangle 7"/>
          <p:cNvSpPr/>
          <p:nvPr/>
        </p:nvSpPr>
        <p:spPr>
          <a:xfrm>
            <a:off x="731520" y="1280160"/>
            <a:ext cx="10728655" cy="1508760"/>
          </a:xfrm>
          <a:prstGeom prst="roundRect">
            <a:avLst/>
          </a:prstGeom>
          <a:solidFill>
            <a:srgbClr val="EFF6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444752"/>
            <a:ext cx="25603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ROLE 1: STUDENTS / LEARNERS</a:t>
            </a:r>
          </a:p>
        </p:txBody>
      </p:sp>
      <p:sp>
        <p:nvSpPr>
          <p:cNvPr id="10" name="TextBox 9"/>
          <p:cNvSpPr txBox="1"/>
          <p:nvPr/>
        </p:nvSpPr>
        <p:spPr>
          <a:xfrm>
            <a:off x="960120" y="1783080"/>
            <a:ext cx="10271455" cy="914400"/>
          </a:xfrm>
          <a:prstGeom prst="rect">
            <a:avLst/>
          </a:prstGeom>
          <a:noFill/>
        </p:spPr>
        <p:txBody>
          <a:bodyPr wrap="square">
            <a:spAutoFit/>
          </a:bodyPr>
          <a:lstStyle/>
          <a:p>
            <a:pPr>
              <a:spcAft>
                <a:spcPts val="200"/>
              </a:spcAft>
              <a:defRPr sz="1350" b="1">
                <a:solidFill>
                  <a:srgbClr val="0F2942"/>
                </a:solidFill>
                <a:latin typeface="Calibri"/>
              </a:defRPr>
            </a:pPr>
            <a:r>
              <a:t>Engineering Students &amp; Career Starters</a:t>
            </a:r>
          </a:p>
          <a:p>
            <a:pPr>
              <a:defRPr sz="1150">
                <a:solidFill>
                  <a:srgbClr val="1E293B"/>
                </a:solidFill>
                <a:latin typeface="Calibri"/>
              </a:defRPr>
            </a:pPr>
            <a:r>
              <a:t>Explore professional career paths (Software Engineering, DevOps, AI/ML), enter simulated tech companies, work on realistic task tickets, write code in cloud sandboxes, run automated tests locally, receive line-level feedback, and build a verified portfolio of real code commits.</a:t>
            </a:r>
          </a:p>
        </p:txBody>
      </p:sp>
      <p:sp>
        <p:nvSpPr>
          <p:cNvPr id="11" name="Rounded Rectangle 10"/>
          <p:cNvSpPr/>
          <p:nvPr/>
        </p:nvSpPr>
        <p:spPr>
          <a:xfrm>
            <a:off x="731520" y="2926080"/>
            <a:ext cx="10728655" cy="1508760"/>
          </a:xfrm>
          <a:prstGeom prst="roundRect">
            <a:avLst/>
          </a:prstGeom>
          <a:solidFill>
            <a:srgbClr val="F0FDF4"/>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 y="3090672"/>
            <a:ext cx="256032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ROLE 2: EDUCATORS / AUTHORS</a:t>
            </a:r>
          </a:p>
        </p:txBody>
      </p:sp>
      <p:sp>
        <p:nvSpPr>
          <p:cNvPr id="13" name="TextBox 12"/>
          <p:cNvSpPr txBox="1"/>
          <p:nvPr/>
        </p:nvSpPr>
        <p:spPr>
          <a:xfrm>
            <a:off x="960120" y="3429000"/>
            <a:ext cx="10271455" cy="914400"/>
          </a:xfrm>
          <a:prstGeom prst="rect">
            <a:avLst/>
          </a:prstGeom>
          <a:noFill/>
        </p:spPr>
        <p:txBody>
          <a:bodyPr wrap="square">
            <a:spAutoFit/>
          </a:bodyPr>
          <a:lstStyle/>
          <a:p>
            <a:pPr>
              <a:spcAft>
                <a:spcPts val="200"/>
              </a:spcAft>
              <a:defRPr sz="1350" b="1">
                <a:solidFill>
                  <a:srgbClr val="0F2942"/>
                </a:solidFill>
                <a:latin typeface="Calibri"/>
              </a:defRPr>
            </a:pPr>
            <a:r>
              <a:t>Faculty &amp; Curriculum Designers</a:t>
            </a:r>
          </a:p>
          <a:p>
            <a:pPr>
              <a:defRPr sz="1150">
                <a:solidFill>
                  <a:srgbClr val="1E293B"/>
                </a:solidFill>
                <a:latin typeface="Calibri"/>
              </a:defRPr>
            </a:pPr>
            <a:r>
              <a:t>Create simulated companies, design multi-step project task backlogs (DAGs), set up legacy codebases, define automated test suites, and configure evaluation rubrics to assess student learning with zero manual grading overhead.</a:t>
            </a:r>
          </a:p>
        </p:txBody>
      </p:sp>
      <p:sp>
        <p:nvSpPr>
          <p:cNvPr id="14" name="Rounded Rectangle 13"/>
          <p:cNvSpPr/>
          <p:nvPr/>
        </p:nvSpPr>
        <p:spPr>
          <a:xfrm>
            <a:off x="731520" y="4572000"/>
            <a:ext cx="10728655" cy="1508760"/>
          </a:xfrm>
          <a:prstGeom prst="roundRect">
            <a:avLst/>
          </a:prstGeom>
          <a:solidFill>
            <a:srgbClr val="FEF3C7"/>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 y="4736592"/>
            <a:ext cx="2560320"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ROLE 3: RECRUITERS / MENTORS</a:t>
            </a:r>
          </a:p>
        </p:txBody>
      </p:sp>
      <p:sp>
        <p:nvSpPr>
          <p:cNvPr id="16" name="TextBox 15"/>
          <p:cNvSpPr txBox="1"/>
          <p:nvPr/>
        </p:nvSpPr>
        <p:spPr>
          <a:xfrm>
            <a:off x="960120" y="5074920"/>
            <a:ext cx="10271455" cy="914400"/>
          </a:xfrm>
          <a:prstGeom prst="rect">
            <a:avLst/>
          </a:prstGeom>
          <a:noFill/>
        </p:spPr>
        <p:txBody>
          <a:bodyPr wrap="square">
            <a:spAutoFit/>
          </a:bodyPr>
          <a:lstStyle/>
          <a:p>
            <a:pPr>
              <a:spcAft>
                <a:spcPts val="200"/>
              </a:spcAft>
              <a:defRPr sz="1350" b="1">
                <a:solidFill>
                  <a:srgbClr val="0F2942"/>
                </a:solidFill>
                <a:latin typeface="Calibri"/>
              </a:defRPr>
            </a:pPr>
            <a:r>
              <a:t>Hiring Managers &amp; Senior Engineers</a:t>
            </a:r>
          </a:p>
          <a:p>
            <a:pPr>
              <a:defRPr sz="1150">
                <a:solidFill>
                  <a:srgbClr val="1E293B"/>
                </a:solidFill>
                <a:latin typeface="Calibri"/>
              </a:defRPr>
            </a:pPr>
            <a:r>
              <a:t>Review candidate portfolios backed by verified Git commits and test reports, evaluate practical problem-solving ability, and provide mentor feedback without relying on self-reported resume bullet 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TECHNICAL IMPLEMENTATION</a:t>
            </a:r>
          </a:p>
          <a:p>
            <a:pPr>
              <a:spcAft>
                <a:spcPts val="100"/>
              </a:spcAft>
              <a:defRPr sz="2400" b="1">
                <a:solidFill>
                  <a:srgbClr val="0F2942"/>
                </a:solidFill>
                <a:latin typeface="Calibri"/>
              </a:defRPr>
            </a:pPr>
            <a:r>
              <a:t>Technology Stack</a:t>
            </a:r>
          </a:p>
          <a:p>
            <a:pPr>
              <a:defRPr sz="1200">
                <a:solidFill>
                  <a:srgbClr val="64748B"/>
                </a:solidFill>
                <a:latin typeface="Calibri"/>
              </a:defRPr>
            </a:pPr>
            <a:r>
              <a:t>Core technologies used in the development and prototyping of WORKUP</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9 of 28</a:t>
            </a:r>
          </a:p>
        </p:txBody>
      </p:sp>
      <p:graphicFrame>
        <p:nvGraphicFramePr>
          <p:cNvPr id="8" name="Table 7"/>
          <p:cNvGraphicFramePr>
            <a:graphicFrameLocks noGrp="1"/>
          </p:cNvGraphicFramePr>
          <p:nvPr/>
        </p:nvGraphicFramePr>
        <p:xfrm>
          <a:off x="731520" y="1234440"/>
          <a:ext cx="10728655" cy="4956048"/>
        </p:xfrm>
        <a:graphic>
          <a:graphicData uri="http://schemas.openxmlformats.org/drawingml/2006/table">
            <a:tbl>
              <a:tblPr firstRow="1" bandRow="1">
                <a:tableStyleId>{5C22544A-7EE6-4342-B048-85BDC9FD1C3A}</a:tableStyleId>
              </a:tblPr>
              <a:tblGrid>
                <a:gridCol w="2560320"/>
                <a:gridCol w="8168335"/>
              </a:tblGrid>
              <a:tr h="450549">
                <a:tc>
                  <a:txBody>
                    <a:bodyPr/>
                    <a:lstStyle/>
                    <a:p>
                      <a:pPr>
                        <a:defRPr sz="1100" b="1">
                          <a:solidFill>
                            <a:srgbClr val="FFFFFF"/>
                          </a:solidFill>
                          <a:latin typeface="Calibri"/>
                        </a:defRPr>
                      </a:pPr>
                      <a:r>
                        <a:t>TECHNOLOGY</a:t>
                      </a:r>
                    </a:p>
                  </a:txBody>
                  <a:tcPr>
                    <a:solidFill>
                      <a:srgbClr val="0F2942"/>
                    </a:solidFill>
                  </a:tcPr>
                </a:tc>
                <a:tc>
                  <a:txBody>
                    <a:bodyPr/>
                    <a:lstStyle/>
                    <a:p>
                      <a:pPr>
                        <a:defRPr sz="1100" b="1">
                          <a:solidFill>
                            <a:srgbClr val="FFFFFF"/>
                          </a:solidFill>
                          <a:latin typeface="Calibri"/>
                        </a:defRPr>
                      </a:pPr>
                      <a:r>
                        <a:t>ROLE &amp; PURPOSE IN WORKUP PLATFORM</a:t>
                      </a:r>
                    </a:p>
                  </a:txBody>
                  <a:tcPr>
                    <a:solidFill>
                      <a:srgbClr val="0F2942"/>
                    </a:solidFill>
                  </a:tcPr>
                </a:tc>
              </a:tr>
              <a:tr h="450549">
                <a:tc>
                  <a:txBody>
                    <a:bodyPr/>
                    <a:lstStyle/>
                    <a:p>
                      <a:pPr>
                        <a:defRPr sz="1050" b="1">
                          <a:solidFill>
                            <a:srgbClr val="0F2942"/>
                          </a:solidFill>
                          <a:latin typeface="Calibri"/>
                        </a:defRPr>
                      </a:pPr>
                      <a:r>
                        <a:t>Next.js 14</a:t>
                      </a:r>
                    </a:p>
                  </a:txBody>
                  <a:tcPr>
                    <a:solidFill>
                      <a:srgbClr val="FFFFFF"/>
                    </a:solidFill>
                  </a:tcPr>
                </a:tc>
                <a:tc>
                  <a:txBody>
                    <a:bodyPr/>
                    <a:lstStyle/>
                    <a:p>
                      <a:pPr>
                        <a:defRPr sz="1000">
                          <a:solidFill>
                            <a:srgbClr val="1E293B"/>
                          </a:solidFill>
                          <a:latin typeface="Calibri"/>
                        </a:defRPr>
                      </a:pPr>
                      <a:r>
                        <a:t>Builds the full-stack web application with App Router, server-rendered pages, and secure API routes.</a:t>
                      </a:r>
                    </a:p>
                  </a:txBody>
                  <a:tcPr>
                    <a:solidFill>
                      <a:srgbClr val="FFFFFF"/>
                    </a:solidFill>
                  </a:tcPr>
                </a:tc>
              </a:tr>
              <a:tr h="450549">
                <a:tc>
                  <a:txBody>
                    <a:bodyPr/>
                    <a:lstStyle/>
                    <a:p>
                      <a:pPr>
                        <a:defRPr sz="1050" b="1">
                          <a:solidFill>
                            <a:srgbClr val="0F2942"/>
                          </a:solidFill>
                          <a:latin typeface="Calibri"/>
                        </a:defRPr>
                      </a:pPr>
                      <a:r>
                        <a:t>React.js 18</a:t>
                      </a:r>
                    </a:p>
                  </a:txBody>
                  <a:tcPr>
                    <a:solidFill>
                      <a:srgbClr val="F1F5F9"/>
                    </a:solidFill>
                  </a:tcPr>
                </a:tc>
                <a:tc>
                  <a:txBody>
                    <a:bodyPr/>
                    <a:lstStyle/>
                    <a:p>
                      <a:pPr>
                        <a:defRPr sz="1000">
                          <a:solidFill>
                            <a:srgbClr val="1E293B"/>
                          </a:solidFill>
                          <a:latin typeface="Calibri"/>
                        </a:defRPr>
                      </a:pPr>
                      <a:r>
                        <a:t>Creates the interactive user interface, including career catalogs, task boards, and workbench panels.</a:t>
                      </a:r>
                    </a:p>
                  </a:txBody>
                  <a:tcPr>
                    <a:solidFill>
                      <a:srgbClr val="F1F5F9"/>
                    </a:solidFill>
                  </a:tcPr>
                </a:tc>
              </a:tr>
              <a:tr h="450549">
                <a:tc>
                  <a:txBody>
                    <a:bodyPr/>
                    <a:lstStyle/>
                    <a:p>
                      <a:pPr>
                        <a:defRPr sz="1050" b="1">
                          <a:solidFill>
                            <a:srgbClr val="0F2942"/>
                          </a:solidFill>
                          <a:latin typeface="Calibri"/>
                        </a:defRPr>
                      </a:pPr>
                      <a:r>
                        <a:t>TypeScript</a:t>
                      </a:r>
                    </a:p>
                  </a:txBody>
                  <a:tcPr>
                    <a:solidFill>
                      <a:srgbClr val="FFFFFF"/>
                    </a:solidFill>
                  </a:tcPr>
                </a:tc>
                <a:tc>
                  <a:txBody>
                    <a:bodyPr/>
                    <a:lstStyle/>
                    <a:p>
                      <a:pPr>
                        <a:defRPr sz="1000">
                          <a:solidFill>
                            <a:srgbClr val="1E293B"/>
                          </a:solidFill>
                          <a:latin typeface="Calibri"/>
                        </a:defRPr>
                      </a:pPr>
                      <a:r>
                        <a:t>Provides static type-checking across frontend components, API handlers, and backend business logic.</a:t>
                      </a:r>
                    </a:p>
                  </a:txBody>
                  <a:tcPr>
                    <a:solidFill>
                      <a:srgbClr val="FFFFFF"/>
                    </a:solidFill>
                  </a:tcPr>
                </a:tc>
              </a:tr>
              <a:tr h="450549">
                <a:tc>
                  <a:txBody>
                    <a:bodyPr/>
                    <a:lstStyle/>
                    <a:p>
                      <a:pPr>
                        <a:defRPr sz="1050" b="1">
                          <a:solidFill>
                            <a:srgbClr val="0F2942"/>
                          </a:solidFill>
                          <a:latin typeface="Calibri"/>
                        </a:defRPr>
                      </a:pPr>
                      <a:r>
                        <a:t>Tailwind CSS</a:t>
                      </a:r>
                    </a:p>
                  </a:txBody>
                  <a:tcPr>
                    <a:solidFill>
                      <a:srgbClr val="F1F5F9"/>
                    </a:solidFill>
                  </a:tcPr>
                </a:tc>
                <a:tc>
                  <a:txBody>
                    <a:bodyPr/>
                    <a:lstStyle/>
                    <a:p>
                      <a:pPr>
                        <a:defRPr sz="1000">
                          <a:solidFill>
                            <a:srgbClr val="1E293B"/>
                          </a:solidFill>
                          <a:latin typeface="Calibri"/>
                        </a:defRPr>
                      </a:pPr>
                      <a:r>
                        <a:t>Provides responsive styling and modern layout components across all platform pages.</a:t>
                      </a:r>
                    </a:p>
                  </a:txBody>
                  <a:tcPr>
                    <a:solidFill>
                      <a:srgbClr val="F1F5F9"/>
                    </a:solidFill>
                  </a:tcPr>
                </a:tc>
              </a:tr>
              <a:tr h="450549">
                <a:tc>
                  <a:txBody>
                    <a:bodyPr/>
                    <a:lstStyle/>
                    <a:p>
                      <a:pPr>
                        <a:defRPr sz="1050" b="1">
                          <a:solidFill>
                            <a:srgbClr val="0F2942"/>
                          </a:solidFill>
                          <a:latin typeface="Calibri"/>
                        </a:defRPr>
                      </a:pPr>
                      <a:r>
                        <a:t>Prisma ORM</a:t>
                      </a:r>
                    </a:p>
                  </a:txBody>
                  <a:tcPr>
                    <a:solidFill>
                      <a:srgbClr val="FFFFFF"/>
                    </a:solidFill>
                  </a:tcPr>
                </a:tc>
                <a:tc>
                  <a:txBody>
                    <a:bodyPr/>
                    <a:lstStyle/>
                    <a:p>
                      <a:pPr>
                        <a:defRPr sz="1000">
                          <a:solidFill>
                            <a:srgbClr val="1E293B"/>
                          </a:solidFill>
                          <a:latin typeface="Calibri"/>
                        </a:defRPr>
                      </a:pPr>
                      <a:r>
                        <a:t>Manages database queries and models 21 relational domain entities (users, companies, tasks, workspaces).</a:t>
                      </a:r>
                    </a:p>
                  </a:txBody>
                  <a:tcPr>
                    <a:solidFill>
                      <a:srgbClr val="FFFFFF"/>
                    </a:solidFill>
                  </a:tcPr>
                </a:tc>
              </a:tr>
              <a:tr h="450549">
                <a:tc>
                  <a:txBody>
                    <a:bodyPr/>
                    <a:lstStyle/>
                    <a:p>
                      <a:pPr>
                        <a:defRPr sz="1050" b="1">
                          <a:solidFill>
                            <a:srgbClr val="0F2942"/>
                          </a:solidFill>
                          <a:latin typeface="Calibri"/>
                        </a:defRPr>
                      </a:pPr>
                      <a:r>
                        <a:t>PostgreSQL / SQLite</a:t>
                      </a:r>
                    </a:p>
                  </a:txBody>
                  <a:tcPr>
                    <a:solidFill>
                      <a:srgbClr val="F1F5F9"/>
                    </a:solidFill>
                  </a:tcPr>
                </a:tc>
                <a:tc>
                  <a:txBody>
                    <a:bodyPr/>
                    <a:lstStyle/>
                    <a:p>
                      <a:pPr>
                        <a:defRPr sz="1000">
                          <a:solidFill>
                            <a:srgbClr val="1E293B"/>
                          </a:solidFill>
                          <a:latin typeface="Calibri"/>
                        </a:defRPr>
                      </a:pPr>
                      <a:r>
                        <a:t>Stores application data including user accounts, simulated company details, task tickets, and evaluations.</a:t>
                      </a:r>
                    </a:p>
                  </a:txBody>
                  <a:tcPr>
                    <a:solidFill>
                      <a:srgbClr val="F1F5F9"/>
                    </a:solidFill>
                  </a:tcPr>
                </a:tc>
              </a:tr>
              <a:tr h="450549">
                <a:tc>
                  <a:txBody>
                    <a:bodyPr/>
                    <a:lstStyle/>
                    <a:p>
                      <a:pPr>
                        <a:defRPr sz="1050" b="1">
                          <a:solidFill>
                            <a:srgbClr val="0F2942"/>
                          </a:solidFill>
                          <a:latin typeface="Calibri"/>
                        </a:defRPr>
                      </a:pPr>
                      <a:r>
                        <a:t>Node.js Sandbox</a:t>
                      </a:r>
                    </a:p>
                  </a:txBody>
                  <a:tcPr>
                    <a:solidFill>
                      <a:srgbClr val="FFFFFF"/>
                    </a:solidFill>
                  </a:tcPr>
                </a:tc>
                <a:tc>
                  <a:txBody>
                    <a:bodyPr/>
                    <a:lstStyle/>
                    <a:p>
                      <a:pPr>
                        <a:defRPr sz="1000">
                          <a:solidFill>
                            <a:srgbClr val="1E293B"/>
                          </a:solidFill>
                          <a:latin typeface="Calibri"/>
                        </a:defRPr>
                      </a:pPr>
                      <a:r>
                        <a:t>Runs student code safely in path-jailed workspaces with strict execution timeouts (4000ms).</a:t>
                      </a:r>
                    </a:p>
                  </a:txBody>
                  <a:tcPr>
                    <a:solidFill>
                      <a:srgbClr val="FFFFFF"/>
                    </a:solidFill>
                  </a:tcPr>
                </a:tc>
              </a:tr>
              <a:tr h="450549">
                <a:tc>
                  <a:txBody>
                    <a:bodyPr/>
                    <a:lstStyle/>
                    <a:p>
                      <a:pPr>
                        <a:defRPr sz="1050" b="1">
                          <a:solidFill>
                            <a:srgbClr val="0F2942"/>
                          </a:solidFill>
                          <a:latin typeface="Calibri"/>
                        </a:defRPr>
                      </a:pPr>
                      <a:r>
                        <a:t>Vitest</a:t>
                      </a:r>
                    </a:p>
                  </a:txBody>
                  <a:tcPr>
                    <a:solidFill>
                      <a:srgbClr val="F1F5F9"/>
                    </a:solidFill>
                  </a:tcPr>
                </a:tc>
                <a:tc>
                  <a:txBody>
                    <a:bodyPr/>
                    <a:lstStyle/>
                    <a:p>
                      <a:pPr>
                        <a:defRPr sz="1000">
                          <a:solidFill>
                            <a:srgbClr val="1E293B"/>
                          </a:solidFill>
                          <a:latin typeface="Calibri"/>
                        </a:defRPr>
                      </a:pPr>
                      <a:r>
                        <a:t>Executes automated unit and integration tests inside the sandbox and checks student code against assertions.</a:t>
                      </a:r>
                    </a:p>
                  </a:txBody>
                  <a:tcPr>
                    <a:solidFill>
                      <a:srgbClr val="F1F5F9"/>
                    </a:solidFill>
                  </a:tcPr>
                </a:tc>
              </a:tr>
              <a:tr h="450549">
                <a:tc>
                  <a:txBody>
                    <a:bodyPr/>
                    <a:lstStyle/>
                    <a:p>
                      <a:pPr>
                        <a:defRPr sz="1050" b="1">
                          <a:solidFill>
                            <a:srgbClr val="0F2942"/>
                          </a:solidFill>
                          <a:latin typeface="Calibri"/>
                        </a:defRPr>
                      </a:pPr>
                      <a:r>
                        <a:t>JWT &amp; Bcryptjs</a:t>
                      </a:r>
                    </a:p>
                  </a:txBody>
                  <a:tcPr>
                    <a:solidFill>
                      <a:srgbClr val="FFFFFF"/>
                    </a:solidFill>
                  </a:tcPr>
                </a:tc>
                <a:tc>
                  <a:txBody>
                    <a:bodyPr/>
                    <a:lstStyle/>
                    <a:p>
                      <a:pPr>
                        <a:defRPr sz="1000">
                          <a:solidFill>
                            <a:srgbClr val="1E293B"/>
                          </a:solidFill>
                          <a:latin typeface="Calibri"/>
                        </a:defRPr>
                      </a:pPr>
                      <a:r>
                        <a:t>Handles user authentication with encrypted password hashing and secure HTTP-only session tokens.</a:t>
                      </a:r>
                    </a:p>
                  </a:txBody>
                  <a:tcPr>
                    <a:solidFill>
                      <a:srgbClr val="FFFFFF"/>
                    </a:solidFill>
                  </a:tcPr>
                </a:tc>
              </a:tr>
              <a:tr h="450558">
                <a:tc>
                  <a:txBody>
                    <a:bodyPr/>
                    <a:lstStyle/>
                    <a:p>
                      <a:pPr>
                        <a:defRPr sz="1050" b="1">
                          <a:solidFill>
                            <a:srgbClr val="0F2942"/>
                          </a:solidFill>
                          <a:latin typeface="Calibri"/>
                        </a:defRPr>
                      </a:pPr>
                      <a:r>
                        <a:t>Git Version Control</a:t>
                      </a:r>
                    </a:p>
                  </a:txBody>
                  <a:tcPr>
                    <a:solidFill>
                      <a:srgbClr val="F1F5F9"/>
                    </a:solidFill>
                  </a:tcPr>
                </a:tc>
                <a:tc>
                  <a:txBody>
                    <a:bodyPr/>
                    <a:lstStyle/>
                    <a:p>
                      <a:pPr>
                        <a:defRPr sz="1000">
                          <a:solidFill>
                            <a:srgbClr val="1E293B"/>
                          </a:solidFill>
                          <a:latin typeface="Calibri"/>
                        </a:defRPr>
                      </a:pPr>
                      <a:r>
                        <a:t>Captures code changes (diffs), generates commit hashes, and verifies student portfolios.</a:t>
                      </a:r>
                    </a:p>
                  </a:txBody>
                  <a:tcP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RESEARCH ANALYSIS</a:t>
            </a:r>
          </a:p>
          <a:p>
            <a:pPr>
              <a:spcAft>
                <a:spcPts val="100"/>
              </a:spcAft>
              <a:defRPr sz="2400" b="1">
                <a:solidFill>
                  <a:srgbClr val="0F2942"/>
                </a:solidFill>
                <a:latin typeface="Calibri"/>
              </a:defRPr>
            </a:pPr>
            <a:r>
              <a:t>Literature Survey (1)</a:t>
            </a:r>
          </a:p>
          <a:p>
            <a:pPr>
              <a:defRPr sz="1200">
                <a:solidFill>
                  <a:srgbClr val="64748B"/>
                </a:solidFill>
                <a:latin typeface="Calibri"/>
              </a:defRPr>
            </a:pPr>
            <a:r>
              <a:t>Careful review of published research in software engineering simulation, sandboxes, and education</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10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997135" cy="4572000"/>
          </a:xfrm>
          <a:prstGeom prst="rect">
            <a:avLst/>
          </a:prstGeom>
          <a:noFill/>
        </p:spPr>
        <p:txBody>
          <a:bodyPr wrap="square">
            <a:spAutoFit/>
          </a:bodyPr>
          <a:lstStyle/>
          <a:p>
            <a:pPr>
              <a:spcAft>
                <a:spcPts val="400"/>
              </a:spcAft>
            </a:pPr>
            <a:r>
              <a:rPr sz="1300" b="1">
                <a:solidFill>
                  <a:srgbClr val="2563EB"/>
                </a:solidFill>
                <a:latin typeface="Calibri"/>
              </a:rPr>
              <a:t>PAPER TITLE:  </a:t>
            </a:r>
            <a:r>
              <a:rPr sz="1300" b="1">
                <a:solidFill>
                  <a:srgbClr val="0F2942"/>
                </a:solidFill>
                <a:latin typeface="Calibri"/>
              </a:rPr>
              <a:t>Comprehensive Evaluation of an Educational Software Engineering Simulation Environment</a:t>
            </a:r>
          </a:p>
          <a:p>
            <a:pPr>
              <a:spcAft>
                <a:spcPts val="1200"/>
              </a:spcAft>
            </a:pPr>
            <a:r>
              <a:rPr sz="1200" b="1">
                <a:solidFill>
                  <a:srgbClr val="1E293B"/>
                </a:solidFill>
                <a:latin typeface="Calibri"/>
              </a:rPr>
              <a:t>AUTHOR: </a:t>
            </a:r>
            <a:r>
              <a:rPr sz="1200">
                <a:solidFill>
                  <a:srgbClr val="1E293B"/>
                </a:solidFill>
                <a:latin typeface="Calibri"/>
              </a:rPr>
              <a:t>Emily Navarro, André van der Hoek    |    </a:t>
            </a:r>
            <a:r>
              <a:rPr sz="1200" b="1">
                <a:solidFill>
                  <a:srgbClr val="1E293B"/>
                </a:solidFill>
                <a:latin typeface="Calibri"/>
              </a:rPr>
              <a:t>YEAR: </a:t>
            </a:r>
            <a:r>
              <a:rPr sz="1200">
                <a:solidFill>
                  <a:srgbClr val="1E293B"/>
                </a:solidFill>
                <a:latin typeface="Calibri"/>
              </a:rPr>
              <a:t>2007 (IEEE Transactions on Software Engineering)</a:t>
            </a:r>
          </a:p>
          <a:p>
            <a:pPr>
              <a:spcAft>
                <a:spcPts val="200"/>
              </a:spcAft>
              <a:defRPr sz="1100" b="1">
                <a:solidFill>
                  <a:srgbClr val="2563EB"/>
                </a:solidFill>
                <a:latin typeface="Calibri"/>
              </a:defRPr>
            </a:pPr>
            <a:r>
              <a:t>STUDY DESCRIPTION &amp; KEY FINDINGS:</a:t>
            </a:r>
          </a:p>
          <a:p>
            <a:pPr algn="just">
              <a:spcAft>
                <a:spcPts val="1200"/>
              </a:spcAft>
              <a:defRPr sz="1250">
                <a:solidFill>
                  <a:srgbClr val="1E293B"/>
                </a:solidFill>
                <a:latin typeface="Calibri"/>
              </a:defRPr>
            </a:pPr>
            <a:r>
              <a:t>This paper presents the design and longitudinal evaluation of SimSE, an educational software engineering simulation environment. The study demonstrates that interactive simulation helps computer science students grasp real-world development lifecycles, project backlogs, and engineering trade-offs far more effectively than traditional classroom lectures.</a:t>
            </a:r>
          </a:p>
          <a:p>
            <a:pPr>
              <a:spcAft>
                <a:spcPts val="200"/>
              </a:spcAft>
              <a:defRPr sz="1100" b="1">
                <a:solidFill>
                  <a:srgbClr val="059669"/>
                </a:solidFill>
                <a:latin typeface="Calibri"/>
              </a:defRPr>
            </a:pPr>
            <a:r>
              <a:t>PURPOSE OF REFERRING THIS PAPER FOR MY PROJECT:</a:t>
            </a:r>
          </a:p>
          <a:p>
            <a:pPr algn="just">
              <a:defRPr sz="1250">
                <a:solidFill>
                  <a:srgbClr val="1E293B"/>
                </a:solidFill>
                <a:latin typeface="Calibri"/>
              </a:defRPr>
            </a:pPr>
            <a:r>
              <a:t>I am referring to this paper to design the simulated company workflow and sprint backlog system for WORKUP. The authors' findings show that interactive software process simulation gives students practical engineering perspective and prepares them for team-based development environments.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RESEARCH ANALYSIS</a:t>
            </a:r>
          </a:p>
          <a:p>
            <a:pPr>
              <a:spcAft>
                <a:spcPts val="100"/>
              </a:spcAft>
              <a:defRPr sz="2400" b="1">
                <a:solidFill>
                  <a:srgbClr val="0F2942"/>
                </a:solidFill>
                <a:latin typeface="Calibri"/>
              </a:defRPr>
            </a:pPr>
            <a:r>
              <a:t>Literature Survey (2)</a:t>
            </a:r>
          </a:p>
          <a:p>
            <a:pPr>
              <a:defRPr sz="1200">
                <a:solidFill>
                  <a:srgbClr val="64748B"/>
                </a:solidFill>
                <a:latin typeface="Calibri"/>
              </a:defRPr>
            </a:pPr>
            <a:r>
              <a:t>Careful review of published research in software engineering simulation, sandboxes, and education</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11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997135" cy="4572000"/>
          </a:xfrm>
          <a:prstGeom prst="rect">
            <a:avLst/>
          </a:prstGeom>
          <a:noFill/>
        </p:spPr>
        <p:txBody>
          <a:bodyPr wrap="square">
            <a:spAutoFit/>
          </a:bodyPr>
          <a:lstStyle/>
          <a:p>
            <a:pPr>
              <a:spcAft>
                <a:spcPts val="400"/>
              </a:spcAft>
            </a:pPr>
            <a:r>
              <a:rPr sz="1300" b="1">
                <a:solidFill>
                  <a:srgbClr val="2563EB"/>
                </a:solidFill>
                <a:latin typeface="Calibri"/>
              </a:rPr>
              <a:t>PAPER TITLE:  </a:t>
            </a:r>
            <a:r>
              <a:rPr sz="1300" b="1">
                <a:solidFill>
                  <a:srgbClr val="0F2942"/>
                </a:solidFill>
                <a:latin typeface="Calibri"/>
              </a:rPr>
              <a:t>Gaps Between Industry Expectations and University Preparation in Software Engineering</a:t>
            </a:r>
          </a:p>
          <a:p>
            <a:pPr>
              <a:spcAft>
                <a:spcPts val="1200"/>
              </a:spcAft>
            </a:pPr>
            <a:r>
              <a:rPr sz="1200" b="1">
                <a:solidFill>
                  <a:srgbClr val="1E293B"/>
                </a:solidFill>
                <a:latin typeface="Calibri"/>
              </a:rPr>
              <a:t>AUTHOR: </a:t>
            </a:r>
            <a:r>
              <a:rPr sz="1200">
                <a:solidFill>
                  <a:srgbClr val="1E293B"/>
                </a:solidFill>
                <a:latin typeface="Calibri"/>
              </a:rPr>
              <a:t>Alex Radermacher, Gursimran Walia    |    </a:t>
            </a:r>
            <a:r>
              <a:rPr sz="1200" b="1">
                <a:solidFill>
                  <a:srgbClr val="1E293B"/>
                </a:solidFill>
                <a:latin typeface="Calibri"/>
              </a:rPr>
              <a:t>YEAR: </a:t>
            </a:r>
            <a:r>
              <a:rPr sz="1200">
                <a:solidFill>
                  <a:srgbClr val="1E293B"/>
                </a:solidFill>
                <a:latin typeface="Calibri"/>
              </a:rPr>
              <a:t>2013 (ACM SIGCSE Technical Symposium)</a:t>
            </a:r>
          </a:p>
          <a:p>
            <a:pPr>
              <a:spcAft>
                <a:spcPts val="200"/>
              </a:spcAft>
              <a:defRPr sz="1100" b="1">
                <a:solidFill>
                  <a:srgbClr val="2563EB"/>
                </a:solidFill>
                <a:latin typeface="Calibri"/>
              </a:defRPr>
            </a:pPr>
            <a:r>
              <a:t>STUDY DESCRIPTION &amp; KEY FINDINGS:</a:t>
            </a:r>
          </a:p>
          <a:p>
            <a:pPr algn="just">
              <a:spcAft>
                <a:spcPts val="1200"/>
              </a:spcAft>
              <a:defRPr sz="1250">
                <a:solidFill>
                  <a:srgbClr val="1E293B"/>
                </a:solidFill>
                <a:latin typeface="Calibri"/>
              </a:defRPr>
            </a:pPr>
            <a:r>
              <a:t>This paper investigates industry deficiencies among fresh computer science graduates across more than 50 technology companies. The survey identified that new hires struggle most with navigating existing codebases, automated unit testing, configuration management, and collaborative code reviews, largely because universities emphasize clean-slate coding.</a:t>
            </a:r>
          </a:p>
          <a:p>
            <a:pPr>
              <a:spcAft>
                <a:spcPts val="200"/>
              </a:spcAft>
              <a:defRPr sz="1100" b="1">
                <a:solidFill>
                  <a:srgbClr val="059669"/>
                </a:solidFill>
                <a:latin typeface="Calibri"/>
              </a:defRPr>
            </a:pPr>
            <a:r>
              <a:t>PURPOSE OF REFERRING THIS PAPER FOR MY PROJECT:</a:t>
            </a:r>
          </a:p>
          <a:p>
            <a:pPr algn="just">
              <a:defRPr sz="1250">
                <a:solidFill>
                  <a:srgbClr val="1E293B"/>
                </a:solidFill>
                <a:latin typeface="Calibri"/>
              </a:defRPr>
            </a:pPr>
            <a:r>
              <a:t>I am referring to this paper to establish the core problem statement and functional requirements for WORKUP. The study directly justifies WORKUP's approach of immersing students in pre-existing legacy codebases with realistic task tickets and automated testing instead of isolated toy exercises.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RESEARCH ANALYSIS</a:t>
            </a:r>
          </a:p>
          <a:p>
            <a:pPr>
              <a:spcAft>
                <a:spcPts val="100"/>
              </a:spcAft>
              <a:defRPr sz="2400" b="1">
                <a:solidFill>
                  <a:srgbClr val="0F2942"/>
                </a:solidFill>
                <a:latin typeface="Calibri"/>
              </a:defRPr>
            </a:pPr>
            <a:r>
              <a:t>Literature Survey (3)</a:t>
            </a:r>
          </a:p>
          <a:p>
            <a:pPr>
              <a:defRPr sz="1200">
                <a:solidFill>
                  <a:srgbClr val="64748B"/>
                </a:solidFill>
                <a:latin typeface="Calibri"/>
              </a:defRPr>
            </a:pPr>
            <a:r>
              <a:t>Careful review of published research in software engineering simulation, sandboxes, and education</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12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997135" cy="4572000"/>
          </a:xfrm>
          <a:prstGeom prst="rect">
            <a:avLst/>
          </a:prstGeom>
          <a:noFill/>
        </p:spPr>
        <p:txBody>
          <a:bodyPr wrap="square">
            <a:spAutoFit/>
          </a:bodyPr>
          <a:lstStyle/>
          <a:p>
            <a:pPr>
              <a:spcAft>
                <a:spcPts val="400"/>
              </a:spcAft>
            </a:pPr>
            <a:r>
              <a:rPr sz="1300" b="1">
                <a:solidFill>
                  <a:srgbClr val="2563EB"/>
                </a:solidFill>
                <a:latin typeface="Calibri"/>
              </a:rPr>
              <a:t>PAPER TITLE:  </a:t>
            </a:r>
            <a:r>
              <a:rPr sz="1300" b="1">
                <a:solidFill>
                  <a:srgbClr val="0F2942"/>
                </a:solidFill>
                <a:latin typeface="Calibri"/>
              </a:rPr>
              <a:t>Lightweight Container Isolation for Computing Education</a:t>
            </a:r>
          </a:p>
          <a:p>
            <a:pPr>
              <a:spcAft>
                <a:spcPts val="1200"/>
              </a:spcAft>
            </a:pPr>
            <a:r>
              <a:rPr sz="1200" b="1">
                <a:solidFill>
                  <a:srgbClr val="1E293B"/>
                </a:solidFill>
                <a:latin typeface="Calibri"/>
              </a:rPr>
              <a:t>AUTHOR: </a:t>
            </a:r>
            <a:r>
              <a:rPr sz="1200">
                <a:solidFill>
                  <a:srgbClr val="1E293B"/>
                </a:solidFill>
                <a:latin typeface="Calibri"/>
              </a:rPr>
              <a:t>Nane Kratzke    |    </a:t>
            </a:r>
            <a:r>
              <a:rPr sz="1200" b="1">
                <a:solidFill>
                  <a:srgbClr val="1E293B"/>
                </a:solidFill>
                <a:latin typeface="Calibri"/>
              </a:rPr>
              <a:t>YEAR: </a:t>
            </a:r>
            <a:r>
              <a:rPr sz="1200">
                <a:solidFill>
                  <a:srgbClr val="1E293B"/>
                </a:solidFill>
                <a:latin typeface="Calibri"/>
              </a:rPr>
              <a:t>2018 (IEEE Transactions on Education)</a:t>
            </a:r>
          </a:p>
          <a:p>
            <a:pPr>
              <a:spcAft>
                <a:spcPts val="200"/>
              </a:spcAft>
              <a:defRPr sz="1100" b="1">
                <a:solidFill>
                  <a:srgbClr val="2563EB"/>
                </a:solidFill>
                <a:latin typeface="Calibri"/>
              </a:defRPr>
            </a:pPr>
            <a:r>
              <a:t>STUDY DESCRIPTION &amp; KEY FINDINGS:</a:t>
            </a:r>
          </a:p>
          <a:p>
            <a:pPr algn="just">
              <a:spcAft>
                <a:spcPts val="1200"/>
              </a:spcAft>
              <a:defRPr sz="1250">
                <a:solidFill>
                  <a:srgbClr val="1E293B"/>
                </a:solidFill>
                <a:latin typeface="Calibri"/>
              </a:defRPr>
            </a:pPr>
            <a:r>
              <a:t>This paper evaluates lightweight container isolation mechanisms for delivering browser-accessible development environments in computer science education. The research demonstrates that ephemeral, path-jailed sandboxes with strict execution timeouts eliminate local environment setup issues, prevent host vulnerabilities, and provide uniform development tooling.</a:t>
            </a:r>
          </a:p>
          <a:p>
            <a:pPr>
              <a:spcAft>
                <a:spcPts val="200"/>
              </a:spcAft>
              <a:defRPr sz="1100" b="1">
                <a:solidFill>
                  <a:srgbClr val="059669"/>
                </a:solidFill>
                <a:latin typeface="Calibri"/>
              </a:defRPr>
            </a:pPr>
            <a:r>
              <a:t>PURPOSE OF REFERRING THIS PAPER FOR MY PROJECT:</a:t>
            </a:r>
          </a:p>
          <a:p>
            <a:pPr algn="just">
              <a:defRPr sz="1250">
                <a:solidFill>
                  <a:srgbClr val="1E293B"/>
                </a:solidFill>
                <a:latin typeface="Calibri"/>
              </a:defRPr>
            </a:pPr>
            <a:r>
              <a:t>I am referring to this paper to design the isolated browser-based development workbench in WORKUP. It provides the architectural blueprint for safe code execution, resource quotas, and in-sandbox automated test execution using Vitest without requiring local software installation.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RESEARCH ANALYSIS</a:t>
            </a:r>
          </a:p>
          <a:p>
            <a:pPr>
              <a:spcAft>
                <a:spcPts val="100"/>
              </a:spcAft>
              <a:defRPr sz="2400" b="1">
                <a:solidFill>
                  <a:srgbClr val="0F2942"/>
                </a:solidFill>
                <a:latin typeface="Calibri"/>
              </a:defRPr>
            </a:pPr>
            <a:r>
              <a:t>Literature Survey (4)</a:t>
            </a:r>
          </a:p>
          <a:p>
            <a:pPr>
              <a:defRPr sz="1200">
                <a:solidFill>
                  <a:srgbClr val="64748B"/>
                </a:solidFill>
                <a:latin typeface="Calibri"/>
              </a:defRPr>
            </a:pPr>
            <a:r>
              <a:t>Careful review of published research in software engineering simulation, sandboxes, and education</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13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997135" cy="4572000"/>
          </a:xfrm>
          <a:prstGeom prst="rect">
            <a:avLst/>
          </a:prstGeom>
          <a:noFill/>
        </p:spPr>
        <p:txBody>
          <a:bodyPr wrap="square">
            <a:spAutoFit/>
          </a:bodyPr>
          <a:lstStyle/>
          <a:p>
            <a:pPr>
              <a:spcAft>
                <a:spcPts val="400"/>
              </a:spcAft>
            </a:pPr>
            <a:r>
              <a:rPr sz="1300" b="1">
                <a:solidFill>
                  <a:srgbClr val="2563EB"/>
                </a:solidFill>
                <a:latin typeface="Calibri"/>
              </a:rPr>
              <a:t>PAPER TITLE:  </a:t>
            </a:r>
            <a:r>
              <a:rPr sz="1300" b="1">
                <a:solidFill>
                  <a:srgbClr val="0F2942"/>
                </a:solidFill>
                <a:latin typeface="Calibri"/>
              </a:rPr>
              <a:t>Automated Code Review in Software Engineering: A Systematic Literature Review</a:t>
            </a:r>
          </a:p>
          <a:p>
            <a:pPr>
              <a:spcAft>
                <a:spcPts val="1200"/>
              </a:spcAft>
            </a:pPr>
            <a:r>
              <a:rPr sz="1200" b="1">
                <a:solidFill>
                  <a:srgbClr val="1E293B"/>
                </a:solidFill>
                <a:latin typeface="Calibri"/>
              </a:rPr>
              <a:t>AUTHOR: </a:t>
            </a:r>
            <a:r>
              <a:rPr sz="1200">
                <a:solidFill>
                  <a:srgbClr val="1E293B"/>
                </a:solidFill>
                <a:latin typeface="Calibri"/>
              </a:rPr>
              <a:t>Carolin Bogner, Roberto Verdecchia, Patricia Lago    |    </a:t>
            </a:r>
            <a:r>
              <a:rPr sz="1200" b="1">
                <a:solidFill>
                  <a:srgbClr val="1E293B"/>
                </a:solidFill>
                <a:latin typeface="Calibri"/>
              </a:rPr>
              <a:t>YEAR: </a:t>
            </a:r>
            <a:r>
              <a:rPr sz="1200">
                <a:solidFill>
                  <a:srgbClr val="1E293B"/>
                </a:solidFill>
                <a:latin typeface="Calibri"/>
              </a:rPr>
              <a:t>2021 (IEEE Access / ACM Computing Surveys)</a:t>
            </a:r>
          </a:p>
          <a:p>
            <a:pPr>
              <a:spcAft>
                <a:spcPts val="200"/>
              </a:spcAft>
              <a:defRPr sz="1100" b="1">
                <a:solidFill>
                  <a:srgbClr val="2563EB"/>
                </a:solidFill>
                <a:latin typeface="Calibri"/>
              </a:defRPr>
            </a:pPr>
            <a:r>
              <a:t>STUDY DESCRIPTION &amp; KEY FINDINGS:</a:t>
            </a:r>
          </a:p>
          <a:p>
            <a:pPr algn="just">
              <a:spcAft>
                <a:spcPts val="1200"/>
              </a:spcAft>
              <a:defRPr sz="1250">
                <a:solidFill>
                  <a:srgbClr val="1E293B"/>
                </a:solidFill>
                <a:latin typeface="Calibri"/>
              </a:defRPr>
            </a:pPr>
            <a:r>
              <a:t>This systematic review analyzes modern automated code review systems, static analysis pipelines, and rubric-based feedback tools in software development. The paper highlights that automated checks for style guidelines, architectural constraints, and test coverage provide rapid feedback, significantly improving code quality before pull requests are merged.</a:t>
            </a:r>
          </a:p>
          <a:p>
            <a:pPr>
              <a:spcAft>
                <a:spcPts val="200"/>
              </a:spcAft>
              <a:defRPr sz="1100" b="1">
                <a:solidFill>
                  <a:srgbClr val="059669"/>
                </a:solidFill>
                <a:latin typeface="Calibri"/>
              </a:defRPr>
            </a:pPr>
            <a:r>
              <a:t>PURPOSE OF REFERRING THIS PAPER FOR MY PROJECT:</a:t>
            </a:r>
          </a:p>
          <a:p>
            <a:pPr algn="just">
              <a:defRPr sz="1250">
                <a:solidFill>
                  <a:srgbClr val="1E293B"/>
                </a:solidFill>
                <a:latin typeface="Calibri"/>
              </a:defRPr>
            </a:pPr>
            <a:r>
              <a:t>I am referring to this paper to structure the AI Tech Lead review engine in WORKUP. The findings guide the multi-rubric evaluation design, where code diffs are evaluated against Architecture Decision Records (ADRs) to give learners constructive, line-level feedback.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RESEARCH ANALYSIS</a:t>
            </a:r>
          </a:p>
          <a:p>
            <a:pPr>
              <a:spcAft>
                <a:spcPts val="100"/>
              </a:spcAft>
              <a:defRPr sz="2400" b="1">
                <a:solidFill>
                  <a:srgbClr val="0F2942"/>
                </a:solidFill>
                <a:latin typeface="Calibri"/>
              </a:defRPr>
            </a:pPr>
            <a:r>
              <a:t>Literature Survey (5)</a:t>
            </a:r>
          </a:p>
          <a:p>
            <a:pPr>
              <a:defRPr sz="1200">
                <a:solidFill>
                  <a:srgbClr val="64748B"/>
                </a:solidFill>
                <a:latin typeface="Calibri"/>
              </a:defRPr>
            </a:pPr>
            <a:r>
              <a:t>Careful review of published research in software engineering simulation, sandboxes, and education</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14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997135" cy="4572000"/>
          </a:xfrm>
          <a:prstGeom prst="rect">
            <a:avLst/>
          </a:prstGeom>
          <a:noFill/>
        </p:spPr>
        <p:txBody>
          <a:bodyPr wrap="square">
            <a:spAutoFit/>
          </a:bodyPr>
          <a:lstStyle/>
          <a:p>
            <a:pPr>
              <a:spcAft>
                <a:spcPts val="400"/>
              </a:spcAft>
            </a:pPr>
            <a:r>
              <a:rPr sz="1300" b="1">
                <a:solidFill>
                  <a:srgbClr val="2563EB"/>
                </a:solidFill>
                <a:latin typeface="Calibri"/>
              </a:rPr>
              <a:t>PAPER TITLE:  </a:t>
            </a:r>
            <a:r>
              <a:rPr sz="1300" b="1">
                <a:solidFill>
                  <a:srgbClr val="0F2942"/>
                </a:solidFill>
                <a:latin typeface="Calibri"/>
              </a:rPr>
              <a:t>Scaffolding Software Engineering Learning Through Directed Acyclic Graph Workflows</a:t>
            </a:r>
          </a:p>
          <a:p>
            <a:pPr>
              <a:spcAft>
                <a:spcPts val="1200"/>
              </a:spcAft>
            </a:pPr>
            <a:r>
              <a:rPr sz="1200" b="1">
                <a:solidFill>
                  <a:srgbClr val="1E293B"/>
                </a:solidFill>
                <a:latin typeface="Calibri"/>
              </a:rPr>
              <a:t>AUTHOR: </a:t>
            </a:r>
            <a:r>
              <a:rPr sz="1200">
                <a:solidFill>
                  <a:srgbClr val="1E293B"/>
                </a:solidFill>
                <a:latin typeface="Calibri"/>
              </a:rPr>
              <a:t>David Shepherd, Lori Pollock, Vijay K. Vaishnavi    |    </a:t>
            </a:r>
            <a:r>
              <a:rPr sz="1200" b="1">
                <a:solidFill>
                  <a:srgbClr val="1E293B"/>
                </a:solidFill>
                <a:latin typeface="Calibri"/>
              </a:rPr>
              <a:t>YEAR: </a:t>
            </a:r>
            <a:r>
              <a:rPr sz="1200">
                <a:solidFill>
                  <a:srgbClr val="1E293B"/>
                </a:solidFill>
                <a:latin typeface="Calibri"/>
              </a:rPr>
              <a:t>2019 (IEEE Transactions on Learning Technologies)</a:t>
            </a:r>
          </a:p>
          <a:p>
            <a:pPr>
              <a:spcAft>
                <a:spcPts val="200"/>
              </a:spcAft>
              <a:defRPr sz="1100" b="1">
                <a:solidFill>
                  <a:srgbClr val="2563EB"/>
                </a:solidFill>
                <a:latin typeface="Calibri"/>
              </a:defRPr>
            </a:pPr>
            <a:r>
              <a:t>STUDY DESCRIPTION &amp; KEY FINDINGS:</a:t>
            </a:r>
          </a:p>
          <a:p>
            <a:pPr algn="just">
              <a:spcAft>
                <a:spcPts val="1200"/>
              </a:spcAft>
              <a:defRPr sz="1250">
                <a:solidFill>
                  <a:srgbClr val="1E293B"/>
                </a:solidFill>
                <a:latin typeface="Calibri"/>
              </a:defRPr>
            </a:pPr>
            <a:r>
              <a:t>This study examines instructional scaffolding and task sequencing in software engineering education using Directed Acyclic Graphs (DAGs). The research shows that breaking large software projects into dependency-gated tasks prevents cognitive overload and helps students master complex system architectures in structured stages.</a:t>
            </a:r>
          </a:p>
          <a:p>
            <a:pPr>
              <a:spcAft>
                <a:spcPts val="200"/>
              </a:spcAft>
              <a:defRPr sz="1100" b="1">
                <a:solidFill>
                  <a:srgbClr val="059669"/>
                </a:solidFill>
                <a:latin typeface="Calibri"/>
              </a:defRPr>
            </a:pPr>
            <a:r>
              <a:t>PURPOSE OF REFERRING THIS PAPER FOR MY PROJECT:</a:t>
            </a:r>
          </a:p>
          <a:p>
            <a:pPr algn="just">
              <a:defRPr sz="1250">
                <a:solidFill>
                  <a:srgbClr val="1E293B"/>
                </a:solidFill>
                <a:latin typeface="Calibri"/>
              </a:defRPr>
            </a:pPr>
            <a:r>
              <a:t>I am referring to this paper to design the task dependency engine (DAG) in WORKUP. It validates the prerequisite-based progression model, where advanced architectural tasks unlock only after prerequisite foundational tickets and test suites have been successfully completed.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SYSTEM ARCHITECTURE</a:t>
            </a:r>
          </a:p>
          <a:p>
            <a:pPr>
              <a:spcAft>
                <a:spcPts val="100"/>
              </a:spcAft>
              <a:defRPr sz="2400" b="1">
                <a:solidFill>
                  <a:srgbClr val="0F2942"/>
                </a:solidFill>
                <a:latin typeface="Calibri"/>
              </a:defRPr>
            </a:pPr>
            <a:r>
              <a:t>Architecture Diagram</a:t>
            </a:r>
          </a:p>
          <a:p>
            <a:pPr>
              <a:defRPr sz="1200">
                <a:solidFill>
                  <a:srgbClr val="64748B"/>
                </a:solidFill>
                <a:latin typeface="Calibri"/>
              </a:defRPr>
            </a:pPr>
            <a:r>
              <a:t>5-tier architecture connecting presentation, API gateway, core services, sandbox, and storage</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15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1_system_architecture.png"/>
          <p:cNvPicPr>
            <a:picLocks noChangeAspect="1"/>
          </p:cNvPicPr>
          <p:nvPr/>
        </p:nvPicPr>
        <p:blipFill>
          <a:blip r:embed="rId2"/>
          <a:stretch>
            <a:fillRect/>
          </a:stretch>
        </p:blipFill>
        <p:spPr>
          <a:xfrm>
            <a:off x="3353064" y="1357884"/>
            <a:ext cx="5485566" cy="47091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UML MODELING</a:t>
            </a:r>
          </a:p>
          <a:p>
            <a:pPr>
              <a:spcAft>
                <a:spcPts val="100"/>
              </a:spcAft>
              <a:defRPr sz="2400" b="1">
                <a:solidFill>
                  <a:srgbClr val="0F2942"/>
                </a:solidFill>
                <a:latin typeface="Calibri"/>
              </a:defRPr>
            </a:pPr>
            <a:r>
              <a:t>Use Case Diagram</a:t>
            </a:r>
          </a:p>
          <a:p>
            <a:pPr>
              <a:defRPr sz="1200">
                <a:solidFill>
                  <a:srgbClr val="64748B"/>
                </a:solidFill>
                <a:latin typeface="Calibri"/>
              </a:defRPr>
            </a:pPr>
            <a:r>
              <a:t>Core platform actors (Student, Author, Reviewer, Admin) interacting with 16 system use cases</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16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2_use_case.png"/>
          <p:cNvPicPr>
            <a:picLocks noChangeAspect="1"/>
          </p:cNvPicPr>
          <p:nvPr/>
        </p:nvPicPr>
        <p:blipFill>
          <a:blip r:embed="rId2"/>
          <a:stretch>
            <a:fillRect/>
          </a:stretch>
        </p:blipFill>
        <p:spPr>
          <a:xfrm>
            <a:off x="3245619" y="1357884"/>
            <a:ext cx="5700455" cy="47091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DOMAIN MODELING</a:t>
            </a:r>
          </a:p>
          <a:p>
            <a:pPr>
              <a:spcAft>
                <a:spcPts val="100"/>
              </a:spcAft>
              <a:defRPr sz="2400" b="1">
                <a:solidFill>
                  <a:srgbClr val="0F2942"/>
                </a:solidFill>
                <a:latin typeface="Calibri"/>
              </a:defRPr>
            </a:pPr>
            <a:r>
              <a:t>Class Diagram</a:t>
            </a:r>
          </a:p>
          <a:p>
            <a:pPr>
              <a:defRPr sz="1200">
                <a:solidFill>
                  <a:srgbClr val="64748B"/>
                </a:solidFill>
                <a:latin typeface="Calibri"/>
              </a:defRPr>
            </a:pPr>
            <a:r>
              <a:t>21-entity domain model capturing users, simulations, tasks, workspaces, submissions, and portfolios</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17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5_class_domain_model.png"/>
          <p:cNvPicPr>
            <a:picLocks noChangeAspect="1"/>
          </p:cNvPicPr>
          <p:nvPr/>
        </p:nvPicPr>
        <p:blipFill>
          <a:blip r:embed="rId2"/>
          <a:stretch>
            <a:fillRect/>
          </a:stretch>
        </p:blipFill>
        <p:spPr>
          <a:xfrm>
            <a:off x="3440031" y="1357884"/>
            <a:ext cx="5311632" cy="47091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RUNTIME SNAPSHOT</a:t>
            </a:r>
          </a:p>
          <a:p>
            <a:pPr>
              <a:spcAft>
                <a:spcPts val="100"/>
              </a:spcAft>
              <a:defRPr sz="2400" b="1">
                <a:solidFill>
                  <a:srgbClr val="0F2942"/>
                </a:solidFill>
                <a:latin typeface="Calibri"/>
              </a:defRPr>
            </a:pPr>
            <a:r>
              <a:t>Object Diagram</a:t>
            </a:r>
          </a:p>
          <a:p>
            <a:pPr>
              <a:defRPr sz="1200">
                <a:solidFill>
                  <a:srgbClr val="64748B"/>
                </a:solidFill>
                <a:latin typeface="Calibri"/>
              </a:defRPr>
            </a:pPr>
            <a:r>
              <a:t>Concrete runtime instances of user, company, project, task, workspace, and evaluation records</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18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object_diagram.png"/>
          <p:cNvPicPr>
            <a:picLocks noChangeAspect="1"/>
          </p:cNvPicPr>
          <p:nvPr/>
        </p:nvPicPr>
        <p:blipFill>
          <a:blip r:embed="rId2"/>
          <a:stretch>
            <a:fillRect/>
          </a:stretch>
        </p:blipFill>
        <p:spPr>
          <a:xfrm>
            <a:off x="2172403" y="1357884"/>
            <a:ext cx="7846887" cy="47091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DYNAMIC INTERACTION</a:t>
            </a:r>
          </a:p>
          <a:p>
            <a:pPr>
              <a:spcAft>
                <a:spcPts val="100"/>
              </a:spcAft>
              <a:defRPr sz="2400" b="1">
                <a:solidFill>
                  <a:srgbClr val="0F2942"/>
                </a:solidFill>
                <a:latin typeface="Calibri"/>
              </a:defRPr>
            </a:pPr>
            <a:r>
              <a:t>Sequence Diagram</a:t>
            </a:r>
          </a:p>
          <a:p>
            <a:pPr>
              <a:defRPr sz="1200">
                <a:solidFill>
                  <a:srgbClr val="64748B"/>
                </a:solidFill>
                <a:latin typeface="Calibri"/>
              </a:defRPr>
            </a:pPr>
            <a:r>
              <a:t>Two-phase sequence flow: Automated In-Sandbox Test Execution and AI PR Review Submission</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19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4_sequence_submission.png"/>
          <p:cNvPicPr>
            <a:picLocks noChangeAspect="1"/>
          </p:cNvPicPr>
          <p:nvPr/>
        </p:nvPicPr>
        <p:blipFill>
          <a:blip r:embed="rId2"/>
          <a:stretch>
            <a:fillRect/>
          </a:stretch>
        </p:blipFill>
        <p:spPr>
          <a:xfrm>
            <a:off x="3217908" y="1357884"/>
            <a:ext cx="5755877" cy="47091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STRUCTURAL COMMUNICATION</a:t>
            </a:r>
          </a:p>
          <a:p>
            <a:pPr>
              <a:spcAft>
                <a:spcPts val="100"/>
              </a:spcAft>
              <a:defRPr sz="2400" b="1">
                <a:solidFill>
                  <a:srgbClr val="0F2942"/>
                </a:solidFill>
                <a:latin typeface="Calibri"/>
              </a:defRPr>
            </a:pPr>
            <a:r>
              <a:t>Collaboration Diagram</a:t>
            </a:r>
          </a:p>
          <a:p>
            <a:pPr>
              <a:defRPr sz="1200">
                <a:solidFill>
                  <a:srgbClr val="64748B"/>
                </a:solidFill>
                <a:latin typeface="Calibri"/>
              </a:defRPr>
            </a:pPr>
            <a:r>
              <a:t>Object relationships and ordered message flow during an end-to-end task completion cycle</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20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collaboration_diagram.png"/>
          <p:cNvPicPr>
            <a:picLocks noChangeAspect="1"/>
          </p:cNvPicPr>
          <p:nvPr/>
        </p:nvPicPr>
        <p:blipFill>
          <a:blip r:embed="rId2"/>
          <a:stretch>
            <a:fillRect/>
          </a:stretch>
        </p:blipFill>
        <p:spPr>
          <a:xfrm>
            <a:off x="2172403" y="1357884"/>
            <a:ext cx="7846887" cy="47091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MODULAR DECOMPOSITION</a:t>
            </a:r>
          </a:p>
          <a:p>
            <a:pPr>
              <a:spcAft>
                <a:spcPts val="100"/>
              </a:spcAft>
              <a:defRPr sz="2400" b="1">
                <a:solidFill>
                  <a:srgbClr val="0F2942"/>
                </a:solidFill>
                <a:latin typeface="Calibri"/>
              </a:defRPr>
            </a:pPr>
            <a:r>
              <a:t>Component Diagram</a:t>
            </a:r>
          </a:p>
          <a:p>
            <a:pPr>
              <a:defRPr sz="1200">
                <a:solidFill>
                  <a:srgbClr val="64748B"/>
                </a:solidFill>
                <a:latin typeface="Calibri"/>
              </a:defRPr>
            </a:pPr>
            <a:r>
              <a:t>Layered software components from Next.js UI through API routes, business logic, and sandbox</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21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7_component_diagram.png"/>
          <p:cNvPicPr>
            <a:picLocks noChangeAspect="1"/>
          </p:cNvPicPr>
          <p:nvPr/>
        </p:nvPicPr>
        <p:blipFill>
          <a:blip r:embed="rId2"/>
          <a:stretch>
            <a:fillRect/>
          </a:stretch>
        </p:blipFill>
        <p:spPr>
          <a:xfrm>
            <a:off x="3152622" y="1357884"/>
            <a:ext cx="5886450" cy="47091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PHYSICAL TOPOLOGY</a:t>
            </a:r>
          </a:p>
          <a:p>
            <a:pPr>
              <a:spcAft>
                <a:spcPts val="100"/>
              </a:spcAft>
              <a:defRPr sz="2400" b="1">
                <a:solidFill>
                  <a:srgbClr val="0F2942"/>
                </a:solidFill>
                <a:latin typeface="Calibri"/>
              </a:defRPr>
            </a:pPr>
            <a:r>
              <a:t>Deployment Diagram</a:t>
            </a:r>
          </a:p>
          <a:p>
            <a:pPr>
              <a:defRPr sz="1200">
                <a:solidFill>
                  <a:srgbClr val="64748B"/>
                </a:solidFill>
                <a:latin typeface="Calibri"/>
              </a:defRPr>
            </a:pPr>
            <a:r>
              <a:t>Hardware nodes and execution environments: Browser Client, Web App Server, Sandbox Container Host</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22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8_deployment_diagram.png"/>
          <p:cNvPicPr>
            <a:picLocks noChangeAspect="1"/>
          </p:cNvPicPr>
          <p:nvPr/>
        </p:nvPicPr>
        <p:blipFill>
          <a:blip r:embed="rId2"/>
          <a:stretch>
            <a:fillRect/>
          </a:stretch>
        </p:blipFill>
        <p:spPr>
          <a:xfrm>
            <a:off x="3217908" y="1357884"/>
            <a:ext cx="5755877" cy="47091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LIFECYCLE BEHAVIOR</a:t>
            </a:r>
          </a:p>
          <a:p>
            <a:pPr>
              <a:spcAft>
                <a:spcPts val="100"/>
              </a:spcAft>
              <a:defRPr sz="2400" b="1">
                <a:solidFill>
                  <a:srgbClr val="0F2942"/>
                </a:solidFill>
                <a:latin typeface="Calibri"/>
              </a:defRPr>
            </a:pPr>
            <a:r>
              <a:t>State Chart Diagram</a:t>
            </a:r>
          </a:p>
          <a:p>
            <a:pPr>
              <a:defRPr sz="1200">
                <a:solidFill>
                  <a:srgbClr val="64748B"/>
                </a:solidFill>
                <a:latin typeface="Calibri"/>
              </a:defRPr>
            </a:pPr>
            <a:r>
              <a:t>Task &amp; submission state transitions from prerequisite LOCKED to final TASK_APPROVED</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23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statechart_diagram.png"/>
          <p:cNvPicPr>
            <a:picLocks noChangeAspect="1"/>
          </p:cNvPicPr>
          <p:nvPr/>
        </p:nvPicPr>
        <p:blipFill>
          <a:blip r:embed="rId2"/>
          <a:stretch>
            <a:fillRect/>
          </a:stretch>
        </p:blipFill>
        <p:spPr>
          <a:xfrm>
            <a:off x="2172403" y="1357884"/>
            <a:ext cx="7846887" cy="470916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PROCESS WORKFLOW</a:t>
            </a:r>
          </a:p>
          <a:p>
            <a:pPr>
              <a:spcAft>
                <a:spcPts val="100"/>
              </a:spcAft>
              <a:defRPr sz="2400" b="1">
                <a:solidFill>
                  <a:srgbClr val="0F2942"/>
                </a:solidFill>
                <a:latin typeface="Calibri"/>
              </a:defRPr>
            </a:pPr>
            <a:r>
              <a:t>Activity Diagram</a:t>
            </a:r>
          </a:p>
          <a:p>
            <a:pPr>
              <a:defRPr sz="1200">
                <a:solidFill>
                  <a:srgbClr val="64748B"/>
                </a:solidFill>
                <a:latin typeface="Calibri"/>
              </a:defRPr>
            </a:pPr>
            <a:r>
              <a:t>Learner journey from role selection through ticket inspection, sandbox coding, tests, and PR review</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24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3_activity_workflow.png"/>
          <p:cNvPicPr>
            <a:picLocks noChangeAspect="1"/>
          </p:cNvPicPr>
          <p:nvPr/>
        </p:nvPicPr>
        <p:blipFill>
          <a:blip r:embed="rId2"/>
          <a:stretch>
            <a:fillRect/>
          </a:stretch>
        </p:blipFill>
        <p:spPr>
          <a:xfrm>
            <a:off x="3654826" y="1357884"/>
            <a:ext cx="4882042" cy="470916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PROJECT CONCLUSION</a:t>
            </a:r>
          </a:p>
          <a:p>
            <a:pPr>
              <a:spcAft>
                <a:spcPts val="100"/>
              </a:spcAft>
              <a:defRPr sz="2400" b="1">
                <a:solidFill>
                  <a:srgbClr val="0F2942"/>
                </a:solidFill>
                <a:latin typeface="Calibri"/>
              </a:defRPr>
            </a:pPr>
            <a:r>
              <a:t>Conclusion</a:t>
            </a:r>
          </a:p>
          <a:p>
            <a:pPr>
              <a:defRPr sz="1200">
                <a:solidFill>
                  <a:srgbClr val="64748B"/>
                </a:solidFill>
                <a:latin typeface="Calibri"/>
              </a:defRPr>
            </a:pPr>
            <a:r>
              <a:t>Summary of the WORKUP platform's impact, current prototype, and future roadmap</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25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508760"/>
            <a:ext cx="9997135" cy="4389120"/>
          </a:xfrm>
          <a:prstGeom prst="rect">
            <a:avLst/>
          </a:prstGeom>
          <a:noFill/>
        </p:spPr>
        <p:txBody>
          <a:bodyPr wrap="square">
            <a:spAutoFit/>
          </a:bodyPr>
          <a:lstStyle/>
          <a:p>
            <a:pPr>
              <a:spcAft>
                <a:spcPts val="200"/>
              </a:spcAft>
              <a:defRPr sz="1100" b="1">
                <a:solidFill>
                  <a:srgbClr val="2563EB"/>
                </a:solidFill>
                <a:latin typeface="Calibri"/>
              </a:defRPr>
            </a:pPr>
            <a:r>
              <a:t>SUMMARY OF PROPOSED SOLUTION</a:t>
            </a:r>
          </a:p>
          <a:p>
            <a:pPr algn="just">
              <a:spcAft>
                <a:spcPts val="1200"/>
              </a:spcAft>
              <a:defRPr sz="1250">
                <a:solidFill>
                  <a:srgbClr val="1E293B"/>
                </a:solidFill>
                <a:latin typeface="Calibri"/>
              </a:defRPr>
            </a:pPr>
            <a:r>
              <a:t>The proposed WORKUP platform introduces a practical and modern approach to bridging the gap between classroom programming and real-world software engineering. By immersing learners in simulated technology companies with authentic task backlogs, Architecture Decision Records (ADRs), and legacy codebases, the system directly addresses the critical limitations of conventional coding websites that rely on isolated toy problems.</a:t>
            </a:r>
          </a:p>
          <a:p>
            <a:pPr>
              <a:spcAft>
                <a:spcPts val="200"/>
              </a:spcAft>
              <a:defRPr sz="1100" b="1">
                <a:solidFill>
                  <a:srgbClr val="2563EB"/>
                </a:solidFill>
                <a:latin typeface="Calibri"/>
              </a:defRPr>
            </a:pPr>
            <a:r>
              <a:t>CURRENT PROTOTYPE ACHIEVEMENTS</a:t>
            </a:r>
          </a:p>
          <a:p>
            <a:pPr algn="just">
              <a:spcAft>
                <a:spcPts val="1200"/>
              </a:spcAft>
              <a:defRPr sz="1250">
                <a:solidFill>
                  <a:srgbClr val="1E293B"/>
                </a:solidFill>
                <a:latin typeface="Calibri"/>
              </a:defRPr>
            </a:pPr>
            <a:r>
              <a:t>The platform successfully combines zero-setup browser sandboxes, automated in-sandbox testing via Vitest, and AI-assisted code reviews to provide immediate, actionable feedback to learners. As tasks are completed, verifiable Git commit records build an authentic Evidence-of-Skill portfolio for recruiters and educators, ensuring that student abilities are backed by genuine code evidence.</a:t>
            </a:r>
          </a:p>
          <a:p>
            <a:pPr>
              <a:spcAft>
                <a:spcPts val="200"/>
              </a:spcAft>
              <a:defRPr sz="1100" b="1">
                <a:solidFill>
                  <a:srgbClr val="2563EB"/>
                </a:solidFill>
                <a:latin typeface="Calibri"/>
              </a:defRPr>
            </a:pPr>
            <a:r>
              <a:t>FUTURE ENHANCEMENTS &amp; SCALABILITY</a:t>
            </a:r>
          </a:p>
          <a:p>
            <a:pPr algn="just">
              <a:spcAft>
                <a:spcPts val="1200"/>
              </a:spcAft>
              <a:defRPr sz="1250">
                <a:solidFill>
                  <a:srgbClr val="1E293B"/>
                </a:solidFill>
                <a:latin typeface="Calibri"/>
              </a:defRPr>
            </a:pPr>
            <a:r>
              <a:t>This prototype lays a solid architectural foundation for virtual workplace simulations. Future stages will extend the platform with multi-developer team collaboration, distributed Kubernetes sandbox container clusters, live peer code reviews, and specialized tracks in cloud infrastructure, AI engineering, and cybersecurity.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ACADEMIC SOURCES</a:t>
            </a:r>
          </a:p>
          <a:p>
            <a:pPr>
              <a:spcAft>
                <a:spcPts val="100"/>
              </a:spcAft>
              <a:defRPr sz="2400" b="1">
                <a:solidFill>
                  <a:srgbClr val="0F2942"/>
                </a:solidFill>
                <a:latin typeface="Calibri"/>
              </a:defRPr>
            </a:pPr>
            <a:r>
              <a:t>References</a:t>
            </a:r>
          </a:p>
          <a:p>
            <a:pPr>
              <a:defRPr sz="1200">
                <a:solidFill>
                  <a:srgbClr val="64748B"/>
                </a:solidFill>
                <a:latin typeface="Calibri"/>
              </a:defRPr>
            </a:pPr>
            <a:r>
              <a:t>Key peer-reviewed literature and conference proceedings cited in this review</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26 of 28</a:t>
            </a:r>
          </a:p>
        </p:txBody>
      </p:sp>
      <p:sp>
        <p:nvSpPr>
          <p:cNvPr id="8" name="Rounded Rectangle 7"/>
          <p:cNvSpPr/>
          <p:nvPr/>
        </p:nvSpPr>
        <p:spPr>
          <a:xfrm>
            <a:off x="731520" y="1234440"/>
            <a:ext cx="10728655" cy="49560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997135" cy="4572000"/>
          </a:xfrm>
          <a:prstGeom prst="rect">
            <a:avLst/>
          </a:prstGeom>
          <a:noFill/>
        </p:spPr>
        <p:txBody>
          <a:bodyPr wrap="square">
            <a:spAutoFit/>
          </a:bodyPr>
          <a:lstStyle/>
          <a:p>
            <a:pPr>
              <a:spcAft>
                <a:spcPts val="1400"/>
              </a:spcAft>
            </a:pPr>
            <a:r>
              <a:rPr sz="1300" b="1">
                <a:solidFill>
                  <a:srgbClr val="2563EB"/>
                </a:solidFill>
                <a:latin typeface="Calibri"/>
              </a:rPr>
              <a:t>[1]  </a:t>
            </a:r>
            <a:r>
              <a:rPr sz="1200">
                <a:solidFill>
                  <a:srgbClr val="1E293B"/>
                </a:solidFill>
                <a:latin typeface="Calibri"/>
              </a:rPr>
              <a:t>Navarro, E., &amp; van der Hoek, A. (2007). Comprehensive evaluation of an educational software engineering simulation environment. IEEE Transactions on Software Engineering, 33(6), 409-425.</a:t>
            </a:r>
          </a:p>
          <a:p>
            <a:pPr>
              <a:spcAft>
                <a:spcPts val="1400"/>
              </a:spcAft>
            </a:pPr>
            <a:r>
              <a:rPr sz="1300" b="1">
                <a:solidFill>
                  <a:srgbClr val="2563EB"/>
                </a:solidFill>
                <a:latin typeface="Calibri"/>
              </a:rPr>
              <a:t>[2]  </a:t>
            </a:r>
            <a:r>
              <a:rPr sz="1200">
                <a:solidFill>
                  <a:srgbClr val="1E293B"/>
                </a:solidFill>
                <a:latin typeface="Calibri"/>
              </a:rPr>
              <a:t>Radermacher, A., &amp; Walia, G. (2013). Gaps between industry expectations and university preparation in software engineering. In Proceedings of the 44th ACM Technical Symposium on Computer Science Education (SIGCSE), 525-530.</a:t>
            </a:r>
          </a:p>
          <a:p>
            <a:pPr>
              <a:spcAft>
                <a:spcPts val="1400"/>
              </a:spcAft>
            </a:pPr>
            <a:r>
              <a:rPr sz="1300" b="1">
                <a:solidFill>
                  <a:srgbClr val="2563EB"/>
                </a:solidFill>
                <a:latin typeface="Calibri"/>
              </a:rPr>
              <a:t>[3]  </a:t>
            </a:r>
            <a:r>
              <a:rPr sz="1200">
                <a:solidFill>
                  <a:srgbClr val="1E293B"/>
                </a:solidFill>
                <a:latin typeface="Calibri"/>
              </a:rPr>
              <a:t>Kratzke, N. (2018). Lightweight container isolation for computing education. IEEE Transactions on Education, 61(2), 127-134.</a:t>
            </a:r>
          </a:p>
          <a:p>
            <a:pPr>
              <a:spcAft>
                <a:spcPts val="1400"/>
              </a:spcAft>
            </a:pPr>
            <a:r>
              <a:rPr sz="1300" b="1">
                <a:solidFill>
                  <a:srgbClr val="2563EB"/>
                </a:solidFill>
                <a:latin typeface="Calibri"/>
              </a:rPr>
              <a:t>[4]  </a:t>
            </a:r>
            <a:r>
              <a:rPr sz="1200">
                <a:solidFill>
                  <a:srgbClr val="1E293B"/>
                </a:solidFill>
                <a:latin typeface="Calibri"/>
              </a:rPr>
              <a:t>Bogner, C., Verdecchia, R., &amp; Lago, P. (2021). Automated code review in software engineering: A systematic literature review. IEEE Access, 9, 78241-78262.</a:t>
            </a:r>
          </a:p>
          <a:p>
            <a:pPr>
              <a:spcAft>
                <a:spcPts val="1400"/>
              </a:spcAft>
            </a:pPr>
            <a:r>
              <a:rPr sz="1300" b="1">
                <a:solidFill>
                  <a:srgbClr val="2563EB"/>
                </a:solidFill>
                <a:latin typeface="Calibri"/>
              </a:rPr>
              <a:t>[5]  </a:t>
            </a:r>
            <a:r>
              <a:rPr sz="1200">
                <a:solidFill>
                  <a:srgbClr val="1E293B"/>
                </a:solidFill>
                <a:latin typeface="Calibri"/>
              </a:rPr>
              <a:t>Shepherd, D., Pollock, L., &amp; Vaishnavi, V. K. (2019). Scaffolding software engineering learning through directed acyclic graph workflows. IEEE Transactions on Learning Technologies, 12(3), 341-354.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8046720" cy="868680"/>
          </a:xfrm>
          <a:prstGeom prst="rect">
            <a:avLst/>
          </a:prstGeom>
          <a:noFill/>
        </p:spPr>
        <p:txBody>
          <a:bodyPr wrap="square" lIns="0" tIns="0" rIns="0" bIns="0">
            <a:spAutoFit/>
          </a:bodyPr>
          <a:lstStyle/>
          <a:p>
            <a:pPr>
              <a:spcAft>
                <a:spcPts val="200"/>
              </a:spcAft>
              <a:defRPr sz="1000" b="1">
                <a:solidFill>
                  <a:srgbClr val="2563EB"/>
                </a:solidFill>
                <a:latin typeface="Calibri"/>
              </a:defRPr>
            </a:pPr>
            <a:r>
              <a:t>COMPARATIVE MATRIX</a:t>
            </a:r>
          </a:p>
          <a:p>
            <a:pPr>
              <a:spcAft>
                <a:spcPts val="100"/>
              </a:spcAft>
              <a:defRPr sz="2400" b="1">
                <a:solidFill>
                  <a:srgbClr val="0F2942"/>
                </a:solidFill>
                <a:latin typeface="Calibri"/>
              </a:defRPr>
            </a:pPr>
            <a:r>
              <a:t>Literature Survey Summary Table</a:t>
            </a:r>
          </a:p>
          <a:p>
            <a:pPr>
              <a:defRPr sz="1200">
                <a:solidFill>
                  <a:srgbClr val="64748B"/>
                </a:solidFill>
                <a:latin typeface="Calibri"/>
              </a:defRPr>
            </a:pPr>
            <a:r>
              <a:t>Structured comparison of studied papers, key methodologies, findings, and relevance to WORKUP</a:t>
            </a:r>
          </a:p>
        </p:txBody>
      </p:sp>
      <p:sp>
        <p:nvSpPr>
          <p:cNvPr id="5" name="Rounded Rectangle 4"/>
          <p:cNvSpPr/>
          <p:nvPr/>
        </p:nvSpPr>
        <p:spPr>
          <a:xfrm>
            <a:off x="9144000" y="347472"/>
            <a:ext cx="2316175"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Calibri"/>
              </a:defRPr>
            </a:pPr>
            <a:r>
              <a:t>ACE Engineering College</a:t>
            </a:r>
            <a:br/>
            <a:r>
              <a:t>CSE (IoT &amp; AI&amp;DS)</a:t>
            </a:r>
          </a:p>
        </p:txBody>
      </p:sp>
      <p:sp>
        <p:nvSpPr>
          <p:cNvPr id="6" name="Rectangle 5"/>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10728655" cy="320040"/>
          </a:xfrm>
          <a:prstGeom prst="rect">
            <a:avLst/>
          </a:prstGeom>
          <a:noFill/>
        </p:spPr>
        <p:txBody>
          <a:bodyPr wrap="square" lIns="0" tIns="0" rIns="0" bIns="0">
            <a:spAutoFit/>
          </a:bodyPr>
          <a:lstStyle/>
          <a:p>
            <a:pPr>
              <a:defRPr sz="950">
                <a:solidFill>
                  <a:srgbClr val="64748B"/>
                </a:solidFill>
                <a:latin typeface="Calibri"/>
              </a:defRPr>
            </a:pPr>
            <a:r>
              <a:t>Major Project Review — Stage-I  |  Batch No: 05  |  WORKUP Platform</a:t>
            </a:r>
            <a:r>
              <a:rPr sz="950" b="1">
                <a:solidFill>
                  <a:srgbClr val="64748B"/>
                </a:solidFill>
                <a:latin typeface="Calibri"/>
              </a:rPr>
              <a:t>                                                                                               Slide 27 of 28</a:t>
            </a:r>
          </a:p>
        </p:txBody>
      </p:sp>
      <p:graphicFrame>
        <p:nvGraphicFramePr>
          <p:cNvPr id="8" name="Table 7"/>
          <p:cNvGraphicFramePr>
            <a:graphicFrameLocks noGrp="1"/>
          </p:cNvGraphicFramePr>
          <p:nvPr/>
        </p:nvGraphicFramePr>
        <p:xfrm>
          <a:off x="731520" y="1234440"/>
          <a:ext cx="10728655" cy="4956048"/>
        </p:xfrm>
        <a:graphic>
          <a:graphicData uri="http://schemas.openxmlformats.org/drawingml/2006/table">
            <a:tbl>
              <a:tblPr firstRow="1" bandRow="1">
                <a:tableStyleId>{5C22544A-7EE6-4342-B048-85BDC9FD1C3A}</a:tableStyleId>
              </a:tblPr>
              <a:tblGrid>
                <a:gridCol w="2377440"/>
                <a:gridCol w="1828800"/>
                <a:gridCol w="3291840"/>
                <a:gridCol w="3230575"/>
              </a:tblGrid>
              <a:tr h="826008">
                <a:tc>
                  <a:txBody>
                    <a:bodyPr/>
                    <a:lstStyle/>
                    <a:p>
                      <a:pPr>
                        <a:defRPr sz="1050" b="1">
                          <a:solidFill>
                            <a:srgbClr val="FFFFFF"/>
                          </a:solidFill>
                          <a:latin typeface="Calibri"/>
                        </a:defRPr>
                      </a:pPr>
                      <a:r>
                        <a:t>PAPER / AUTHOR / YEAR</a:t>
                      </a:r>
                    </a:p>
                  </a:txBody>
                  <a:tcPr>
                    <a:solidFill>
                      <a:srgbClr val="0F2942"/>
                    </a:solidFill>
                  </a:tcPr>
                </a:tc>
                <a:tc>
                  <a:txBody>
                    <a:bodyPr/>
                    <a:lstStyle/>
                    <a:p>
                      <a:pPr>
                        <a:defRPr sz="1050" b="1">
                          <a:solidFill>
                            <a:srgbClr val="FFFFFF"/>
                          </a:solidFill>
                          <a:latin typeface="Calibri"/>
                        </a:defRPr>
                      </a:pPr>
                      <a:r>
                        <a:t>APPROACH</a:t>
                      </a:r>
                    </a:p>
                  </a:txBody>
                  <a:tcPr>
                    <a:solidFill>
                      <a:srgbClr val="0F2942"/>
                    </a:solidFill>
                  </a:tcPr>
                </a:tc>
                <a:tc>
                  <a:txBody>
                    <a:bodyPr/>
                    <a:lstStyle/>
                    <a:p>
                      <a:pPr>
                        <a:defRPr sz="1050" b="1">
                          <a:solidFill>
                            <a:srgbClr val="FFFFFF"/>
                          </a:solidFill>
                          <a:latin typeface="Calibri"/>
                        </a:defRPr>
                      </a:pPr>
                      <a:r>
                        <a:t>MAIN FINDINGS</a:t>
                      </a:r>
                    </a:p>
                  </a:txBody>
                  <a:tcPr>
                    <a:solidFill>
                      <a:srgbClr val="0F2942"/>
                    </a:solidFill>
                  </a:tcPr>
                </a:tc>
                <a:tc>
                  <a:txBody>
                    <a:bodyPr/>
                    <a:lstStyle/>
                    <a:p>
                      <a:pPr>
                        <a:defRPr sz="1050" b="1">
                          <a:solidFill>
                            <a:srgbClr val="FFFFFF"/>
                          </a:solidFill>
                          <a:latin typeface="Calibri"/>
                        </a:defRPr>
                      </a:pPr>
                      <a:r>
                        <a:t>RELEVANCE TO WORKUP</a:t>
                      </a:r>
                    </a:p>
                  </a:txBody>
                  <a:tcPr>
                    <a:solidFill>
                      <a:srgbClr val="0F2942"/>
                    </a:solidFill>
                  </a:tcPr>
                </a:tc>
              </a:tr>
              <a:tr h="826008">
                <a:tc>
                  <a:txBody>
                    <a:bodyPr/>
                    <a:lstStyle/>
                    <a:p>
                      <a:pPr>
                        <a:defRPr sz="1000" b="1">
                          <a:solidFill>
                            <a:srgbClr val="0F2942"/>
                          </a:solidFill>
                          <a:latin typeface="Calibri"/>
                        </a:defRPr>
                      </a:pPr>
                      <a:r>
                        <a:t>Navarro &amp; van der Hoek (2007, IEEE TSE)</a:t>
                      </a:r>
                    </a:p>
                  </a:txBody>
                  <a:tcPr>
                    <a:solidFill>
                      <a:srgbClr val="FFFFFF"/>
                    </a:solidFill>
                  </a:tcPr>
                </a:tc>
                <a:tc>
                  <a:txBody>
                    <a:bodyPr/>
                    <a:lstStyle/>
                    <a:p>
                      <a:pPr>
                        <a:defRPr sz="950" b="0">
                          <a:solidFill>
                            <a:srgbClr val="1E293B"/>
                          </a:solidFill>
                          <a:latin typeface="Calibri"/>
                        </a:defRPr>
                      </a:pPr>
                      <a:r>
                        <a:t>SimSE Process Simulation</a:t>
                      </a:r>
                    </a:p>
                  </a:txBody>
                  <a:tcPr>
                    <a:solidFill>
                      <a:srgbClr val="FFFFFF"/>
                    </a:solidFill>
                  </a:tcPr>
                </a:tc>
                <a:tc>
                  <a:txBody>
                    <a:bodyPr/>
                    <a:lstStyle/>
                    <a:p>
                      <a:pPr>
                        <a:defRPr sz="950" b="0">
                          <a:solidFill>
                            <a:srgbClr val="1E293B"/>
                          </a:solidFill>
                          <a:latin typeface="Calibri"/>
                        </a:defRPr>
                      </a:pPr>
                      <a:r>
                        <a:t>Active simulation significantly improves software lifecycle &amp; trade-off understanding.</a:t>
                      </a:r>
                    </a:p>
                  </a:txBody>
                  <a:tcPr>
                    <a:solidFill>
                      <a:srgbClr val="FFFFFF"/>
                    </a:solidFill>
                  </a:tcPr>
                </a:tc>
                <a:tc>
                  <a:txBody>
                    <a:bodyPr/>
                    <a:lstStyle/>
                    <a:p>
                      <a:pPr>
                        <a:defRPr sz="950" b="0">
                          <a:solidFill>
                            <a:srgbClr val="1E293B"/>
                          </a:solidFill>
                          <a:latin typeface="Calibri"/>
                        </a:defRPr>
                      </a:pPr>
                      <a:r>
                        <a:t>Informs WORKUP's virtual company simulations and sprint backlog workflows.</a:t>
                      </a:r>
                    </a:p>
                  </a:txBody>
                  <a:tcPr>
                    <a:solidFill>
                      <a:srgbClr val="FFFFFF"/>
                    </a:solidFill>
                  </a:tcPr>
                </a:tc>
              </a:tr>
              <a:tr h="826008">
                <a:tc>
                  <a:txBody>
                    <a:bodyPr/>
                    <a:lstStyle/>
                    <a:p>
                      <a:pPr>
                        <a:defRPr sz="1000" b="1">
                          <a:solidFill>
                            <a:srgbClr val="0F2942"/>
                          </a:solidFill>
                          <a:latin typeface="Calibri"/>
                        </a:defRPr>
                      </a:pPr>
                      <a:r>
                        <a:t>Radermacher &amp; Walia (2013, ACM SIGCSE)</a:t>
                      </a:r>
                    </a:p>
                  </a:txBody>
                  <a:tcPr>
                    <a:solidFill>
                      <a:srgbClr val="F1F5F9"/>
                    </a:solidFill>
                  </a:tcPr>
                </a:tc>
                <a:tc>
                  <a:txBody>
                    <a:bodyPr/>
                    <a:lstStyle/>
                    <a:p>
                      <a:pPr>
                        <a:defRPr sz="950" b="0">
                          <a:solidFill>
                            <a:srgbClr val="1E293B"/>
                          </a:solidFill>
                          <a:latin typeface="Calibri"/>
                        </a:defRPr>
                      </a:pPr>
                      <a:r>
                        <a:t>Industry Deficiency Survey</a:t>
                      </a:r>
                    </a:p>
                  </a:txBody>
                  <a:tcPr>
                    <a:solidFill>
                      <a:srgbClr val="F1F5F9"/>
                    </a:solidFill>
                  </a:tcPr>
                </a:tc>
                <a:tc>
                  <a:txBody>
                    <a:bodyPr/>
                    <a:lstStyle/>
                    <a:p>
                      <a:pPr>
                        <a:defRPr sz="950" b="0">
                          <a:solidFill>
                            <a:srgbClr val="1E293B"/>
                          </a:solidFill>
                          <a:latin typeface="Calibri"/>
                        </a:defRPr>
                      </a:pPr>
                      <a:r>
                        <a:t>Graduates struggle most with legacy codebases, unit testing, and team code reviews.</a:t>
                      </a:r>
                    </a:p>
                  </a:txBody>
                  <a:tcPr>
                    <a:solidFill>
                      <a:srgbClr val="F1F5F9"/>
                    </a:solidFill>
                  </a:tcPr>
                </a:tc>
                <a:tc>
                  <a:txBody>
                    <a:bodyPr/>
                    <a:lstStyle/>
                    <a:p>
                      <a:pPr>
                        <a:defRPr sz="950" b="0">
                          <a:solidFill>
                            <a:srgbClr val="1E293B"/>
                          </a:solidFill>
                          <a:latin typeface="Calibri"/>
                        </a:defRPr>
                      </a:pPr>
                      <a:r>
                        <a:t>Directly validates WORKUP's focus on legacy code refactoring and PR reviews.</a:t>
                      </a:r>
                    </a:p>
                  </a:txBody>
                  <a:tcPr>
                    <a:solidFill>
                      <a:srgbClr val="F1F5F9"/>
                    </a:solidFill>
                  </a:tcPr>
                </a:tc>
              </a:tr>
              <a:tr h="826008">
                <a:tc>
                  <a:txBody>
                    <a:bodyPr/>
                    <a:lstStyle/>
                    <a:p>
                      <a:pPr>
                        <a:defRPr sz="1000" b="1">
                          <a:solidFill>
                            <a:srgbClr val="0F2942"/>
                          </a:solidFill>
                          <a:latin typeface="Calibri"/>
                        </a:defRPr>
                      </a:pPr>
                      <a:r>
                        <a:t>Kratzke (2018, IEEE Trans. Educ.)</a:t>
                      </a:r>
                    </a:p>
                  </a:txBody>
                  <a:tcPr>
                    <a:solidFill>
                      <a:srgbClr val="FFFFFF"/>
                    </a:solidFill>
                  </a:tcPr>
                </a:tc>
                <a:tc>
                  <a:txBody>
                    <a:bodyPr/>
                    <a:lstStyle/>
                    <a:p>
                      <a:pPr>
                        <a:defRPr sz="950" b="0">
                          <a:solidFill>
                            <a:srgbClr val="1E293B"/>
                          </a:solidFill>
                          <a:latin typeface="Calibri"/>
                        </a:defRPr>
                      </a:pPr>
                      <a:r>
                        <a:t>Lightweight Sandboxes</a:t>
                      </a:r>
                    </a:p>
                  </a:txBody>
                  <a:tcPr>
                    <a:solidFill>
                      <a:srgbClr val="FFFFFF"/>
                    </a:solidFill>
                  </a:tcPr>
                </a:tc>
                <a:tc>
                  <a:txBody>
                    <a:bodyPr/>
                    <a:lstStyle/>
                    <a:p>
                      <a:pPr>
                        <a:defRPr sz="950" b="0">
                          <a:solidFill>
                            <a:srgbClr val="1E293B"/>
                          </a:solidFill>
                          <a:latin typeface="Calibri"/>
                        </a:defRPr>
                      </a:pPr>
                      <a:r>
                        <a:t>Ephemeral container isolation removes local setup friction and prevents security leaks.</a:t>
                      </a:r>
                    </a:p>
                  </a:txBody>
                  <a:tcPr>
                    <a:solidFill>
                      <a:srgbClr val="FFFFFF"/>
                    </a:solidFill>
                  </a:tcPr>
                </a:tc>
                <a:tc>
                  <a:txBody>
                    <a:bodyPr/>
                    <a:lstStyle/>
                    <a:p>
                      <a:pPr>
                        <a:defRPr sz="950" b="0">
                          <a:solidFill>
                            <a:srgbClr val="1E293B"/>
                          </a:solidFill>
                          <a:latin typeface="Calibri"/>
                        </a:defRPr>
                      </a:pPr>
                      <a:r>
                        <a:t>Provides architectural blueprint for path-jailed browser execution &amp; timeout quotas.</a:t>
                      </a:r>
                    </a:p>
                  </a:txBody>
                  <a:tcPr>
                    <a:solidFill>
                      <a:srgbClr val="FFFFFF"/>
                    </a:solidFill>
                  </a:tcPr>
                </a:tc>
              </a:tr>
              <a:tr h="826008">
                <a:tc>
                  <a:txBody>
                    <a:bodyPr/>
                    <a:lstStyle/>
                    <a:p>
                      <a:pPr>
                        <a:defRPr sz="1000" b="1">
                          <a:solidFill>
                            <a:srgbClr val="0F2942"/>
                          </a:solidFill>
                          <a:latin typeface="Calibri"/>
                        </a:defRPr>
                      </a:pPr>
                      <a:r>
                        <a:t>Bogner et al. (2021, IEEE Access)</a:t>
                      </a:r>
                    </a:p>
                  </a:txBody>
                  <a:tcPr>
                    <a:solidFill>
                      <a:srgbClr val="F1F5F9"/>
                    </a:solidFill>
                  </a:tcPr>
                </a:tc>
                <a:tc>
                  <a:txBody>
                    <a:bodyPr/>
                    <a:lstStyle/>
                    <a:p>
                      <a:pPr>
                        <a:defRPr sz="950" b="0">
                          <a:solidFill>
                            <a:srgbClr val="1E293B"/>
                          </a:solidFill>
                          <a:latin typeface="Calibri"/>
                        </a:defRPr>
                      </a:pPr>
                      <a:r>
                        <a:t>Automated Code Review SLR</a:t>
                      </a:r>
                    </a:p>
                  </a:txBody>
                  <a:tcPr>
                    <a:solidFill>
                      <a:srgbClr val="F1F5F9"/>
                    </a:solidFill>
                  </a:tcPr>
                </a:tc>
                <a:tc>
                  <a:txBody>
                    <a:bodyPr/>
                    <a:lstStyle/>
                    <a:p>
                      <a:pPr>
                        <a:defRPr sz="950" b="0">
                          <a:solidFill>
                            <a:srgbClr val="1E293B"/>
                          </a:solidFill>
                          <a:latin typeface="Calibri"/>
                        </a:defRPr>
                      </a:pPr>
                      <a:r>
                        <a:t>Rule-based static analysis &amp; AI reviews catch architectural drift and security bugs early.</a:t>
                      </a:r>
                    </a:p>
                  </a:txBody>
                  <a:tcPr>
                    <a:solidFill>
                      <a:srgbClr val="F1F5F9"/>
                    </a:solidFill>
                  </a:tcPr>
                </a:tc>
                <a:tc>
                  <a:txBody>
                    <a:bodyPr/>
                    <a:lstStyle/>
                    <a:p>
                      <a:pPr>
                        <a:defRPr sz="950" b="0">
                          <a:solidFill>
                            <a:srgbClr val="1E293B"/>
                          </a:solidFill>
                          <a:latin typeface="Calibri"/>
                        </a:defRPr>
                      </a:pPr>
                      <a:r>
                        <a:t>Guides multi-rubric evaluation engine for AI Tech Lead code review feedback.</a:t>
                      </a:r>
                    </a:p>
                  </a:txBody>
                  <a:tcPr>
                    <a:solidFill>
                      <a:srgbClr val="F1F5F9"/>
                    </a:solidFill>
                  </a:tcPr>
                </a:tc>
              </a:tr>
              <a:tr h="826008">
                <a:tc>
                  <a:txBody>
                    <a:bodyPr/>
                    <a:lstStyle/>
                    <a:p>
                      <a:pPr>
                        <a:defRPr sz="1000" b="1">
                          <a:solidFill>
                            <a:srgbClr val="0F2942"/>
                          </a:solidFill>
                          <a:latin typeface="Calibri"/>
                        </a:defRPr>
                      </a:pPr>
                      <a:r>
                        <a:t>Shepherd et al. (2019, IEEE TLT)</a:t>
                      </a:r>
                    </a:p>
                  </a:txBody>
                  <a:tcPr>
                    <a:solidFill>
                      <a:srgbClr val="FFFFFF"/>
                    </a:solidFill>
                  </a:tcPr>
                </a:tc>
                <a:tc>
                  <a:txBody>
                    <a:bodyPr/>
                    <a:lstStyle/>
                    <a:p>
                      <a:pPr>
                        <a:defRPr sz="950" b="0">
                          <a:solidFill>
                            <a:srgbClr val="1E293B"/>
                          </a:solidFill>
                          <a:latin typeface="Calibri"/>
                        </a:defRPr>
                      </a:pPr>
                      <a:r>
                        <a:t>DAG Workflow Scaffolding</a:t>
                      </a:r>
                    </a:p>
                  </a:txBody>
                  <a:tcPr>
                    <a:solidFill>
                      <a:srgbClr val="FFFFFF"/>
                    </a:solidFill>
                  </a:tcPr>
                </a:tc>
                <a:tc>
                  <a:txBody>
                    <a:bodyPr/>
                    <a:lstStyle/>
                    <a:p>
                      <a:pPr>
                        <a:defRPr sz="950" b="0">
                          <a:solidFill>
                            <a:srgbClr val="1E293B"/>
                          </a:solidFill>
                          <a:latin typeface="Calibri"/>
                        </a:defRPr>
                      </a:pPr>
                      <a:r>
                        <a:t>Dependency-gated tasks prevent cognitive overload during complex development.</a:t>
                      </a:r>
                    </a:p>
                  </a:txBody>
                  <a:tcPr>
                    <a:solidFill>
                      <a:srgbClr val="FFFFFF"/>
                    </a:solidFill>
                  </a:tcPr>
                </a:tc>
                <a:tc>
                  <a:txBody>
                    <a:bodyPr/>
                    <a:lstStyle/>
                    <a:p>
                      <a:pPr>
                        <a:defRPr sz="950" b="0">
                          <a:solidFill>
                            <a:srgbClr val="1E293B"/>
                          </a:solidFill>
                          <a:latin typeface="Calibri"/>
                        </a:defRPr>
                      </a:pPr>
                      <a:r>
                        <a:t>Validates prerequisite gating in WORKUP's task dependency engine (DAG).</a:t>
                      </a:r>
                    </a:p>
                  </a:txBody>
                  <a:tcP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83153"/>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463040"/>
            <a:ext cx="8899855" cy="3931920"/>
          </a:xfrm>
          <a:prstGeom prst="rect">
            <a:avLst/>
          </a:prstGeom>
          <a:noFill/>
        </p:spPr>
        <p:txBody>
          <a:bodyPr wrap="square">
            <a:spAutoFit/>
          </a:bodyPr>
          <a:lstStyle/>
          <a:p>
            <a:pPr algn="ctr">
              <a:spcAft>
                <a:spcPts val="1000"/>
              </a:spcAft>
              <a:defRPr sz="1200" b="1">
                <a:solidFill>
                  <a:srgbClr val="60A5FA"/>
                </a:solidFill>
                <a:latin typeface="Calibri"/>
              </a:defRPr>
            </a:pPr>
            <a:r>
              <a:t>MAJOR PROJECT REVIEW — STAGE-I</a:t>
            </a:r>
          </a:p>
          <a:p>
            <a:pPr algn="ctr">
              <a:spcAft>
                <a:spcPts val="1400"/>
              </a:spcAft>
              <a:defRPr sz="4800" b="1">
                <a:solidFill>
                  <a:srgbClr val="FFFFFF"/>
                </a:solidFill>
                <a:latin typeface="Calibri"/>
              </a:defRPr>
            </a:pPr>
            <a:r>
              <a:t>THANK YOU!</a:t>
            </a:r>
          </a:p>
          <a:p>
            <a:pPr algn="ctr">
              <a:spcAft>
                <a:spcPts val="800"/>
              </a:spcAft>
              <a:defRPr sz="1600" b="1">
                <a:solidFill>
                  <a:srgbClr val="93C5FD"/>
                </a:solidFill>
                <a:latin typeface="Calibri"/>
              </a:defRPr>
            </a:pPr>
            <a:r>
              <a:t>WORKUP: Virtual Professional Experience Platform</a:t>
            </a:r>
          </a:p>
          <a:p>
            <a:pPr algn="ctr">
              <a:spcAft>
                <a:spcPts val="2000"/>
              </a:spcAft>
              <a:defRPr sz="1250">
                <a:solidFill>
                  <a:srgbClr val="CBD5E1"/>
                </a:solidFill>
                <a:latin typeface="Calibri"/>
              </a:defRPr>
            </a:pPr>
            <a:r>
              <a:t>Special thanks to our Project Guide Mrs. P. Swaroopa, Head of Department Dr. M. V. Vijaya Saradhi,</a:t>
            </a:r>
            <a:br/>
            <a:r>
              <a:t>and the Department Review Committee for their guidance and support.</a:t>
            </a:r>
          </a:p>
          <a:p>
            <a:pPr algn="ctr">
              <a:defRPr sz="1400" i="1">
                <a:solidFill>
                  <a:srgbClr val="6EE7B7"/>
                </a:solidFill>
                <a:latin typeface="Calibri"/>
              </a:defRPr>
            </a:pPr>
            <a:r>
              <a:t>We welcome your valuable feedback and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