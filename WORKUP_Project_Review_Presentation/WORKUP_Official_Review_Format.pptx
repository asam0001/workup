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11480"/>
            <a:ext cx="10362895" cy="1051560"/>
          </a:xfrm>
          <a:prstGeom prst="rect">
            <a:avLst/>
          </a:prstGeom>
          <a:noFill/>
        </p:spPr>
        <p:txBody>
          <a:bodyPr wrap="square">
            <a:spAutoFit/>
          </a:bodyPr>
          <a:lstStyle/>
          <a:p>
            <a:pPr algn="ctr">
              <a:defRPr sz="1600" b="1">
                <a:solidFill>
                  <a:srgbClr val="FFFFFF"/>
                </a:solidFill>
              </a:defRPr>
            </a:pPr>
            <a:r>
              <a:t>ACE ENGINEERING COLLEGE (AN AUTONOMOUS INSTITUTION)</a:t>
            </a:r>
          </a:p>
          <a:p>
            <a:pPr algn="ctr">
              <a:defRPr sz="1200" b="1">
                <a:solidFill>
                  <a:srgbClr val="BFDBFE"/>
                </a:solidFill>
              </a:defRPr>
            </a:pPr>
            <a:r>
              <a:t>Department of Computer Science &amp; Engineering (IoT &amp; AI&amp;DS)</a:t>
            </a:r>
          </a:p>
          <a:p>
            <a:pPr algn="ctr">
              <a:defRPr sz="950">
                <a:solidFill>
                  <a:srgbClr val="94A3B8"/>
                </a:solidFill>
              </a:defRPr>
            </a:pPr>
            <a:r>
              <a:t>Accredited by NAAC with 'A' Grade  |  Approved by AICTE, New Delhi  |  Affiliated to JNTUH</a:t>
            </a:r>
          </a:p>
        </p:txBody>
      </p:sp>
      <p:sp>
        <p:nvSpPr>
          <p:cNvPr id="4" name="Rounded Rectangle 3"/>
          <p:cNvSpPr/>
          <p:nvPr/>
        </p:nvSpPr>
        <p:spPr>
          <a:xfrm>
            <a:off x="4297680" y="1554480"/>
            <a:ext cx="3596335" cy="347472"/>
          </a:xfrm>
          <a:prstGeom prst="roundRect">
            <a:avLst/>
          </a:prstGeom>
          <a:solidFill>
            <a:srgbClr val="1E3A8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MAJOR PROJECT REVIEW — PHASE 1</a:t>
            </a:r>
          </a:p>
        </p:txBody>
      </p:sp>
      <p:sp>
        <p:nvSpPr>
          <p:cNvPr id="5" name="Rounded Rectangle 4"/>
          <p:cNvSpPr/>
          <p:nvPr/>
        </p:nvSpPr>
        <p:spPr>
          <a:xfrm>
            <a:off x="1097280" y="2057400"/>
            <a:ext cx="9997135" cy="1783080"/>
          </a:xfrm>
          <a:prstGeom prst="roundRect">
            <a:avLst/>
          </a:prstGeom>
          <a:solidFill>
            <a:srgbClr val="183153"/>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94560"/>
            <a:ext cx="9631375" cy="1508760"/>
          </a:xfrm>
          <a:prstGeom prst="rect">
            <a:avLst/>
          </a:prstGeom>
          <a:noFill/>
        </p:spPr>
        <p:txBody>
          <a:bodyPr wrap="square">
            <a:spAutoFit/>
          </a:bodyPr>
          <a:lstStyle/>
          <a:p>
            <a:pPr algn="ctr">
              <a:defRPr sz="2300" b="1">
                <a:solidFill>
                  <a:srgbClr val="FFFFFF"/>
                </a:solidFill>
              </a:defRPr>
            </a:pPr>
            <a:r>
              <a:t>Project Title: WORKUP: Virtual Professional Experience Platform</a:t>
            </a:r>
          </a:p>
          <a:p>
            <a:pPr algn="ctr">
              <a:defRPr sz="1200" i="1">
                <a:solidFill>
                  <a:srgbClr val="E2E8F0"/>
                </a:solidFill>
              </a:defRPr>
            </a:pPr>
            <a:r>
              <a:t>A Simulated Workplace Platform for Practical Software Engineering and Skill Verification</a:t>
            </a:r>
          </a:p>
        </p:txBody>
      </p:sp>
      <p:sp>
        <p:nvSpPr>
          <p:cNvPr id="7" name="Rounded Rectangle 6"/>
          <p:cNvSpPr/>
          <p:nvPr/>
        </p:nvSpPr>
        <p:spPr>
          <a:xfrm>
            <a:off x="1097280" y="4023360"/>
            <a:ext cx="9997135" cy="2194560"/>
          </a:xfrm>
          <a:prstGeom prst="roundRect">
            <a:avLst/>
          </a:prstGeom>
          <a:solidFill>
            <a:srgbClr val="0F20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160520"/>
            <a:ext cx="4663440" cy="1920240"/>
          </a:xfrm>
          <a:prstGeom prst="rect">
            <a:avLst/>
          </a:prstGeom>
          <a:noFill/>
        </p:spPr>
        <p:txBody>
          <a:bodyPr wrap="square">
            <a:spAutoFit/>
          </a:bodyPr>
          <a:lstStyle/>
          <a:p>
            <a:pPr>
              <a:defRPr sz="1100" b="1">
                <a:solidFill>
                  <a:srgbClr val="60A5FA"/>
                </a:solidFill>
              </a:defRPr>
            </a:pPr>
            <a:r>
              <a:t>BATCH NO: 12  |  TEAM DETAILS:</a:t>
            </a:r>
          </a:p>
          <a:p>
            <a:pPr>
              <a:defRPr sz="1050">
                <a:solidFill>
                  <a:srgbClr val="F1F5F9"/>
                </a:solidFill>
              </a:defRPr>
            </a:pPr>
            <a:r>
              <a:t>•  Namasani Aravind  (24AG5A7205)</a:t>
            </a:r>
          </a:p>
          <a:p>
            <a:pPr>
              <a:defRPr sz="1050">
                <a:solidFill>
                  <a:srgbClr val="F1F5F9"/>
                </a:solidFill>
              </a:defRPr>
            </a:pPr>
            <a:r>
              <a:t>•  Nomula Sai Kiran  (23AG1A7248)</a:t>
            </a:r>
          </a:p>
          <a:p>
            <a:pPr>
              <a:defRPr sz="1050">
                <a:solidFill>
                  <a:srgbClr val="F1F5F9"/>
                </a:solidFill>
              </a:defRPr>
            </a:pPr>
            <a:r>
              <a:t>•  Mekala Roshan Kumar  (23AG1A7239)</a:t>
            </a:r>
          </a:p>
          <a:p>
            <a:pPr>
              <a:defRPr sz="1050">
                <a:solidFill>
                  <a:srgbClr val="F1F5F9"/>
                </a:solidFill>
              </a:defRPr>
            </a:pPr>
            <a:r>
              <a:t>•  T Shiva Kumar  (23AG1A7259)</a:t>
            </a:r>
          </a:p>
        </p:txBody>
      </p:sp>
      <p:sp>
        <p:nvSpPr>
          <p:cNvPr id="9" name="TextBox 8"/>
          <p:cNvSpPr txBox="1"/>
          <p:nvPr/>
        </p:nvSpPr>
        <p:spPr>
          <a:xfrm>
            <a:off x="6400800" y="4160520"/>
            <a:ext cx="4480560" cy="1920240"/>
          </a:xfrm>
          <a:prstGeom prst="rect">
            <a:avLst/>
          </a:prstGeom>
          <a:noFill/>
        </p:spPr>
        <p:txBody>
          <a:bodyPr wrap="square">
            <a:spAutoFit/>
          </a:bodyPr>
          <a:lstStyle/>
          <a:p>
            <a:pPr>
              <a:defRPr sz="1100" b="1">
                <a:solidFill>
                  <a:srgbClr val="60A5FA"/>
                </a:solidFill>
              </a:defRPr>
            </a:pPr>
            <a:r>
              <a:t>SUPERVISION &amp; REVIEW:</a:t>
            </a:r>
          </a:p>
          <a:p>
            <a:pPr>
              <a:defRPr sz="1100" b="1">
                <a:solidFill>
                  <a:srgbClr val="FFFFFF"/>
                </a:solidFill>
              </a:defRPr>
            </a:pPr>
            <a:r>
              <a:t>Internal Guide: Mr. V. Veeresh</a:t>
            </a:r>
          </a:p>
          <a:p>
            <a:pPr>
              <a:defRPr sz="950">
                <a:solidFill>
                  <a:srgbClr val="CBD5E1"/>
                </a:solidFill>
              </a:defRPr>
            </a:pPr>
            <a:r>
              <a:t>Assistant Professor, Dept. of CSE (IoT &amp; AI&amp;DS)</a:t>
            </a:r>
          </a:p>
          <a:p>
            <a:pPr>
              <a:defRPr sz="1100" b="1">
                <a:solidFill>
                  <a:srgbClr val="FFFFFF"/>
                </a:solidFill>
              </a:defRPr>
            </a:pPr>
            <a:r>
              <a:t>HoD-CSE(IoT &amp; AI&amp;DS): Dr. M. V. Vijaya Saradhi</a:t>
            </a:r>
          </a:p>
          <a:p>
            <a:pPr>
              <a:defRPr sz="950">
                <a:solidFill>
                  <a:srgbClr val="94A3B8"/>
                </a:solidFill>
              </a:defRPr>
            </a:pPr>
            <a:r>
              <a:t>Date: 17-09-2026  |  Department: AI&amp;DS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PROBLEM IDENTIFICATION</a:t>
            </a:r>
          </a:p>
          <a:p>
            <a:pPr>
              <a:defRPr sz="2000" b="1">
                <a:solidFill>
                  <a:srgbClr val="0F2942"/>
                </a:solidFill>
              </a:defRPr>
            </a:pPr>
            <a:r>
              <a:t>Describe the Identified Problem</a:t>
            </a:r>
          </a:p>
          <a:p>
            <a:pPr>
              <a:defRPr sz="1050">
                <a:solidFill>
                  <a:srgbClr val="64748B"/>
                </a:solidFill>
              </a:defRPr>
            </a:pPr>
            <a:r>
              <a:t>Major challenges students face when moving from academic coding to corporate engineering.</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2 of 11</a:t>
            </a:r>
            <a:endParaRPr sz="850">
              <a:solidFill>
                <a:srgbClr val="64748B"/>
              </a:solidFill>
            </a:endParaRPr>
          </a:p>
        </p:txBody>
      </p:sp>
      <p:sp>
        <p:nvSpPr>
          <p:cNvPr id="8" name="Rounded Rectangle 7"/>
          <p:cNvSpPr/>
          <p:nvPr/>
        </p:nvSpPr>
        <p:spPr>
          <a:xfrm>
            <a:off x="731520" y="13716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554480"/>
            <a:ext cx="1828800" cy="256032"/>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DC2626"/>
                </a:solidFill>
              </a:defRPr>
            </a:pPr>
            <a:r>
              <a:t>CHALLENGE 1</a:t>
            </a:r>
          </a:p>
        </p:txBody>
      </p:sp>
      <p:sp>
        <p:nvSpPr>
          <p:cNvPr id="10" name="TextBox 9"/>
          <p:cNvSpPr txBox="1"/>
          <p:nvPr/>
        </p:nvSpPr>
        <p:spPr>
          <a:xfrm>
            <a:off x="960120" y="1874520"/>
            <a:ext cx="4754880" cy="1645920"/>
          </a:xfrm>
          <a:prstGeom prst="rect">
            <a:avLst/>
          </a:prstGeom>
          <a:noFill/>
        </p:spPr>
        <p:txBody>
          <a:bodyPr wrap="square">
            <a:spAutoFit/>
          </a:bodyPr>
          <a:lstStyle/>
          <a:p>
            <a:pPr>
              <a:defRPr sz="1300" b="1">
                <a:solidFill>
                  <a:srgbClr val="0F2942"/>
                </a:solidFill>
              </a:defRPr>
            </a:pPr>
            <a:r>
              <a:t>Clean-Slate Learning (Toy Problems)</a:t>
            </a:r>
          </a:p>
          <a:p>
            <a:pPr>
              <a:spcBef>
                <a:spcPts val="600"/>
              </a:spcBef>
              <a:defRPr sz="1000">
                <a:solidFill>
                  <a:srgbClr val="1E293B"/>
                </a:solidFill>
              </a:defRPr>
            </a:pPr>
            <a:r>
              <a:t>Students usually practice writing small code snippets from an empty file. In real software jobs, developers almost never write code from scratch. Instead, they must read, understand, debug, and improve large existing project codebases with existing technical debt.</a:t>
            </a:r>
          </a:p>
        </p:txBody>
      </p:sp>
      <p:sp>
        <p:nvSpPr>
          <p:cNvPr id="11" name="Rounded Rectangle 10"/>
          <p:cNvSpPr/>
          <p:nvPr/>
        </p:nvSpPr>
        <p:spPr>
          <a:xfrm>
            <a:off x="6217920" y="13716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1554480"/>
            <a:ext cx="1828800" cy="256032"/>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D97706"/>
                </a:solidFill>
              </a:defRPr>
            </a:pPr>
            <a:r>
              <a:t>CHALLENGE 2</a:t>
            </a:r>
          </a:p>
        </p:txBody>
      </p:sp>
      <p:sp>
        <p:nvSpPr>
          <p:cNvPr id="13" name="TextBox 12"/>
          <p:cNvSpPr txBox="1"/>
          <p:nvPr/>
        </p:nvSpPr>
        <p:spPr>
          <a:xfrm>
            <a:off x="6446520" y="1874520"/>
            <a:ext cx="4754880" cy="1645920"/>
          </a:xfrm>
          <a:prstGeom prst="rect">
            <a:avLst/>
          </a:prstGeom>
          <a:noFill/>
        </p:spPr>
        <p:txBody>
          <a:bodyPr wrap="square">
            <a:spAutoFit/>
          </a:bodyPr>
          <a:lstStyle/>
          <a:p>
            <a:pPr>
              <a:defRPr sz="1300" b="1">
                <a:solidFill>
                  <a:srgbClr val="0F2942"/>
                </a:solidFill>
              </a:defRPr>
            </a:pPr>
            <a:r>
              <a:t>No Real Architectural Context</a:t>
            </a:r>
          </a:p>
          <a:p>
            <a:pPr>
              <a:spcBef>
                <a:spcPts val="600"/>
              </a:spcBef>
              <a:defRPr sz="1000">
                <a:solidFill>
                  <a:srgbClr val="1E293B"/>
                </a:solidFill>
              </a:defRPr>
            </a:pPr>
            <a:r>
              <a:t>Classroom assignments only give algorithmic prompts. They lack real business background, task tickets, and Architecture Decision Records (ADRs). As a result, students do not learn how to follow company design standards or handle production constraints.</a:t>
            </a:r>
          </a:p>
        </p:txBody>
      </p:sp>
      <p:sp>
        <p:nvSpPr>
          <p:cNvPr id="14" name="Rounded Rectangle 13"/>
          <p:cNvSpPr/>
          <p:nvPr/>
        </p:nvSpPr>
        <p:spPr>
          <a:xfrm>
            <a:off x="731520" y="38404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 y="4023360"/>
            <a:ext cx="1828800" cy="256032"/>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defRPr>
            </a:pPr>
            <a:r>
              <a:t>CHALLENGE 3</a:t>
            </a:r>
          </a:p>
        </p:txBody>
      </p:sp>
      <p:sp>
        <p:nvSpPr>
          <p:cNvPr id="16" name="TextBox 15"/>
          <p:cNvSpPr txBox="1"/>
          <p:nvPr/>
        </p:nvSpPr>
        <p:spPr>
          <a:xfrm>
            <a:off x="960120" y="4343400"/>
            <a:ext cx="4754880" cy="1645920"/>
          </a:xfrm>
          <a:prstGeom prst="rect">
            <a:avLst/>
          </a:prstGeom>
          <a:noFill/>
        </p:spPr>
        <p:txBody>
          <a:bodyPr wrap="square">
            <a:spAutoFit/>
          </a:bodyPr>
          <a:lstStyle/>
          <a:p>
            <a:pPr>
              <a:defRPr sz="1300" b="1">
                <a:solidFill>
                  <a:srgbClr val="0F2942"/>
                </a:solidFill>
              </a:defRPr>
            </a:pPr>
            <a:r>
              <a:t>Lack of In-Depth Code Review</a:t>
            </a:r>
          </a:p>
          <a:p>
            <a:pPr>
              <a:spcBef>
                <a:spcPts val="600"/>
              </a:spcBef>
              <a:defRPr sz="1000">
                <a:solidFill>
                  <a:srgbClr val="1E293B"/>
                </a:solidFill>
              </a:defRPr>
            </a:pPr>
            <a:r>
              <a:t>Standard learning websites only use simple pass or fail checks on test cases. Students rarely experience line-by-line code reviews from senior engineers to learn clean coding habits, edge-case handling, and proper pull request communication.</a:t>
            </a:r>
          </a:p>
        </p:txBody>
      </p:sp>
      <p:sp>
        <p:nvSpPr>
          <p:cNvPr id="17" name="Rounded Rectangle 16"/>
          <p:cNvSpPr/>
          <p:nvPr/>
        </p:nvSpPr>
        <p:spPr>
          <a:xfrm>
            <a:off x="6217920" y="38404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46520" y="4023360"/>
            <a:ext cx="1828800" cy="256032"/>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59669"/>
                </a:solidFill>
              </a:defRPr>
            </a:pPr>
            <a:r>
              <a:t>CHALLENGE 4</a:t>
            </a:r>
          </a:p>
        </p:txBody>
      </p:sp>
      <p:sp>
        <p:nvSpPr>
          <p:cNvPr id="19" name="TextBox 18"/>
          <p:cNvSpPr txBox="1"/>
          <p:nvPr/>
        </p:nvSpPr>
        <p:spPr>
          <a:xfrm>
            <a:off x="6446520" y="4343400"/>
            <a:ext cx="4754880" cy="1645920"/>
          </a:xfrm>
          <a:prstGeom prst="rect">
            <a:avLst/>
          </a:prstGeom>
          <a:noFill/>
        </p:spPr>
        <p:txBody>
          <a:bodyPr wrap="square">
            <a:spAutoFit/>
          </a:bodyPr>
          <a:lstStyle/>
          <a:p>
            <a:pPr>
              <a:defRPr sz="1300" b="1">
                <a:solidFill>
                  <a:srgbClr val="0F2942"/>
                </a:solidFill>
              </a:defRPr>
            </a:pPr>
            <a:r>
              <a:t>Unverifiable Resume Claims</a:t>
            </a:r>
          </a:p>
          <a:p>
            <a:pPr>
              <a:spcBef>
                <a:spcPts val="600"/>
              </a:spcBef>
              <a:defRPr sz="1000">
                <a:solidFill>
                  <a:srgbClr val="1E293B"/>
                </a:solidFill>
              </a:defRPr>
            </a:pPr>
            <a:r>
              <a:t>Resumes only show self-written lists of technologies and course names. Recruiters and faculty members have no practical way to verify a student's actual problem-solving and coding ability on realistic engineering tasks.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PROJECT OVERVIEW</a:t>
            </a:r>
          </a:p>
          <a:p>
            <a:pPr>
              <a:defRPr sz="2000" b="1">
                <a:solidFill>
                  <a:srgbClr val="0F2942"/>
                </a:solidFill>
              </a:defRPr>
            </a:pPr>
            <a:r>
              <a:t>Abstract</a:t>
            </a:r>
          </a:p>
          <a:p>
            <a:pPr>
              <a:defRPr sz="1050">
                <a:solidFill>
                  <a:srgbClr val="64748B"/>
                </a:solidFill>
              </a:defRPr>
            </a:pPr>
            <a:r>
              <a:t>A virtual workplace platform bridging the gap between classroom learning and industry practice.</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3 of 11</a:t>
            </a:r>
            <a:endParaRPr sz="850">
              <a:solidFill>
                <a:srgbClr val="64748B"/>
              </a:solidFill>
            </a:endParaRPr>
          </a:p>
        </p:txBody>
      </p:sp>
      <p:sp>
        <p:nvSpPr>
          <p:cNvPr id="8" name="Rounded Rectangle 7"/>
          <p:cNvSpPr/>
          <p:nvPr/>
        </p:nvSpPr>
        <p:spPr>
          <a:xfrm>
            <a:off x="731520" y="1325880"/>
            <a:ext cx="10728655"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600200"/>
            <a:ext cx="10088575" cy="4389120"/>
          </a:xfrm>
          <a:prstGeom prst="rect">
            <a:avLst/>
          </a:prstGeom>
          <a:noFill/>
        </p:spPr>
        <p:txBody>
          <a:bodyPr wrap="square">
            <a:spAutoFit/>
          </a:bodyPr>
          <a:lstStyle/>
          <a:p>
            <a:pPr>
              <a:lnSpc>
                <a:spcPct val="125000"/>
              </a:lnSpc>
              <a:defRPr sz="1100">
                <a:solidFill>
                  <a:srgbClr val="1E293B"/>
                </a:solidFill>
              </a:defRPr>
            </a:pPr>
            <a:r>
              <a:t>Most computer science students learn programming concepts through lectures and isolated coding exercises, but they often face difficulties when transitioning to professional software companies. In real engineering teams, developers rarely write software from scratch. Instead, they work on pre-existing codebases, resolve project task tickets, follow architectural guidelines, write automated tests, and submit pull requests for code review. Existing learning platforms focus heavily on syntax and algorithmic puzzles, leaving students with limited exposure to realistic team workflows.</a:t>
            </a:r>
          </a:p>
          <a:p>
            <a:pPr>
              <a:lnSpc>
                <a:spcPct val="125000"/>
              </a:lnSpc>
              <a:spcBef>
                <a:spcPts val="1200"/>
              </a:spcBef>
              <a:defRPr sz="1100">
                <a:solidFill>
                  <a:srgbClr val="1E293B"/>
                </a:solidFill>
              </a:defRPr>
            </a:pPr>
            <a:r>
              <a:t>This project presents WORKUP, a web-based virtual professional experience platform designed to bridge this practical gap. Instead of solving toy problems, learners enter simulated tech companies (such as FinFlow Technologies) and take on realistic engineering roles. The platform organizes work into project backlogs using a task dependency engine, linking each task to real business scenarios and Architecture Decision Records (ADRs). Learners work inside isolated browser-based development sandboxes where they can edit code, run automated tests locally, and submit their changes for review.</a:t>
            </a:r>
          </a:p>
          <a:p>
            <a:pPr>
              <a:lnSpc>
                <a:spcPct val="125000"/>
              </a:lnSpc>
              <a:spcBef>
                <a:spcPts val="1200"/>
              </a:spcBef>
              <a:defRPr sz="1100">
                <a:solidFill>
                  <a:srgbClr val="1E293B"/>
                </a:solidFill>
              </a:defRPr>
            </a:pPr>
            <a:r>
              <a:t>An automated AI-assisted code review engine evaluates code changes against defined rubrics and provides line-level feedback to guide the learner. As tasks are approved, the platform creates an Evidence-of-Skill portfolio backed by verified Git commits. The system is designed and prototyped using Next.js 14, React.js, TypeScript, Prisma ORM, and Vitest, offering a safe, hands-on environment where students gain realistic workplace experience before starting their careers.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RESEARCH ANALYSIS</a:t>
            </a:r>
          </a:p>
          <a:p>
            <a:pPr>
              <a:defRPr sz="2000" b="1">
                <a:solidFill>
                  <a:srgbClr val="0F2942"/>
                </a:solidFill>
              </a:defRPr>
            </a:pPr>
            <a:r>
              <a:t>Literature Survey</a:t>
            </a:r>
          </a:p>
          <a:p>
            <a:pPr>
              <a:defRPr sz="1050">
                <a:solidFill>
                  <a:srgbClr val="64748B"/>
                </a:solidFill>
              </a:defRPr>
            </a:pPr>
            <a:r>
              <a:t>Careful review of published research in software engineering simulation, graduate skills, and cloud sandboxes.</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4 of 11</a:t>
            </a:r>
            <a:endParaRPr sz="850">
              <a:solidFill>
                <a:srgbClr val="64748B"/>
              </a:solidFill>
            </a:endParaRPr>
          </a:p>
        </p:txBody>
      </p:sp>
      <p:sp>
        <p:nvSpPr>
          <p:cNvPr id="8" name="Rounded Rectangle 7"/>
          <p:cNvSpPr/>
          <p:nvPr/>
        </p:nvSpPr>
        <p:spPr>
          <a:xfrm>
            <a:off x="731520" y="1280160"/>
            <a:ext cx="107286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868680" y="1417320"/>
          <a:ext cx="10454335" cy="4663440"/>
        </p:xfrm>
        <a:graphic>
          <a:graphicData uri="http://schemas.openxmlformats.org/drawingml/2006/table">
            <a:tbl>
              <a:tblPr firstRow="1" bandRow="1">
                <a:tableStyleId>{5C22544A-7EE6-4342-B048-85BDC9FD1C3A}</a:tableStyleId>
              </a:tblPr>
              <a:tblGrid>
                <a:gridCol w="2926080"/>
                <a:gridCol w="3931920"/>
                <a:gridCol w="3596335"/>
              </a:tblGrid>
              <a:tr h="1165860">
                <a:tc>
                  <a:txBody>
                    <a:bodyPr/>
                    <a:lstStyle/>
                    <a:p>
                      <a:pPr>
                        <a:defRPr sz="950" b="1">
                          <a:solidFill>
                            <a:srgbClr val="FFFFFF"/>
                          </a:solidFill>
                        </a:defRPr>
                      </a:pPr>
                      <a:r>
                        <a:t>Title / year</a:t>
                      </a:r>
                    </a:p>
                  </a:txBody>
                  <a:tcPr>
                    <a:solidFill>
                      <a:srgbClr val="0F2942"/>
                    </a:solidFill>
                  </a:tcPr>
                </a:tc>
                <a:tc>
                  <a:txBody>
                    <a:bodyPr/>
                    <a:lstStyle/>
                    <a:p>
                      <a:pPr>
                        <a:defRPr sz="950" b="1">
                          <a:solidFill>
                            <a:srgbClr val="FFFFFF"/>
                          </a:solidFill>
                        </a:defRPr>
                      </a:pPr>
                      <a:r>
                        <a:t>Main Findings:</a:t>
                      </a:r>
                    </a:p>
                  </a:txBody>
                  <a:tcPr>
                    <a:solidFill>
                      <a:srgbClr val="0F2942"/>
                    </a:solidFill>
                  </a:tcPr>
                </a:tc>
                <a:tc>
                  <a:txBody>
                    <a:bodyPr/>
                    <a:lstStyle/>
                    <a:p>
                      <a:pPr>
                        <a:defRPr sz="950" b="1">
                          <a:solidFill>
                            <a:srgbClr val="FFFFFF"/>
                          </a:solidFill>
                        </a:defRPr>
                      </a:pPr>
                      <a:r>
                        <a:t>Remarks</a:t>
                      </a:r>
                    </a:p>
                  </a:txBody>
                  <a:tcPr>
                    <a:solidFill>
                      <a:srgbClr val="0F2942"/>
                    </a:solidFill>
                  </a:tcPr>
                </a:tc>
              </a:tr>
              <a:tr h="1165860">
                <a:tc>
                  <a:txBody>
                    <a:bodyPr/>
                    <a:lstStyle/>
                    <a:p>
                      <a:pPr>
                        <a:defRPr sz="850" b="1">
                          <a:solidFill>
                            <a:srgbClr val="1E293B"/>
                          </a:solidFill>
                        </a:defRPr>
                      </a:pPr>
                      <a:r>
                        <a:t>Title: Comprehensive Evaluation of an Educational Software Engineering Simulation Environment</a:t>
                      </a:r>
                      <a:br/>
                      <a:r>
                        <a:t>Year: 2007 (IEEE TSE)</a:t>
                      </a:r>
                      <a:br/>
                      <a:r>
                        <a:t>Authors: E. Navarro &amp; A. van der Hoek</a:t>
                      </a:r>
                    </a:p>
                  </a:txBody>
                  <a:tcPr>
                    <a:solidFill>
                      <a:srgbClr val="F8FAFC"/>
                    </a:solidFill>
                  </a:tcPr>
                </a:tc>
                <a:tc>
                  <a:txBody>
                    <a:bodyPr/>
                    <a:lstStyle/>
                    <a:p>
                      <a:pPr>
                        <a:defRPr sz="850">
                          <a:solidFill>
                            <a:srgbClr val="1E293B"/>
                          </a:solidFill>
                        </a:defRPr>
                      </a:pPr>
                      <a:r>
                        <a:t>• Active simulation helps students understand software engineering trade-offs much better than lectures alone.</a:t>
                      </a:r>
                      <a:br/>
                      <a:r>
                        <a:t>• Simulated roles and sprint backlogs allow students to see how their decisions affect code quality and project progress.</a:t>
                      </a:r>
                    </a:p>
                  </a:txBody>
                  <a:tcPr>
                    <a:solidFill>
                      <a:srgbClr val="F8FAFC"/>
                    </a:solidFill>
                  </a:tcPr>
                </a:tc>
                <a:tc>
                  <a:txBody>
                    <a:bodyPr/>
                    <a:lstStyle/>
                    <a:p>
                      <a:pPr>
                        <a:defRPr sz="850">
                          <a:solidFill>
                            <a:srgbClr val="1E5F8A"/>
                          </a:solidFill>
                        </a:defRPr>
                      </a:pPr>
                      <a:r>
                        <a:t>• Confirms that simulated workplaces are effective for teaching practical software workflows.</a:t>
                      </a:r>
                      <a:br/>
                      <a:r>
                        <a:t>• WORKUP adopts this concept to simulate realistic company environments and task backlogs.</a:t>
                      </a:r>
                    </a:p>
                  </a:txBody>
                  <a:tcPr>
                    <a:solidFill>
                      <a:srgbClr val="F8FAFC"/>
                    </a:solidFill>
                  </a:tcPr>
                </a:tc>
              </a:tr>
              <a:tr h="1165860">
                <a:tc>
                  <a:txBody>
                    <a:bodyPr/>
                    <a:lstStyle/>
                    <a:p>
                      <a:pPr>
                        <a:defRPr sz="850" b="1">
                          <a:solidFill>
                            <a:srgbClr val="1E293B"/>
                          </a:solidFill>
                        </a:defRPr>
                      </a:pPr>
                      <a:r>
                        <a:t>Title: Gaps Between Industry Expectations and University Preparation in Software Engineering</a:t>
                      </a:r>
                      <a:br/>
                      <a:r>
                        <a:t>Year: 2013 (ACM SIGCSE)</a:t>
                      </a:r>
                      <a:br/>
                      <a:r>
                        <a:t>Authors: A. Radermacher &amp; G. Walia</a:t>
                      </a:r>
                    </a:p>
                  </a:txBody>
                  <a:tcPr>
                    <a:solidFill>
                      <a:srgbClr val="FFFFFF"/>
                    </a:solidFill>
                  </a:tcPr>
                </a:tc>
                <a:tc>
                  <a:txBody>
                    <a:bodyPr/>
                    <a:lstStyle/>
                    <a:p>
                      <a:pPr>
                        <a:defRPr sz="850">
                          <a:solidFill>
                            <a:srgbClr val="1E293B"/>
                          </a:solidFill>
                        </a:defRPr>
                      </a:pPr>
                      <a:r>
                        <a:t>• Industry survey across 50+ tech companies identified that graduates struggle most with legacy code, testing, and Git reviews.</a:t>
                      </a:r>
                      <a:br/>
                      <a:r>
                        <a:t>• Universities focus heavily on individual clean-slate coding rather than team-based code maintenance.</a:t>
                      </a:r>
                    </a:p>
                  </a:txBody>
                  <a:tcPr>
                    <a:solidFill>
                      <a:srgbClr val="FFFFFF"/>
                    </a:solidFill>
                  </a:tcPr>
                </a:tc>
                <a:tc>
                  <a:txBody>
                    <a:bodyPr/>
                    <a:lstStyle/>
                    <a:p>
                      <a:pPr>
                        <a:defRPr sz="850">
                          <a:solidFill>
                            <a:srgbClr val="1E5F8A"/>
                          </a:solidFill>
                        </a:defRPr>
                      </a:pPr>
                      <a:r>
                        <a:t>• Directly supports WORKUP's focus on legacy codebase tasks rather than simple clean-slate coding.</a:t>
                      </a:r>
                      <a:br/>
                      <a:r>
                        <a:t>• Shows the need for task tickets with automated testing and pull request reviews.</a:t>
                      </a:r>
                    </a:p>
                  </a:txBody>
                  <a:tcPr>
                    <a:solidFill>
                      <a:srgbClr val="FFFFFF"/>
                    </a:solidFill>
                  </a:tcPr>
                </a:tc>
              </a:tr>
              <a:tr h="1165860">
                <a:tc>
                  <a:txBody>
                    <a:bodyPr/>
                    <a:lstStyle/>
                    <a:p>
                      <a:pPr>
                        <a:defRPr sz="850" b="1">
                          <a:solidFill>
                            <a:srgbClr val="1E293B"/>
                          </a:solidFill>
                        </a:defRPr>
                      </a:pPr>
                      <a:r>
                        <a:t>Title: Lightweight Container Isolation for Computing Education</a:t>
                      </a:r>
                      <a:br/>
                      <a:r>
                        <a:t>Year: 2018 (IEEE Trans. Education)</a:t>
                      </a:r>
                      <a:br/>
                      <a:r>
                        <a:t>Authors: N. Kratzke</a:t>
                      </a:r>
                    </a:p>
                  </a:txBody>
                  <a:tcPr>
                    <a:solidFill>
                      <a:srgbClr val="F8FAFC"/>
                    </a:solidFill>
                  </a:tcPr>
                </a:tc>
                <a:tc>
                  <a:txBody>
                    <a:bodyPr/>
                    <a:lstStyle/>
                    <a:p>
                      <a:pPr>
                        <a:defRPr sz="850">
                          <a:solidFill>
                            <a:srgbClr val="1E293B"/>
                          </a:solidFill>
                        </a:defRPr>
                      </a:pPr>
                      <a:r>
                        <a:t>• Browser-accessible isolated sandboxes remove local setup friction and prevent student code from escaping to the host server.</a:t>
                      </a:r>
                      <a:br/>
                      <a:r>
                        <a:t>• Ephemeral execution sandboxes provide a cost-effective way to host programming labs.</a:t>
                      </a:r>
                    </a:p>
                  </a:txBody>
                  <a:tcPr>
                    <a:solidFill>
                      <a:srgbClr val="F8FAFC"/>
                    </a:solidFill>
                  </a:tcPr>
                </a:tc>
                <a:tc>
                  <a:txBody>
                    <a:bodyPr/>
                    <a:lstStyle/>
                    <a:p>
                      <a:pPr>
                        <a:defRPr sz="850">
                          <a:solidFill>
                            <a:srgbClr val="1E5F8A"/>
                          </a:solidFill>
                        </a:defRPr>
                      </a:pPr>
                      <a:r>
                        <a:t>• Informs WORKUP's sandbox design, using path-jailed execution environments with strict execution timeouts.</a:t>
                      </a:r>
                      <a:br/>
                      <a:r>
                        <a:t>• Ensures safe and isolated in-browser code execution for learners.</a:t>
                      </a:r>
                    </a:p>
                  </a:txBody>
                  <a:tcPr>
                    <a:solidFill>
                      <a:srgbClr val="F8FAF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STAKEHOLDER ANALYSIS</a:t>
            </a:r>
          </a:p>
          <a:p>
            <a:pPr>
              <a:defRPr sz="2000" b="1">
                <a:solidFill>
                  <a:srgbClr val="0F2942"/>
                </a:solidFill>
              </a:defRPr>
            </a:pPr>
            <a:r>
              <a:t>End Users / Target Beneficiaries</a:t>
            </a:r>
          </a:p>
          <a:p>
            <a:pPr>
              <a:defRPr sz="1050">
                <a:solidFill>
                  <a:srgbClr val="64748B"/>
                </a:solidFill>
              </a:defRPr>
            </a:pPr>
            <a:r>
              <a:t>Key roles and user groups that interact with the WORKUP platform.</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5 of 11</a:t>
            </a:r>
            <a:endParaRPr sz="850">
              <a:solidFill>
                <a:srgbClr val="64748B"/>
              </a:solidFill>
            </a:endParaRPr>
          </a:p>
        </p:txBody>
      </p:sp>
      <p:sp>
        <p:nvSpPr>
          <p:cNvPr id="8" name="Rounded Rectangle 7"/>
          <p:cNvSpPr/>
          <p:nvPr/>
        </p:nvSpPr>
        <p:spPr>
          <a:xfrm>
            <a:off x="731520" y="1371600"/>
            <a:ext cx="107286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554480"/>
            <a:ext cx="2743200" cy="256032"/>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defRPr>
            </a:pPr>
            <a:r>
              <a:t>STUDENTS / LEARNERS</a:t>
            </a:r>
          </a:p>
        </p:txBody>
      </p:sp>
      <p:sp>
        <p:nvSpPr>
          <p:cNvPr id="10" name="TextBox 9"/>
          <p:cNvSpPr txBox="1"/>
          <p:nvPr/>
        </p:nvSpPr>
        <p:spPr>
          <a:xfrm>
            <a:off x="960120" y="1874520"/>
            <a:ext cx="10271455" cy="822960"/>
          </a:xfrm>
          <a:prstGeom prst="rect">
            <a:avLst/>
          </a:prstGeom>
          <a:noFill/>
        </p:spPr>
        <p:txBody>
          <a:bodyPr wrap="square">
            <a:spAutoFit/>
          </a:bodyPr>
          <a:lstStyle/>
          <a:p>
            <a:pPr>
              <a:defRPr sz="1200" b="1">
                <a:solidFill>
                  <a:srgbClr val="0F2942"/>
                </a:solidFill>
              </a:defRPr>
            </a:pPr>
            <a:r>
              <a:t>Engineering Students &amp; Career Starters</a:t>
            </a:r>
          </a:p>
          <a:p>
            <a:pPr>
              <a:spcBef>
                <a:spcPts val="400"/>
              </a:spcBef>
              <a:defRPr sz="950">
                <a:solidFill>
                  <a:srgbClr val="1E293B"/>
                </a:solidFill>
              </a:defRPr>
            </a:pPr>
            <a:r>
              <a:t>Explore professional career paths (Software Engineering, DevOps, AI/ML), enter simulated tech companies, work on realistic task tickets, write code in cloud sandboxes, run automated tests locally, receive line-level feedback, and build a verified portfolio of real code commits.</a:t>
            </a:r>
          </a:p>
        </p:txBody>
      </p:sp>
      <p:sp>
        <p:nvSpPr>
          <p:cNvPr id="11" name="Rounded Rectangle 10"/>
          <p:cNvSpPr/>
          <p:nvPr/>
        </p:nvSpPr>
        <p:spPr>
          <a:xfrm>
            <a:off x="731520" y="3017520"/>
            <a:ext cx="107286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 y="3200400"/>
            <a:ext cx="2743200" cy="256032"/>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59669"/>
                </a:solidFill>
              </a:defRPr>
            </a:pPr>
            <a:r>
              <a:t>EDUCATORS / CONTENT AUTHORS</a:t>
            </a:r>
          </a:p>
        </p:txBody>
      </p:sp>
      <p:sp>
        <p:nvSpPr>
          <p:cNvPr id="13" name="TextBox 12"/>
          <p:cNvSpPr txBox="1"/>
          <p:nvPr/>
        </p:nvSpPr>
        <p:spPr>
          <a:xfrm>
            <a:off x="960120" y="3520440"/>
            <a:ext cx="10271455" cy="822960"/>
          </a:xfrm>
          <a:prstGeom prst="rect">
            <a:avLst/>
          </a:prstGeom>
          <a:noFill/>
        </p:spPr>
        <p:txBody>
          <a:bodyPr wrap="square">
            <a:spAutoFit/>
          </a:bodyPr>
          <a:lstStyle/>
          <a:p>
            <a:pPr>
              <a:defRPr sz="1200" b="1">
                <a:solidFill>
                  <a:srgbClr val="0F2942"/>
                </a:solidFill>
              </a:defRPr>
            </a:pPr>
            <a:r>
              <a:t>Faculty &amp; Curriculum Designers</a:t>
            </a:r>
          </a:p>
          <a:p>
            <a:pPr>
              <a:spcBef>
                <a:spcPts val="400"/>
              </a:spcBef>
              <a:defRPr sz="950">
                <a:solidFill>
                  <a:srgbClr val="1E293B"/>
                </a:solidFill>
              </a:defRPr>
            </a:pPr>
            <a:r>
              <a:t>Create simulated companies, design multi-step project task backlogs (DAGs), set up legacy codebases, define automated test suites, and configure evaluation rubrics to assess student learning with zero manual grading overhead.</a:t>
            </a:r>
          </a:p>
        </p:txBody>
      </p:sp>
      <p:sp>
        <p:nvSpPr>
          <p:cNvPr id="14" name="Rounded Rectangle 13"/>
          <p:cNvSpPr/>
          <p:nvPr/>
        </p:nvSpPr>
        <p:spPr>
          <a:xfrm>
            <a:off x="731520" y="4663440"/>
            <a:ext cx="1072865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 y="4846320"/>
            <a:ext cx="2743200" cy="256032"/>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D97706"/>
                </a:solidFill>
              </a:defRPr>
            </a:pPr>
            <a:r>
              <a:t>RECRUITERS / INDUSTRY MENTORS</a:t>
            </a:r>
          </a:p>
        </p:txBody>
      </p:sp>
      <p:sp>
        <p:nvSpPr>
          <p:cNvPr id="16" name="TextBox 15"/>
          <p:cNvSpPr txBox="1"/>
          <p:nvPr/>
        </p:nvSpPr>
        <p:spPr>
          <a:xfrm>
            <a:off x="960120" y="5166360"/>
            <a:ext cx="10271455" cy="822960"/>
          </a:xfrm>
          <a:prstGeom prst="rect">
            <a:avLst/>
          </a:prstGeom>
          <a:noFill/>
        </p:spPr>
        <p:txBody>
          <a:bodyPr wrap="square">
            <a:spAutoFit/>
          </a:bodyPr>
          <a:lstStyle/>
          <a:p>
            <a:pPr>
              <a:defRPr sz="1200" b="1">
                <a:solidFill>
                  <a:srgbClr val="0F2942"/>
                </a:solidFill>
              </a:defRPr>
            </a:pPr>
            <a:r>
              <a:t>Hiring Managers &amp; Senior Engineers</a:t>
            </a:r>
          </a:p>
          <a:p>
            <a:pPr>
              <a:spcBef>
                <a:spcPts val="400"/>
              </a:spcBef>
              <a:defRPr sz="950">
                <a:solidFill>
                  <a:srgbClr val="1E293B"/>
                </a:solidFill>
              </a:defRPr>
            </a:pPr>
            <a:r>
              <a:t>Review candidate portfolios backed by verified Git commits and test reports, evaluate practical problem-solving ability, and provide mentor feedback without relying on self-reported resume bullet points.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CURRENT APPROACHES</a:t>
            </a:r>
          </a:p>
          <a:p>
            <a:pPr>
              <a:defRPr sz="2000" b="1">
                <a:solidFill>
                  <a:srgbClr val="0F2942"/>
                </a:solidFill>
              </a:defRPr>
            </a:pPr>
            <a:r>
              <a:t>Existing System</a:t>
            </a:r>
          </a:p>
          <a:p>
            <a:pPr>
              <a:defRPr sz="1050">
                <a:solidFill>
                  <a:srgbClr val="64748B"/>
                </a:solidFill>
              </a:defRPr>
            </a:pPr>
            <a:r>
              <a:t>Overview of current learning platforms, coding websites, and job simulations.</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6 of 11</a:t>
            </a:r>
            <a:endParaRPr sz="850">
              <a:solidFill>
                <a:srgbClr val="64748B"/>
              </a:solidFill>
            </a:endParaRPr>
          </a:p>
        </p:txBody>
      </p:sp>
      <p:sp>
        <p:nvSpPr>
          <p:cNvPr id="8" name="Rounded Rectangle 7"/>
          <p:cNvSpPr/>
          <p:nvPr/>
        </p:nvSpPr>
        <p:spPr>
          <a:xfrm>
            <a:off x="731520" y="1325880"/>
            <a:ext cx="10728655"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600200"/>
            <a:ext cx="10088575" cy="4389120"/>
          </a:xfrm>
          <a:prstGeom prst="rect">
            <a:avLst/>
          </a:prstGeom>
          <a:noFill/>
        </p:spPr>
        <p:txBody>
          <a:bodyPr wrap="square">
            <a:spAutoFit/>
          </a:bodyPr>
          <a:lstStyle/>
          <a:p>
            <a:r>
              <a:rPr sz="1100" b="1">
                <a:solidFill>
                  <a:srgbClr val="0F2942"/>
                </a:solidFill>
              </a:rPr>
              <a:t>•  Algorithmic Practice Websites: </a:t>
            </a:r>
            <a:r>
              <a:rPr sz="1050">
                <a:solidFill>
                  <a:srgbClr val="1E293B"/>
                </a:solidFill>
              </a:rPr>
              <a:t>Platforms like LeetCode and HackerRank focus mainly on isolated algorithmic puzzles and syntax questions, without exposing learners to multi-file projects.</a:t>
            </a:r>
            <a:endParaRPr sz="1050">
              <a:solidFill>
                <a:srgbClr val="1E293B"/>
              </a:solidFill>
            </a:endParaRPr>
          </a:p>
          <a:p>
            <a:pPr>
              <a:spcBef>
                <a:spcPts val="1400"/>
              </a:spcBef>
            </a:pPr>
            <a:r>
              <a:rPr sz="1100" b="1">
                <a:solidFill>
                  <a:srgbClr val="0F2942"/>
                </a:solidFill>
              </a:rPr>
              <a:t>•  Video-Based Online Courses: </a:t>
            </a:r>
            <a:r>
              <a:rPr sz="1050">
                <a:solidFill>
                  <a:srgbClr val="1E293B"/>
                </a:solidFill>
              </a:rPr>
              <a:t>MOOC platforms like Coursera and Udemy rely on passive video watching, where students follow tutorials without hands-on workplace troubleshooting.</a:t>
            </a:r>
            <a:endParaRPr sz="1050">
              <a:solidFill>
                <a:srgbClr val="1E293B"/>
              </a:solidFill>
            </a:endParaRPr>
          </a:p>
          <a:p>
            <a:pPr>
              <a:spcBef>
                <a:spcPts val="1400"/>
              </a:spcBef>
            </a:pPr>
            <a:r>
              <a:rPr sz="1100" b="1">
                <a:solidFill>
                  <a:srgbClr val="0F2942"/>
                </a:solidFill>
              </a:rPr>
              <a:t>•  Static Job Simulations: </a:t>
            </a:r>
            <a:r>
              <a:rPr sz="1050">
                <a:solidFill>
                  <a:srgbClr val="1E293B"/>
                </a:solidFill>
              </a:rPr>
              <a:t>Platforms like Forage provide corporate business scenarios, but submissions are static files (PDFs/PPTs) with no live code execution or automated testing.</a:t>
            </a:r>
            <a:endParaRPr sz="1050">
              <a:solidFill>
                <a:srgbClr val="1E293B"/>
              </a:solidFill>
            </a:endParaRPr>
          </a:p>
          <a:p>
            <a:pPr>
              <a:spcBef>
                <a:spcPts val="1400"/>
              </a:spcBef>
            </a:pPr>
            <a:r>
              <a:rPr sz="1100" b="1">
                <a:solidFill>
                  <a:srgbClr val="0F2942"/>
                </a:solidFill>
              </a:rPr>
              <a:t>•  Unguided Cloud IDEs: </a:t>
            </a:r>
            <a:r>
              <a:rPr sz="1050">
                <a:solidFill>
                  <a:srgbClr val="1E293B"/>
                </a:solidFill>
              </a:rPr>
              <a:t>Cloud development environments like GitHub Codespaces offer raw computing machines, but lack curriculum, simulated company context, and guided task backlogs.</a:t>
            </a:r>
            <a:endParaRPr sz="1050">
              <a:solidFill>
                <a:srgbClr val="1E293B"/>
              </a:solidFill>
            </a:endParaRPr>
          </a:p>
          <a:p>
            <a:pPr>
              <a:spcBef>
                <a:spcPts val="1400"/>
              </a:spcBef>
            </a:pPr>
            <a:r>
              <a:rPr sz="1100" b="1">
                <a:solidFill>
                  <a:srgbClr val="0F2942"/>
                </a:solidFill>
              </a:rPr>
              <a:t>•  Binary Auto-Graders: </a:t>
            </a:r>
            <a:r>
              <a:rPr sz="1050">
                <a:solidFill>
                  <a:srgbClr val="1E293B"/>
                </a:solidFill>
              </a:rPr>
              <a:t>Existing assessment tools test code on simple pass/fail string matches rather than providing in-depth, line-by-line code reviews on pull requests.</a:t>
            </a:r>
            <a:endParaRPr sz="1050">
              <a:solidFill>
                <a:srgbClr val="1E293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LIMITATIONS OF CURRENT TOOLS</a:t>
            </a:r>
          </a:p>
          <a:p>
            <a:pPr>
              <a:defRPr sz="2000" b="1">
                <a:solidFill>
                  <a:srgbClr val="0F2942"/>
                </a:solidFill>
              </a:defRPr>
            </a:pPr>
            <a:r>
              <a:t>Disadvantages</a:t>
            </a:r>
          </a:p>
          <a:p>
            <a:pPr>
              <a:defRPr sz="1050">
                <a:solidFill>
                  <a:srgbClr val="64748B"/>
                </a:solidFill>
              </a:defRPr>
            </a:pPr>
            <a:r>
              <a:t>Key drawbacks and limitations found in existing educational platforms.</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7 of 11</a:t>
            </a:r>
            <a:endParaRPr sz="850">
              <a:solidFill>
                <a:srgbClr val="64748B"/>
              </a:solidFill>
            </a:endParaRPr>
          </a:p>
        </p:txBody>
      </p:sp>
      <p:sp>
        <p:nvSpPr>
          <p:cNvPr id="8" name="Rounded Rectangle 7"/>
          <p:cNvSpPr/>
          <p:nvPr/>
        </p:nvSpPr>
        <p:spPr>
          <a:xfrm>
            <a:off x="731520" y="1325880"/>
            <a:ext cx="10728655"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600200"/>
            <a:ext cx="10088575" cy="4389120"/>
          </a:xfrm>
          <a:prstGeom prst="rect">
            <a:avLst/>
          </a:prstGeom>
          <a:noFill/>
        </p:spPr>
        <p:txBody>
          <a:bodyPr wrap="square">
            <a:spAutoFit/>
          </a:bodyPr>
          <a:lstStyle/>
          <a:p>
            <a:r>
              <a:rPr sz="1100" b="1">
                <a:solidFill>
                  <a:srgbClr val="DC2626"/>
                </a:solidFill>
              </a:rPr>
              <a:t>•  Clean-Slate Bias: </a:t>
            </a:r>
            <a:r>
              <a:rPr sz="1050">
                <a:solidFill>
                  <a:srgbClr val="1E293B"/>
                </a:solidFill>
              </a:rPr>
              <a:t>Students only practice writing small programs from scratch, leaving them unprepared for understanding and fixing large existing codebases with technical debt.</a:t>
            </a:r>
            <a:endParaRPr sz="1050">
              <a:solidFill>
                <a:srgbClr val="1E293B"/>
              </a:solidFill>
            </a:endParaRPr>
          </a:p>
          <a:p>
            <a:pPr>
              <a:spcBef>
                <a:spcPts val="1400"/>
              </a:spcBef>
            </a:pPr>
            <a:r>
              <a:rPr sz="1100" b="1">
                <a:solidFill>
                  <a:srgbClr val="DC2626"/>
                </a:solidFill>
              </a:rPr>
              <a:t>•  No Real Business Context: </a:t>
            </a:r>
            <a:r>
              <a:rPr sz="1050">
                <a:solidFill>
                  <a:srgbClr val="1E293B"/>
                </a:solidFill>
              </a:rPr>
              <a:t>Assignments lack realistic business problems, Jira-style task tickets, and Architecture Decision Records (ADRs) used by engineering teams in companies.</a:t>
            </a:r>
            <a:endParaRPr sz="1050">
              <a:solidFill>
                <a:srgbClr val="1E293B"/>
              </a:solidFill>
            </a:endParaRPr>
          </a:p>
          <a:p>
            <a:pPr>
              <a:spcBef>
                <a:spcPts val="1400"/>
              </a:spcBef>
            </a:pPr>
            <a:r>
              <a:rPr sz="1100" b="1">
                <a:solidFill>
                  <a:srgbClr val="DC2626"/>
                </a:solidFill>
              </a:rPr>
              <a:t>•  Limited Review &amp; Feedback: </a:t>
            </a:r>
            <a:r>
              <a:rPr sz="1050">
                <a:solidFill>
                  <a:srgbClr val="1E293B"/>
                </a:solidFill>
              </a:rPr>
              <a:t>Existing tools provide only simple pass/fail test results without line-by-line feedback on code quality, security rules, and clean coding standards.</a:t>
            </a:r>
            <a:endParaRPr sz="1050">
              <a:solidFill>
                <a:srgbClr val="1E293B"/>
              </a:solidFill>
            </a:endParaRPr>
          </a:p>
          <a:p>
            <a:pPr>
              <a:spcBef>
                <a:spcPts val="1400"/>
              </a:spcBef>
            </a:pPr>
            <a:r>
              <a:rPr sz="1100" b="1">
                <a:solidFill>
                  <a:srgbClr val="DC2626"/>
                </a:solidFill>
              </a:rPr>
              <a:t>•  Unverifiable Resumes: </a:t>
            </a:r>
            <a:r>
              <a:rPr sz="1050">
                <a:solidFill>
                  <a:srgbClr val="1E293B"/>
                </a:solidFill>
              </a:rPr>
              <a:t>Self-reported skills on resumes are easy to exaggerate and do not give recruiters proof of practical ability or problem-solving capability.</a:t>
            </a:r>
            <a:endParaRPr sz="1050">
              <a:solidFill>
                <a:srgbClr val="1E293B"/>
              </a:solidFill>
            </a:endParaRPr>
          </a:p>
          <a:p>
            <a:pPr>
              <a:spcBef>
                <a:spcPts val="1400"/>
              </a:spcBef>
            </a:pPr>
            <a:r>
              <a:rPr sz="1100" b="1">
                <a:solidFill>
                  <a:srgbClr val="DC2626"/>
                </a:solidFill>
              </a:rPr>
              <a:t>•  Fragmented Learning Tools: </a:t>
            </a:r>
            <a:r>
              <a:rPr sz="1050">
                <a:solidFill>
                  <a:srgbClr val="1E293B"/>
                </a:solidFill>
              </a:rPr>
              <a:t>Learners must switch between videos, coding websites, and GitHub without a single connected workplace workflow.</a:t>
            </a:r>
            <a:endParaRPr sz="1050">
              <a:solidFill>
                <a:srgbClr val="1E293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SYSTEM ARCHITECTURE</a:t>
            </a:r>
          </a:p>
          <a:p>
            <a:pPr>
              <a:defRPr sz="2000" b="1">
                <a:solidFill>
                  <a:srgbClr val="0F2942"/>
                </a:solidFill>
              </a:defRPr>
            </a:pPr>
            <a:r>
              <a:t>Proposed System</a:t>
            </a:r>
          </a:p>
          <a:p>
            <a:pPr>
              <a:defRPr sz="1050">
                <a:solidFill>
                  <a:srgbClr val="64748B"/>
                </a:solidFill>
              </a:defRPr>
            </a:pPr>
            <a:r>
              <a:t>The WORKUP platform workflow connecting simulated companies, tasks, sandboxes, and reviews.</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8 of 11</a:t>
            </a:r>
            <a:endParaRPr sz="850">
              <a:solidFill>
                <a:srgbClr val="64748B"/>
              </a:solidFill>
            </a:endParaRPr>
          </a:p>
        </p:txBody>
      </p:sp>
      <p:sp>
        <p:nvSpPr>
          <p:cNvPr id="8" name="Rounded Rectangle 7"/>
          <p:cNvSpPr/>
          <p:nvPr/>
        </p:nvSpPr>
        <p:spPr>
          <a:xfrm>
            <a:off x="731520" y="1325880"/>
            <a:ext cx="10728655"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508760"/>
            <a:ext cx="2286000" cy="256032"/>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defRPr>
            </a:pPr>
            <a:r>
              <a:t>SYSTEM DESCRIPTION</a:t>
            </a:r>
          </a:p>
        </p:txBody>
      </p:sp>
      <p:sp>
        <p:nvSpPr>
          <p:cNvPr id="10" name="TextBox 9"/>
          <p:cNvSpPr txBox="1"/>
          <p:nvPr/>
        </p:nvSpPr>
        <p:spPr>
          <a:xfrm>
            <a:off x="960120" y="1828800"/>
            <a:ext cx="10271455" cy="914400"/>
          </a:xfrm>
          <a:prstGeom prst="rect">
            <a:avLst/>
          </a:prstGeom>
          <a:noFill/>
        </p:spPr>
        <p:txBody>
          <a:bodyPr wrap="square">
            <a:spAutoFit/>
          </a:bodyPr>
          <a:lstStyle/>
          <a:p>
            <a:pPr>
              <a:lnSpc>
                <a:spcPct val="125000"/>
              </a:lnSpc>
              <a:defRPr sz="1050">
                <a:solidFill>
                  <a:srgbClr val="1E293B"/>
                </a:solidFill>
              </a:defRPr>
            </a:pPr>
            <a:r>
              <a:t>WORKUP acts as a virtual workplace platform that immerses learners in simulated engineering companies. It provides realistic task tickets, executes code in isolated cloud sandboxes, and delivers automated line-level reviews to help students build practical engineering competence.</a:t>
            </a:r>
          </a:p>
        </p:txBody>
      </p:sp>
      <p:sp>
        <p:nvSpPr>
          <p:cNvPr id="11" name="Rounded Rectangle 10"/>
          <p:cNvSpPr/>
          <p:nvPr/>
        </p:nvSpPr>
        <p:spPr>
          <a:xfrm>
            <a:off x="731520" y="3017520"/>
            <a:ext cx="10728655"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 y="3200400"/>
            <a:ext cx="1828800" cy="256032"/>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59669"/>
                </a:solidFill>
              </a:defRPr>
            </a:pPr>
            <a:r>
              <a:t>PROCESS FLOW</a:t>
            </a:r>
          </a:p>
        </p:txBody>
      </p:sp>
      <p:sp>
        <p:nvSpPr>
          <p:cNvPr id="13" name="TextBox 12"/>
          <p:cNvSpPr txBox="1"/>
          <p:nvPr/>
        </p:nvSpPr>
        <p:spPr>
          <a:xfrm>
            <a:off x="960120" y="3520440"/>
            <a:ext cx="10271455" cy="2560320"/>
          </a:xfrm>
          <a:prstGeom prst="rect">
            <a:avLst/>
          </a:prstGeom>
          <a:noFill/>
        </p:spPr>
        <p:txBody>
          <a:bodyPr wrap="square">
            <a:spAutoFit/>
          </a:bodyPr>
          <a:lstStyle/>
          <a:p>
            <a:r>
              <a:rPr sz="950" b="1">
                <a:solidFill>
                  <a:srgbClr val="0F2942"/>
                </a:solidFill>
              </a:rPr>
              <a:t>1. Career &amp; Role Selection: </a:t>
            </a:r>
            <a:r>
              <a:rPr sz="900">
                <a:solidFill>
                  <a:srgbClr val="1E293B"/>
                </a:solidFill>
              </a:rPr>
              <a:t>Learner chooses a career family and specialized role (e.g., Backend Engineer, Platform SRE).</a:t>
            </a:r>
            <a:endParaRPr sz="900">
              <a:solidFill>
                <a:srgbClr val="1E293B"/>
              </a:solidFill>
            </a:endParaRPr>
          </a:p>
          <a:p>
            <a:pPr>
              <a:spcBef>
                <a:spcPts val="400"/>
              </a:spcBef>
            </a:pPr>
            <a:r>
              <a:rPr sz="950" b="1">
                <a:solidFill>
                  <a:srgbClr val="0F2942"/>
                </a:solidFill>
              </a:rPr>
              <a:t>2. Simulated Company: </a:t>
            </a:r>
            <a:r>
              <a:rPr sz="900">
                <a:solidFill>
                  <a:srgbClr val="1E293B"/>
                </a:solidFill>
              </a:rPr>
              <a:t>Enters a simulated enterprise (e.g., FinFlow Technologies) with authentic business context.</a:t>
            </a:r>
            <a:endParaRPr sz="900">
              <a:solidFill>
                <a:srgbClr val="1E293B"/>
              </a:solidFill>
            </a:endParaRPr>
          </a:p>
          <a:p>
            <a:pPr>
              <a:spcBef>
                <a:spcPts val="400"/>
              </a:spcBef>
            </a:pPr>
            <a:r>
              <a:rPr sz="950" b="1">
                <a:solidFill>
                  <a:srgbClr val="0F2942"/>
                </a:solidFill>
              </a:rPr>
              <a:t>3. Task Ticket &amp; ADR: </a:t>
            </a:r>
            <a:r>
              <a:rPr sz="900">
                <a:solidFill>
                  <a:srgbClr val="1E293B"/>
                </a:solidFill>
              </a:rPr>
              <a:t>Receives a Jira-style task ticket with acceptance criteria and Architecture Decision Records.</a:t>
            </a:r>
            <a:endParaRPr sz="900">
              <a:solidFill>
                <a:srgbClr val="1E293B"/>
              </a:solidFill>
            </a:endParaRPr>
          </a:p>
          <a:p>
            <a:pPr>
              <a:spcBef>
                <a:spcPts val="400"/>
              </a:spcBef>
            </a:pPr>
            <a:r>
              <a:rPr sz="950" b="1">
                <a:solidFill>
                  <a:srgbClr val="0F2942"/>
                </a:solidFill>
              </a:rPr>
              <a:t>4. Isolated Cloud Sandbox: </a:t>
            </a:r>
            <a:r>
              <a:rPr sz="900">
                <a:solidFill>
                  <a:srgbClr val="1E293B"/>
                </a:solidFill>
              </a:rPr>
              <a:t>Opens a zero-setup browser workspace with path-jailed file execution.</a:t>
            </a:r>
            <a:endParaRPr sz="900">
              <a:solidFill>
                <a:srgbClr val="1E293B"/>
              </a:solidFill>
            </a:endParaRPr>
          </a:p>
          <a:p>
            <a:pPr>
              <a:spcBef>
                <a:spcPts val="400"/>
              </a:spcBef>
            </a:pPr>
            <a:r>
              <a:rPr sz="950" b="1">
                <a:solidFill>
                  <a:srgbClr val="0F2942"/>
                </a:solidFill>
              </a:rPr>
              <a:t>5. Implementation &amp; Tests: </a:t>
            </a:r>
            <a:r>
              <a:rPr sz="900">
                <a:solidFill>
                  <a:srgbClr val="1E293B"/>
                </a:solidFill>
              </a:rPr>
              <a:t>Refactors code and executes in-sandbox automated tests (Vitest) to verify correctness.</a:t>
            </a:r>
            <a:endParaRPr sz="900">
              <a:solidFill>
                <a:srgbClr val="1E293B"/>
              </a:solidFill>
            </a:endParaRPr>
          </a:p>
          <a:p>
            <a:pPr>
              <a:spcBef>
                <a:spcPts val="400"/>
              </a:spcBef>
            </a:pPr>
            <a:r>
              <a:rPr sz="950" b="1">
                <a:solidFill>
                  <a:srgbClr val="0F2942"/>
                </a:solidFill>
              </a:rPr>
              <a:t>6. AI Code Review: </a:t>
            </a:r>
            <a:r>
              <a:rPr sz="900">
                <a:solidFill>
                  <a:srgbClr val="1E293B"/>
                </a:solidFill>
              </a:rPr>
              <a:t>Submits a pull request; the review engine evaluates code diffs and provides line-level feedback.</a:t>
            </a:r>
            <a:endParaRPr sz="900">
              <a:solidFill>
                <a:srgbClr val="1E293B"/>
              </a:solidFill>
            </a:endParaRPr>
          </a:p>
          <a:p>
            <a:pPr>
              <a:spcBef>
                <a:spcPts val="400"/>
              </a:spcBef>
            </a:pPr>
            <a:r>
              <a:rPr sz="950" b="1">
                <a:solidFill>
                  <a:srgbClr val="0F2942"/>
                </a:solidFill>
              </a:rPr>
              <a:t>7. Evidence of Skill: </a:t>
            </a:r>
            <a:r>
              <a:rPr sz="900">
                <a:solidFill>
                  <a:srgbClr val="1E293B"/>
                </a:solidFill>
              </a:rPr>
              <a:t>Approved tasks generate an immutable portfolio backed by verified Git commit SHAs.</a:t>
            </a:r>
            <a:endParaRPr sz="900">
              <a:solidFill>
                <a:srgbClr val="1E293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SYSTEM BENEFITS</a:t>
            </a:r>
          </a:p>
          <a:p>
            <a:pPr>
              <a:defRPr sz="2000" b="1">
                <a:solidFill>
                  <a:srgbClr val="0F2942"/>
                </a:solidFill>
              </a:defRPr>
            </a:pPr>
            <a:r>
              <a:t>Advantages</a:t>
            </a:r>
          </a:p>
          <a:p>
            <a:pPr>
              <a:defRPr sz="1050">
                <a:solidFill>
                  <a:srgbClr val="64748B"/>
                </a:solidFill>
              </a:defRPr>
            </a:pPr>
            <a:r>
              <a:t>Key advantages of the proposed WORKUP platform for learners and institutions.</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9 of 11</a:t>
            </a:r>
            <a:endParaRPr sz="850">
              <a:solidFill>
                <a:srgbClr val="64748B"/>
              </a:solidFill>
            </a:endParaRPr>
          </a:p>
        </p:txBody>
      </p:sp>
      <p:sp>
        <p:nvSpPr>
          <p:cNvPr id="8" name="Rounded Rectangle 7"/>
          <p:cNvSpPr/>
          <p:nvPr/>
        </p:nvSpPr>
        <p:spPr>
          <a:xfrm>
            <a:off x="731520" y="1325880"/>
            <a:ext cx="10728655"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554480"/>
            <a:ext cx="10088575" cy="4480560"/>
          </a:xfrm>
          <a:prstGeom prst="rect">
            <a:avLst/>
          </a:prstGeom>
          <a:noFill/>
        </p:spPr>
        <p:txBody>
          <a:bodyPr wrap="square">
            <a:spAutoFit/>
          </a:bodyPr>
          <a:lstStyle/>
          <a:p>
            <a:r>
              <a:rPr sz="1100" b="1">
                <a:solidFill>
                  <a:srgbClr val="059669"/>
                </a:solidFill>
              </a:rPr>
              <a:t>•  Realistic Workplace Experience: </a:t>
            </a:r>
            <a:r>
              <a:rPr sz="1050">
                <a:solidFill>
                  <a:srgbClr val="1E293B"/>
                </a:solidFill>
              </a:rPr>
              <a:t>Learners work inside simulated companies (such as FinFlow Technologies) and solve genuine business problems.</a:t>
            </a:r>
            <a:endParaRPr sz="1050">
              <a:solidFill>
                <a:srgbClr val="1E293B"/>
              </a:solidFill>
            </a:endParaRPr>
          </a:p>
          <a:p>
            <a:pPr>
              <a:spcBef>
                <a:spcPts val="1200"/>
              </a:spcBef>
            </a:pPr>
            <a:r>
              <a:rPr sz="1100" b="1">
                <a:solidFill>
                  <a:srgbClr val="059669"/>
                </a:solidFill>
              </a:rPr>
              <a:t>•  Connected Project Workflows: </a:t>
            </a:r>
            <a:r>
              <a:rPr sz="1050">
                <a:solidFill>
                  <a:srgbClr val="1E293B"/>
                </a:solidFill>
              </a:rPr>
              <a:t>Follows the complete engineering cycle from task tickets to testing, pull request review, and portfolio evidence.</a:t>
            </a:r>
            <a:endParaRPr sz="1050">
              <a:solidFill>
                <a:srgbClr val="1E293B"/>
              </a:solidFill>
            </a:endParaRPr>
          </a:p>
          <a:p>
            <a:pPr>
              <a:spcBef>
                <a:spcPts val="1200"/>
              </a:spcBef>
            </a:pPr>
            <a:r>
              <a:rPr sz="1100" b="1">
                <a:solidFill>
                  <a:srgbClr val="059669"/>
                </a:solidFill>
              </a:rPr>
              <a:t>•  Zero-Setup Cloud Sandboxes: </a:t>
            </a:r>
            <a:r>
              <a:rPr sz="1050">
                <a:solidFill>
                  <a:srgbClr val="1E293B"/>
                </a:solidFill>
              </a:rPr>
              <a:t>Students write and test code directly in the browser without installing complex software on their personal computers.</a:t>
            </a:r>
            <a:endParaRPr sz="1050">
              <a:solidFill>
                <a:srgbClr val="1E293B"/>
              </a:solidFill>
            </a:endParaRPr>
          </a:p>
          <a:p>
            <a:pPr>
              <a:spcBef>
                <a:spcPts val="1200"/>
              </a:spcBef>
            </a:pPr>
            <a:r>
              <a:rPr sz="1100" b="1">
                <a:solidFill>
                  <a:srgbClr val="059669"/>
                </a:solidFill>
              </a:rPr>
              <a:t>•  Automated In-Sandbox Testing: </a:t>
            </a:r>
            <a:r>
              <a:rPr sz="1050">
                <a:solidFill>
                  <a:srgbClr val="1E293B"/>
                </a:solidFill>
              </a:rPr>
              <a:t>Built-in test execution (Vitest) allows learners to verify their code locally before submitting their work.</a:t>
            </a:r>
            <a:endParaRPr sz="1050">
              <a:solidFill>
                <a:srgbClr val="1E293B"/>
              </a:solidFill>
            </a:endParaRPr>
          </a:p>
          <a:p>
            <a:pPr>
              <a:spcBef>
                <a:spcPts val="1200"/>
              </a:spcBef>
            </a:pPr>
            <a:r>
              <a:rPr sz="1100" b="1">
                <a:solidFill>
                  <a:srgbClr val="059669"/>
                </a:solidFill>
              </a:rPr>
              <a:t>•  Line-by-Line Code Review: </a:t>
            </a:r>
            <a:r>
              <a:rPr sz="1050">
                <a:solidFill>
                  <a:srgbClr val="1E293B"/>
                </a:solidFill>
              </a:rPr>
              <a:t>An automated AI Tech Lead reviewer inspects code diffs and provides specific comments on code quality and architecture.</a:t>
            </a:r>
            <a:endParaRPr sz="1050">
              <a:solidFill>
                <a:srgbClr val="1E293B"/>
              </a:solidFill>
            </a:endParaRPr>
          </a:p>
          <a:p>
            <a:pPr>
              <a:spcBef>
                <a:spcPts val="1200"/>
              </a:spcBef>
            </a:pPr>
            <a:r>
              <a:rPr sz="1100" b="1">
                <a:solidFill>
                  <a:srgbClr val="059669"/>
                </a:solidFill>
              </a:rPr>
              <a:t>•  Verifiable Proof of Skills: </a:t>
            </a:r>
            <a:r>
              <a:rPr sz="1050">
                <a:solidFill>
                  <a:srgbClr val="1E293B"/>
                </a:solidFill>
              </a:rPr>
              <a:t>Replaces self-reported resume claims with an Evidence-of-Skill portfolio backed by verified Git commits and test logs.</a:t>
            </a:r>
            <a:endParaRPr sz="1050">
              <a:solidFill>
                <a:srgbClr val="1E293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TECHNICAL IMPLEMENTATION</a:t>
            </a:r>
          </a:p>
          <a:p>
            <a:pPr>
              <a:defRPr sz="2000" b="1">
                <a:solidFill>
                  <a:srgbClr val="0F2942"/>
                </a:solidFill>
              </a:defRPr>
            </a:pPr>
            <a:r>
              <a:t>TECNNOLOGY</a:t>
            </a:r>
          </a:p>
          <a:p>
            <a:pPr>
              <a:defRPr sz="1050">
                <a:solidFill>
                  <a:srgbClr val="64748B"/>
                </a:solidFill>
              </a:defRPr>
            </a:pPr>
            <a:r>
              <a:t>Core technologies used in the development of the WORKUP platform.</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10 of 11</a:t>
            </a:r>
            <a:endParaRPr sz="850">
              <a:solidFill>
                <a:srgbClr val="64748B"/>
              </a:solidFill>
            </a:endParaRPr>
          </a:p>
        </p:txBody>
      </p:sp>
      <p:sp>
        <p:nvSpPr>
          <p:cNvPr id="8" name="Rounded Rectangle 7"/>
          <p:cNvSpPr/>
          <p:nvPr/>
        </p:nvSpPr>
        <p:spPr>
          <a:xfrm>
            <a:off x="731520" y="1280160"/>
            <a:ext cx="10728655"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868680" y="1371600"/>
          <a:ext cx="10454335" cy="4754880"/>
        </p:xfrm>
        <a:graphic>
          <a:graphicData uri="http://schemas.openxmlformats.org/drawingml/2006/table">
            <a:tbl>
              <a:tblPr firstRow="1" bandRow="1">
                <a:tableStyleId>{5C22544A-7EE6-4342-B048-85BDC9FD1C3A}</a:tableStyleId>
              </a:tblPr>
              <a:tblGrid>
                <a:gridCol w="2926080"/>
                <a:gridCol w="7528255"/>
              </a:tblGrid>
              <a:tr h="432261">
                <a:tc>
                  <a:txBody>
                    <a:bodyPr/>
                    <a:lstStyle/>
                    <a:p>
                      <a:pPr>
                        <a:defRPr sz="950" b="1">
                          <a:solidFill>
                            <a:srgbClr val="FFFFFF"/>
                          </a:solidFill>
                        </a:defRPr>
                      </a:pPr>
                      <a:r>
                        <a:t>TECNNOLOGY</a:t>
                      </a:r>
                    </a:p>
                  </a:txBody>
                  <a:tcPr>
                    <a:solidFill>
                      <a:srgbClr val="0F2942"/>
                    </a:solidFill>
                  </a:tcPr>
                </a:tc>
                <a:tc>
                  <a:txBody>
                    <a:bodyPr/>
                    <a:lstStyle/>
                    <a:p>
                      <a:pPr>
                        <a:defRPr sz="950" b="1">
                          <a:solidFill>
                            <a:srgbClr val="FFFFFF"/>
                          </a:solidFill>
                        </a:defRPr>
                      </a:pPr>
                      <a:r>
                        <a:t>USE</a:t>
                      </a:r>
                    </a:p>
                  </a:txBody>
                  <a:tcPr>
                    <a:solidFill>
                      <a:srgbClr val="0F2942"/>
                    </a:solidFill>
                  </a:tcPr>
                </a:tc>
              </a:tr>
              <a:tr h="432261">
                <a:tc>
                  <a:txBody>
                    <a:bodyPr/>
                    <a:lstStyle/>
                    <a:p>
                      <a:pPr>
                        <a:defRPr sz="850" b="1">
                          <a:solidFill>
                            <a:srgbClr val="1E293B"/>
                          </a:solidFill>
                        </a:defRPr>
                      </a:pPr>
                      <a:r>
                        <a:t>Next.js 14</a:t>
                      </a:r>
                    </a:p>
                  </a:txBody>
                  <a:tcPr>
                    <a:solidFill>
                      <a:srgbClr val="F8FAFC"/>
                    </a:solidFill>
                  </a:tcPr>
                </a:tc>
                <a:tc>
                  <a:txBody>
                    <a:bodyPr/>
                    <a:lstStyle/>
                    <a:p>
                      <a:pPr>
                        <a:defRPr sz="850">
                          <a:solidFill>
                            <a:srgbClr val="64748B"/>
                          </a:solidFill>
                        </a:defRPr>
                      </a:pPr>
                      <a:r>
                        <a:t>Builds the full-stack web application with App Router, server-rendered pages, and secure API routes.</a:t>
                      </a:r>
                    </a:p>
                  </a:txBody>
                  <a:tcPr>
                    <a:solidFill>
                      <a:srgbClr val="F8FAFC"/>
                    </a:solidFill>
                  </a:tcPr>
                </a:tc>
              </a:tr>
              <a:tr h="432261">
                <a:tc>
                  <a:txBody>
                    <a:bodyPr/>
                    <a:lstStyle/>
                    <a:p>
                      <a:pPr>
                        <a:defRPr sz="850" b="1">
                          <a:solidFill>
                            <a:srgbClr val="1E293B"/>
                          </a:solidFill>
                        </a:defRPr>
                      </a:pPr>
                      <a:r>
                        <a:t>React.js</a:t>
                      </a:r>
                    </a:p>
                  </a:txBody>
                  <a:tcPr>
                    <a:solidFill>
                      <a:srgbClr val="FFFFFF"/>
                    </a:solidFill>
                  </a:tcPr>
                </a:tc>
                <a:tc>
                  <a:txBody>
                    <a:bodyPr/>
                    <a:lstStyle/>
                    <a:p>
                      <a:pPr>
                        <a:defRPr sz="850">
                          <a:solidFill>
                            <a:srgbClr val="64748B"/>
                          </a:solidFill>
                        </a:defRPr>
                      </a:pPr>
                      <a:r>
                        <a:t>Creates the interactive user interface, including career catalogs, task boards, and workbench panels.</a:t>
                      </a:r>
                    </a:p>
                  </a:txBody>
                  <a:tcPr>
                    <a:solidFill>
                      <a:srgbClr val="FFFFFF"/>
                    </a:solidFill>
                  </a:tcPr>
                </a:tc>
              </a:tr>
              <a:tr h="432261">
                <a:tc>
                  <a:txBody>
                    <a:bodyPr/>
                    <a:lstStyle/>
                    <a:p>
                      <a:pPr>
                        <a:defRPr sz="850" b="1">
                          <a:solidFill>
                            <a:srgbClr val="1E293B"/>
                          </a:solidFill>
                        </a:defRPr>
                      </a:pPr>
                      <a:r>
                        <a:t>TypeScript</a:t>
                      </a:r>
                    </a:p>
                  </a:txBody>
                  <a:tcPr>
                    <a:solidFill>
                      <a:srgbClr val="F8FAFC"/>
                    </a:solidFill>
                  </a:tcPr>
                </a:tc>
                <a:tc>
                  <a:txBody>
                    <a:bodyPr/>
                    <a:lstStyle/>
                    <a:p>
                      <a:pPr>
                        <a:defRPr sz="850">
                          <a:solidFill>
                            <a:srgbClr val="64748B"/>
                          </a:solidFill>
                        </a:defRPr>
                      </a:pPr>
                      <a:r>
                        <a:t>Provides static type-checking across frontend components, API handlers, and backend business logic.</a:t>
                      </a:r>
                    </a:p>
                  </a:txBody>
                  <a:tcPr>
                    <a:solidFill>
                      <a:srgbClr val="F8FAFC"/>
                    </a:solidFill>
                  </a:tcPr>
                </a:tc>
              </a:tr>
              <a:tr h="432261">
                <a:tc>
                  <a:txBody>
                    <a:bodyPr/>
                    <a:lstStyle/>
                    <a:p>
                      <a:pPr>
                        <a:defRPr sz="850" b="1">
                          <a:solidFill>
                            <a:srgbClr val="1E293B"/>
                          </a:solidFill>
                        </a:defRPr>
                      </a:pPr>
                      <a:r>
                        <a:t>Tailwind CSS</a:t>
                      </a:r>
                    </a:p>
                  </a:txBody>
                  <a:tcPr>
                    <a:solidFill>
                      <a:srgbClr val="FFFFFF"/>
                    </a:solidFill>
                  </a:tcPr>
                </a:tc>
                <a:tc>
                  <a:txBody>
                    <a:bodyPr/>
                    <a:lstStyle/>
                    <a:p>
                      <a:pPr>
                        <a:defRPr sz="850">
                          <a:solidFill>
                            <a:srgbClr val="64748B"/>
                          </a:solidFill>
                        </a:defRPr>
                      </a:pPr>
                      <a:r>
                        <a:t>Provides responsive styling and modern layout components across all platform pages.</a:t>
                      </a:r>
                    </a:p>
                  </a:txBody>
                  <a:tcPr>
                    <a:solidFill>
                      <a:srgbClr val="FFFFFF"/>
                    </a:solidFill>
                  </a:tcPr>
                </a:tc>
              </a:tr>
              <a:tr h="432261">
                <a:tc>
                  <a:txBody>
                    <a:bodyPr/>
                    <a:lstStyle/>
                    <a:p>
                      <a:pPr>
                        <a:defRPr sz="850" b="1">
                          <a:solidFill>
                            <a:srgbClr val="1E293B"/>
                          </a:solidFill>
                        </a:defRPr>
                      </a:pPr>
                      <a:r>
                        <a:t>Prisma ORM</a:t>
                      </a:r>
                    </a:p>
                  </a:txBody>
                  <a:tcPr>
                    <a:solidFill>
                      <a:srgbClr val="F8FAFC"/>
                    </a:solidFill>
                  </a:tcPr>
                </a:tc>
                <a:tc>
                  <a:txBody>
                    <a:bodyPr/>
                    <a:lstStyle/>
                    <a:p>
                      <a:pPr>
                        <a:defRPr sz="850">
                          <a:solidFill>
                            <a:srgbClr val="64748B"/>
                          </a:solidFill>
                        </a:defRPr>
                      </a:pPr>
                      <a:r>
                        <a:t>Manages database queries and models 21 relational domain entities (users, companies, tasks, workspaces, portfolios).</a:t>
                      </a:r>
                    </a:p>
                  </a:txBody>
                  <a:tcPr>
                    <a:solidFill>
                      <a:srgbClr val="F8FAFC"/>
                    </a:solidFill>
                  </a:tcPr>
                </a:tc>
              </a:tr>
              <a:tr h="432261">
                <a:tc>
                  <a:txBody>
                    <a:bodyPr/>
                    <a:lstStyle/>
                    <a:p>
                      <a:pPr>
                        <a:defRPr sz="850" b="1">
                          <a:solidFill>
                            <a:srgbClr val="1E293B"/>
                          </a:solidFill>
                        </a:defRPr>
                      </a:pPr>
                      <a:r>
                        <a:t>PostgreSQL / SQLite</a:t>
                      </a:r>
                    </a:p>
                  </a:txBody>
                  <a:tcPr>
                    <a:solidFill>
                      <a:srgbClr val="FFFFFF"/>
                    </a:solidFill>
                  </a:tcPr>
                </a:tc>
                <a:tc>
                  <a:txBody>
                    <a:bodyPr/>
                    <a:lstStyle/>
                    <a:p>
                      <a:pPr>
                        <a:defRPr sz="850">
                          <a:solidFill>
                            <a:srgbClr val="64748B"/>
                          </a:solidFill>
                        </a:defRPr>
                      </a:pPr>
                      <a:r>
                        <a:t>Stores application data including user accounts, simulated company details, task tickets, and evaluation records.</a:t>
                      </a:r>
                    </a:p>
                  </a:txBody>
                  <a:tcPr>
                    <a:solidFill>
                      <a:srgbClr val="FFFFFF"/>
                    </a:solidFill>
                  </a:tcPr>
                </a:tc>
              </a:tr>
              <a:tr h="432261">
                <a:tc>
                  <a:txBody>
                    <a:bodyPr/>
                    <a:lstStyle/>
                    <a:p>
                      <a:pPr>
                        <a:defRPr sz="850" b="1">
                          <a:solidFill>
                            <a:srgbClr val="1E293B"/>
                          </a:solidFill>
                        </a:defRPr>
                      </a:pPr>
                      <a:r>
                        <a:t>Node.js Sandbox</a:t>
                      </a:r>
                    </a:p>
                  </a:txBody>
                  <a:tcPr>
                    <a:solidFill>
                      <a:srgbClr val="F8FAFC"/>
                    </a:solidFill>
                  </a:tcPr>
                </a:tc>
                <a:tc>
                  <a:txBody>
                    <a:bodyPr/>
                    <a:lstStyle/>
                    <a:p>
                      <a:pPr>
                        <a:defRPr sz="850">
                          <a:solidFill>
                            <a:srgbClr val="64748B"/>
                          </a:solidFill>
                        </a:defRPr>
                      </a:pPr>
                      <a:r>
                        <a:t>Runs student code safely in path-jailed workspaces with strict execution timeouts (4000ms) to protect the server.</a:t>
                      </a:r>
                    </a:p>
                  </a:txBody>
                  <a:tcPr>
                    <a:solidFill>
                      <a:srgbClr val="F8FAFC"/>
                    </a:solidFill>
                  </a:tcPr>
                </a:tc>
              </a:tr>
              <a:tr h="432261">
                <a:tc>
                  <a:txBody>
                    <a:bodyPr/>
                    <a:lstStyle/>
                    <a:p>
                      <a:pPr>
                        <a:defRPr sz="850" b="1">
                          <a:solidFill>
                            <a:srgbClr val="1E293B"/>
                          </a:solidFill>
                        </a:defRPr>
                      </a:pPr>
                      <a:r>
                        <a:t>Vitest</a:t>
                      </a:r>
                    </a:p>
                  </a:txBody>
                  <a:tcPr>
                    <a:solidFill>
                      <a:srgbClr val="FFFFFF"/>
                    </a:solidFill>
                  </a:tcPr>
                </a:tc>
                <a:tc>
                  <a:txBody>
                    <a:bodyPr/>
                    <a:lstStyle/>
                    <a:p>
                      <a:pPr>
                        <a:defRPr sz="850">
                          <a:solidFill>
                            <a:srgbClr val="64748B"/>
                          </a:solidFill>
                        </a:defRPr>
                      </a:pPr>
                      <a:r>
                        <a:t>Executes automated unit and integration tests inside the sandbox and checks student code against test assertions.</a:t>
                      </a:r>
                    </a:p>
                  </a:txBody>
                  <a:tcPr>
                    <a:solidFill>
                      <a:srgbClr val="FFFFFF"/>
                    </a:solidFill>
                  </a:tcPr>
                </a:tc>
              </a:tr>
              <a:tr h="432261">
                <a:tc>
                  <a:txBody>
                    <a:bodyPr/>
                    <a:lstStyle/>
                    <a:p>
                      <a:pPr>
                        <a:defRPr sz="850" b="1">
                          <a:solidFill>
                            <a:srgbClr val="1E293B"/>
                          </a:solidFill>
                        </a:defRPr>
                      </a:pPr>
                      <a:r>
                        <a:t>JWT (jose) &amp; Bcryptjs</a:t>
                      </a:r>
                    </a:p>
                  </a:txBody>
                  <a:tcPr>
                    <a:solidFill>
                      <a:srgbClr val="F8FAFC"/>
                    </a:solidFill>
                  </a:tcPr>
                </a:tc>
                <a:tc>
                  <a:txBody>
                    <a:bodyPr/>
                    <a:lstStyle/>
                    <a:p>
                      <a:pPr>
                        <a:defRPr sz="850">
                          <a:solidFill>
                            <a:srgbClr val="64748B"/>
                          </a:solidFill>
                        </a:defRPr>
                      </a:pPr>
                      <a:r>
                        <a:t>Handles user authentication with encrypted password hashing and secure HTTP-only session tokens.</a:t>
                      </a:r>
                    </a:p>
                  </a:txBody>
                  <a:tcPr>
                    <a:solidFill>
                      <a:srgbClr val="F8FAFC"/>
                    </a:solidFill>
                  </a:tcPr>
                </a:tc>
              </a:tr>
              <a:tr h="432270">
                <a:tc>
                  <a:txBody>
                    <a:bodyPr/>
                    <a:lstStyle/>
                    <a:p>
                      <a:pPr>
                        <a:defRPr sz="850" b="1">
                          <a:solidFill>
                            <a:srgbClr val="1E293B"/>
                          </a:solidFill>
                        </a:defRPr>
                      </a:pPr>
                      <a:r>
                        <a:t>Git Version Control</a:t>
                      </a:r>
                    </a:p>
                  </a:txBody>
                  <a:tcPr>
                    <a:solidFill>
                      <a:srgbClr val="FFFFFF"/>
                    </a:solidFill>
                  </a:tcPr>
                </a:tc>
                <a:tc>
                  <a:txBody>
                    <a:bodyPr/>
                    <a:lstStyle/>
                    <a:p>
                      <a:pPr>
                        <a:defRPr sz="850">
                          <a:solidFill>
                            <a:srgbClr val="64748B"/>
                          </a:solidFill>
                        </a:defRPr>
                      </a:pPr>
                      <a:r>
                        <a:t>Captures code changes (diffs), generates commit hashes, and tracks student progress.</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47472"/>
            <a:ext cx="73152"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
            <a:ext cx="7498079" cy="868680"/>
          </a:xfrm>
          <a:prstGeom prst="rect">
            <a:avLst/>
          </a:prstGeom>
          <a:noFill/>
        </p:spPr>
        <p:txBody>
          <a:bodyPr wrap="square" lIns="0" tIns="0" rIns="0" bIns="0">
            <a:spAutoFit/>
          </a:bodyPr>
          <a:lstStyle/>
          <a:p>
            <a:pPr>
              <a:defRPr sz="950" b="1">
                <a:solidFill>
                  <a:srgbClr val="2563EB"/>
                </a:solidFill>
              </a:defRPr>
            </a:pPr>
            <a:r>
              <a:t>CONCLUSION &amp; REVIEW</a:t>
            </a:r>
          </a:p>
          <a:p>
            <a:pPr>
              <a:defRPr sz="2000" b="1">
                <a:solidFill>
                  <a:srgbClr val="0F2942"/>
                </a:solidFill>
              </a:defRPr>
            </a:pPr>
            <a:r>
              <a:t>THANK YOU</a:t>
            </a:r>
          </a:p>
          <a:p>
            <a:pPr>
              <a:defRPr sz="1050">
                <a:solidFill>
                  <a:srgbClr val="64748B"/>
                </a:solidFill>
              </a:defRPr>
            </a:pPr>
            <a:r>
              <a:t>Major Project Review — Stage-I | Questions &amp; Discussion.</a:t>
            </a:r>
          </a:p>
        </p:txBody>
      </p:sp>
      <p:sp>
        <p:nvSpPr>
          <p:cNvPr id="5" name="Rounded Rectangle 4"/>
          <p:cNvSpPr/>
          <p:nvPr/>
        </p:nvSpPr>
        <p:spPr>
          <a:xfrm>
            <a:off x="8503920" y="384048"/>
            <a:ext cx="2953512" cy="38404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5F8A"/>
                </a:solidFill>
              </a:defRPr>
            </a:pPr>
            <a:r>
              <a:t>ACE Engineering College | CSE (IoT &amp; AI&amp;DS)</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320040"/>
          </a:xfrm>
          <a:prstGeom prst="rect">
            <a:avLst/>
          </a:prstGeom>
          <a:noFill/>
        </p:spPr>
        <p:txBody>
          <a:bodyPr wrap="none" lIns="0" tIns="0" rIns="0" bIns="0">
            <a:spAutoFit/>
          </a:bodyPr>
          <a:lstStyle/>
          <a:p>
            <a:r>
              <a:rPr sz="850">
                <a:solidFill>
                  <a:srgbClr val="64748B"/>
                </a:solidFill>
              </a:rPr>
              <a:t>17-09-2026  |  CSE (IoT &amp; AI&amp;DS)</a:t>
            </a:r>
            <a:r>
              <a:rPr sz="850" b="1">
                <a:solidFill>
                  <a:srgbClr val="0F2942"/>
                </a:solidFill>
              </a:rPr>
              <a:t>                                    WORKUP: Virtual Professional Experience Platform                                    </a:t>
            </a:r>
            <a:r>
              <a:rPr sz="850">
                <a:solidFill>
                  <a:srgbClr val="64748B"/>
                </a:solidFill>
              </a:rPr>
              <a:t>Slide 11 of 11</a:t>
            </a:r>
            <a:endParaRPr sz="850">
              <a:solidFill>
                <a:srgbClr val="64748B"/>
              </a:solidFill>
            </a:endParaRPr>
          </a:p>
        </p:txBody>
      </p:sp>
      <p:sp>
        <p:nvSpPr>
          <p:cNvPr id="8" name="Rounded Rectangle 7"/>
          <p:cNvSpPr/>
          <p:nvPr/>
        </p:nvSpPr>
        <p:spPr>
          <a:xfrm>
            <a:off x="731520" y="1325880"/>
            <a:ext cx="10728655" cy="4892040"/>
          </a:xfrm>
          <a:prstGeom prst="roundRect">
            <a:avLst/>
          </a:prstGeom>
          <a:solidFill>
            <a:srgbClr val="0F2942"/>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011680"/>
            <a:ext cx="9448495" cy="3474720"/>
          </a:xfrm>
          <a:prstGeom prst="rect">
            <a:avLst/>
          </a:prstGeom>
          <a:noFill/>
        </p:spPr>
        <p:txBody>
          <a:bodyPr wrap="square">
            <a:spAutoFit/>
          </a:bodyPr>
          <a:lstStyle/>
          <a:p>
            <a:pPr algn="ctr">
              <a:defRPr sz="3200" b="1">
                <a:solidFill>
                  <a:srgbClr val="FFFFFF"/>
                </a:solidFill>
              </a:defRPr>
            </a:pPr>
            <a:r>
              <a:t>THANK YOU!</a:t>
            </a:r>
          </a:p>
          <a:p>
            <a:pPr algn="ctr">
              <a:spcBef>
                <a:spcPts val="1600"/>
              </a:spcBef>
              <a:defRPr sz="1300">
                <a:solidFill>
                  <a:srgbClr val="BFDBFE"/>
                </a:solidFill>
              </a:defRPr>
            </a:pPr>
            <a:r>
              <a:t>Special thanks to our Project Guide Mr. V. Veeresh, Head of Department Dr. M. V. Vijaya Saradhi, and the Department Review Committee.</a:t>
            </a:r>
          </a:p>
          <a:p>
            <a:pPr algn="ctr">
              <a:spcBef>
                <a:spcPts val="800"/>
              </a:spcBef>
              <a:defRPr sz="1100">
                <a:solidFill>
                  <a:srgbClr val="94A3B8"/>
                </a:solidFill>
              </a:defRPr>
            </a:pPr>
            <a:r>
              <a:t>Department of Computer Science &amp; Engineering (IoT &amp; AI&amp;DS), ACE Engineering College.</a:t>
            </a:r>
          </a:p>
          <a:p>
            <a:pPr algn="ctr">
              <a:spcBef>
                <a:spcPts val="2400"/>
              </a:spcBef>
              <a:defRPr sz="1400" b="1">
                <a:solidFill>
                  <a:srgbClr val="E2E8F0"/>
                </a:solidFill>
              </a:defRPr>
            </a:pPr>
            <a:r>
              <a:t>We welcome your valuable feedback and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14437</Words>
  <Application>WPS Presentation</Application>
  <PresentationFormat>On-screen Show (4:3)</PresentationFormat>
  <Paragraphs>246</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Arial</vt:lpstr>
      <vt:lpstr>Calibri</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Mruthyunjaya</cp:lastModifiedBy>
  <cp:revision>2</cp:revision>
  <dcterms:created xsi:type="dcterms:W3CDTF">2013-01-27T09:14:00Z</dcterms:created>
  <dcterms:modified xsi:type="dcterms:W3CDTF">2026-10-27T05:53:10Z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B0A203EFAF2242119388E08FF4F74208_12</vt:lpwstr>
  </property>
</Properties>
</file>