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ACE ENGINEERING COLLEGE (AN AUTONOMOUS INSTITUTION)</a:t>
            </a:r>
          </a:p>
          <a:p>
            <a:pPr algn="ctr">
              <a:defRPr sz="1200" b="1">
                <a:solidFill>
                  <a:srgbClr val="BFDBFE"/>
                </a:solidFill>
              </a:defRPr>
            </a:pPr>
            <a:r>
              <a:t>Department of Computer Science &amp; Engineering (Artificial Intelligence &amp; Data Science)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Accredited by NAAC with 'A' Grade  |  Approved by AICTE, New Delhi  |  Affiliated to JNTUH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00200"/>
            <a:ext cx="3596335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MAJOR PROJECT REVIEW — STAGE-I (PHASE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9997135" cy="1737360"/>
          </a:xfrm>
          <a:prstGeom prst="roundRect">
            <a:avLst/>
          </a:prstGeom>
          <a:solidFill>
            <a:srgbClr val="183153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240280"/>
            <a:ext cx="96313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WORKUP: Virtual Professional Experience Platform</a:t>
            </a:r>
          </a:p>
          <a:p>
            <a:pPr algn="ctr">
              <a:defRPr sz="1200" i="1">
                <a:solidFill>
                  <a:srgbClr val="E2E8F0"/>
                </a:solidFill>
              </a:defRPr>
            </a:pPr>
            <a:r>
              <a:t>A Containerized Simulation Environment for Situated Software Engineering Education,</a:t>
            </a:r>
            <a:br/>
            <a:r>
              <a:t>Authentic Team Workflows, and Cryptographically Verifiable Skill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069080"/>
            <a:ext cx="9997135" cy="2103120"/>
          </a:xfrm>
          <a:prstGeom prst="roundRect">
            <a:avLst/>
          </a:prstGeom>
          <a:solidFill>
            <a:srgbClr val="0F20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PRESENTED BY (BATCH NO: 05):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 Mashetty Rohith  (23AG1A7236)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 Chintam Archana  (23AG1A7214)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 Namasi Aravind  (24AG5A7205)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B.Tech Final Year, Dept. of CSE (AI &amp; 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UNDER THE GUIDANCE OF: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Mrs. P. Swaroopa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Assistant Professor, Dept. of CSE (AI &amp; DS)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Dr. M. V. Vijaya Saradhi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Professor &amp; Head of Department, CSE (AI &amp; DS)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Date: October 2026  |  Academic Year: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EXECUTIVE SUMMARY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Abstract: Bridging Theory and Practical Engineering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Transitioning learners from passive concept absorption to active virtual workplace apprenticeship.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2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00200"/>
            <a:ext cx="164592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942"/>
                </a:solidFill>
              </a:defRPr>
            </a:pPr>
            <a:r>
              <a:t>The Transition Deficit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•  Academic Disconnect: </a:t>
            </a:r>
            <a:r>
              <a:rPr sz="950">
                <a:solidFill>
                  <a:srgbClr val="64748B"/>
                </a:solidFill>
              </a:rPr>
              <a:t>Computer science curricula focus on isolated algorithmic syntax and clean-slate toy assignments.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•  Corporate Realities: </a:t>
            </a:r>
            <a:r>
              <a:rPr sz="950">
                <a:solidFill>
                  <a:srgbClr val="64748B"/>
                </a:solidFill>
              </a:rPr>
              <a:t>Fresh graduates face complex multi-file legacy repositories, Architecture Decision Records (ADRs), and technical debt.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•  Lack of Tooling: </a:t>
            </a:r>
            <a:r>
              <a:rPr sz="950">
                <a:solidFill>
                  <a:srgbClr val="64748B"/>
                </a:solidFill>
              </a:rPr>
              <a:t>Students rarely interact with Jira-style task backlogs, CI/CD pipelines, or line-level pull request (PR) reviews.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1E293B"/>
                </a:solidFill>
              </a:rPr>
              <a:t>•  Resume Inflatability: </a:t>
            </a:r>
            <a:r>
              <a:rPr sz="950">
                <a:solidFill>
                  <a:srgbClr val="64748B"/>
                </a:solidFill>
              </a:rPr>
              <a:t>Self-reported CV skills fail to provide employers with verifiable proof of hands-on competence.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4296" y="1600200"/>
            <a:ext cx="164592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942"/>
                </a:solidFill>
              </a:defRPr>
            </a:pPr>
            <a:r>
              <a:t>The WORKUP Platform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Simulated Enterprises: </a:t>
            </a:r>
            <a:r>
              <a:rPr sz="950">
                <a:solidFill>
                  <a:srgbClr val="64748B"/>
                </a:solidFill>
              </a:rPr>
              <a:t>Learners enter simulated tech companies (e.g., FinFlow Technologies) and take on authentic engineering roles.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DAG Simulation Engine: </a:t>
            </a:r>
            <a:r>
              <a:rPr sz="950">
                <a:solidFill>
                  <a:srgbClr val="64748B"/>
                </a:solidFill>
              </a:rPr>
              <a:t>Structured business problems with prerequisite dependencies and acceptance criteria.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Ephemeral Sandboxes: </a:t>
            </a:r>
            <a:r>
              <a:rPr sz="950">
                <a:solidFill>
                  <a:srgbClr val="64748B"/>
                </a:solidFill>
              </a:rPr>
              <a:t>Zero-setup in-browser cloud workspaces with isolated process execution and automated test runners.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AI Tech Lead Reviewer: </a:t>
            </a:r>
            <a:r>
              <a:rPr sz="950">
                <a:solidFill>
                  <a:srgbClr val="64748B"/>
                </a:solidFill>
              </a:rPr>
              <a:t>Line-anchored, rubric-based feedback on pull request diffs simulating senior code reviews.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Evidence-of-Skill Dossier: </a:t>
            </a:r>
            <a:r>
              <a:rPr sz="950">
                <a:solidFill>
                  <a:srgbClr val="64748B"/>
                </a:solidFill>
              </a:rPr>
              <a:t>Cryptographically verifiable portfolio backed by Git commit SHAs and rubric scorecards.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1600200"/>
            <a:ext cx="1645920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STAGE-I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942"/>
                </a:solidFill>
              </a:defRPr>
            </a:pPr>
            <a:r>
              <a:t>Verified Implementation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Modern Tech Stack: </a:t>
            </a:r>
            <a:r>
              <a:rPr sz="950">
                <a:solidFill>
                  <a:srgbClr val="64748B"/>
                </a:solidFill>
              </a:rPr>
              <a:t>Next.js 14 App Router, React 18, TypeScript, Tailwind CSS, Prisma ORM 5.x, SQLite/PostgreSQL.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21 Domain Entities: </a:t>
            </a:r>
            <a:r>
              <a:rPr sz="950">
                <a:solidFill>
                  <a:srgbClr val="64748B"/>
                </a:solidFill>
              </a:rPr>
              <a:t>Complete relational schema modeling users, simulations, tasks, workspaces, and verifiable portfolios.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4-Tier Security: </a:t>
            </a:r>
            <a:r>
              <a:rPr sz="950">
                <a:solidFill>
                  <a:srgbClr val="64748B"/>
                </a:solidFill>
              </a:rPr>
              <a:t>Bcryptjs password hashing, signed jose JWT session cookies, and strict Role-Based Access Control.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100% Test Pass Rate: </a:t>
            </a:r>
            <a:r>
              <a:rPr sz="950">
                <a:solidFill>
                  <a:srgbClr val="64748B"/>
                </a:solidFill>
              </a:rPr>
              <a:t>34 automated unit &amp; integration tests passing across 8 Vitest suites verifying process jailing and DAG logic.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E293B"/>
                </a:solidFill>
              </a:rPr>
              <a:t>•  Stage-II Roadmap: </a:t>
            </a:r>
            <a:r>
              <a:rPr sz="950">
                <a:solidFill>
                  <a:srgbClr val="64748B"/>
                </a:solidFill>
              </a:rPr>
              <a:t>Containerized Kubernetes pods, multi-turn LLM code reviewer, and MLOps/DevOps/Cyber tracks.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PROBLEM IDENTIFICATION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The Industry-Academia Transition Gap in Software Engineering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Evaluating the fundamental structural disconnect between classroom coding and professional development.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3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00200"/>
            <a:ext cx="219456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THE 4 CORE DEFICITS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2942"/>
                </a:solidFill>
              </a:rPr>
              <a:t>1. The Clean-Slate Fallacy: </a:t>
            </a:r>
            <a:r>
              <a:rPr sz="950">
                <a:solidFill>
                  <a:srgbClr val="1E293B"/>
                </a:solidFill>
              </a:rPr>
              <a:t>Academic assignments invariably begin from empty scratch files (`main.py`). In contrast, 90% of corporate engineering entails navigating, debugging, and refactoring large pre-existing legacy codebases with technical debt.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2942"/>
                </a:solidFill>
              </a:rPr>
              <a:t>2. Absence of Architectural Context: </a:t>
            </a:r>
            <a:r>
              <a:rPr sz="950">
                <a:solidFill>
                  <a:srgbClr val="1E293B"/>
                </a:solidFill>
              </a:rPr>
              <a:t>Students receive artificial algorithmic prompts lacking business rationale, Architectural Decision Records (ADRs), API contracts, or real-world operational constraints.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2942"/>
                </a:solidFill>
              </a:rPr>
              <a:t>3. Missing Collaborative PR Review Loops: </a:t>
            </a:r>
            <a:r>
              <a:rPr sz="950">
                <a:solidFill>
                  <a:srgbClr val="1E293B"/>
                </a:solidFill>
              </a:rPr>
              <a:t>Conventional coursework relies on binary pass/fail autograders. Students never experience line-level code reviews, mentor critiques, or iterative pull request refactoring.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0F2942"/>
                </a:solidFill>
              </a:rPr>
              <a:t>4. Resume Inflatability &amp; Skill Obfuscation: </a:t>
            </a:r>
            <a:r>
              <a:rPr sz="950">
                <a:solidFill>
                  <a:srgbClr val="1E293B"/>
                </a:solidFill>
              </a:rPr>
              <a:t>Recruiters and hiring managers cannot distinguish between genuine practical competence and memorized syntax from self-reported bullet points on student resumes.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496793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20840" y="1600200"/>
            <a:ext cx="256032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PARADIGM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011680"/>
            <a:ext cx="45107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Classroom vs. Corporate Reality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75120" y="2377440"/>
          <a:ext cx="460217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600200"/>
                <a:gridCol w="1721815"/>
              </a:tblGrid>
              <a:tr h="496388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Academic Coursework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Corporate Reality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Project Scope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Single isolated script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Multi-package distributed repo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Problem Statement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Toy algorithmic puzzle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Customer churn / payment deadlock ticket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Architectural Rules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Zero constraints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Strict ADRs, linting, &amp; security gates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Testing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Hidden unit test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In-sandbox Vitest suite &amp; local edge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Evaluation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Pass/Fail percentage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Detailed line-by-line pull request review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1E293B"/>
                          </a:solidFill>
                        </a:defRPr>
                      </a:pPr>
                      <a:r>
                        <a:t>Outcome Artifact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Local course 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1E5F8A"/>
                          </a:solidFill>
                        </a:defRPr>
                      </a:pPr>
                      <a:r>
                        <a:t>Tamper-evident Git commit SHA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MOTIVATION &amp; NEED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Why Tutorials and Toy Coding Fail to Produce Engineers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Grounding WORKUP in educational learning theories and real-world apprenticeship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4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00200"/>
            <a:ext cx="20116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LEARNING THEORY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942"/>
                </a:solidFill>
              </a:defRPr>
            </a:pPr>
            <a:r>
              <a:t>David Kolb's Model (1984)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293B"/>
                </a:solidFill>
              </a:rPr>
              <a:t>•  Concrete Experience: </a:t>
            </a:r>
            <a:r>
              <a:rPr sz="900">
                <a:solidFill>
                  <a:srgbClr val="64748B"/>
                </a:solidFill>
              </a:rPr>
              <a:t>Learners enter a live codebase to encounter authentic bugs and system bottlenecks.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293B"/>
                </a:solidFill>
              </a:rPr>
              <a:t>•  Reflective Observation: </a:t>
            </a:r>
            <a:r>
              <a:rPr sz="900">
                <a:solidFill>
                  <a:srgbClr val="64748B"/>
                </a:solidFill>
              </a:rPr>
              <a:t>Examining test failures, execution traces, and architectural ADR guidelines.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293B"/>
                </a:solidFill>
              </a:rPr>
              <a:t>•  Abstract Conceptualization: </a:t>
            </a:r>
            <a:r>
              <a:rPr sz="900">
                <a:solidFill>
                  <a:srgbClr val="64748B"/>
                </a:solidFill>
              </a:rPr>
              <a:t>Synthesizing design patterns (e.g., idempotency keys, mutex locks) to solve problems.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293B"/>
                </a:solidFill>
              </a:rPr>
              <a:t>•  Active Experimentation: </a:t>
            </a:r>
            <a:r>
              <a:rPr sz="900">
                <a:solidFill>
                  <a:srgbClr val="64748B"/>
                </a:solidFill>
              </a:rPr>
              <a:t>Implementing code changes and testing in isolated sandboxes to observe live results.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1E293B"/>
                </a:solidFill>
              </a:rPr>
              <a:t>•  Pedagogical Implication: </a:t>
            </a:r>
            <a:r>
              <a:rPr sz="900">
                <a:solidFill>
                  <a:srgbClr val="64748B"/>
                </a:solidFill>
              </a:rPr>
              <a:t>Theoretical lectures satisfy only 25% of Kolb's cycle. WORKUP fulfills the entire 4-stage experiential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4296" y="1600200"/>
            <a:ext cx="2011680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SITUATED COGNITION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942"/>
                </a:solidFill>
              </a:defRPr>
            </a:pPr>
            <a:r>
              <a:t>Lave &amp; Wenger (1991)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Communities of Practice: </a:t>
            </a:r>
            <a:r>
              <a:rPr sz="900">
                <a:solidFill>
                  <a:srgbClr val="64748B"/>
                </a:solidFill>
              </a:rPr>
              <a:t>Professional competence is acquired by participating in authentic cultural practices of an engineering discipline.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Legitimate Peripheral Participation: </a:t>
            </a:r>
            <a:r>
              <a:rPr sz="900">
                <a:solidFill>
                  <a:srgbClr val="64748B"/>
                </a:solidFill>
              </a:rPr>
              <a:t>Beginners start with bounded, low-risk engineering tasks (e.g., bug hotfixes, refactoring) before tackling system architecture.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Professional Tool Adoption: </a:t>
            </a:r>
            <a:r>
              <a:rPr sz="900">
                <a:solidFill>
                  <a:srgbClr val="64748B"/>
                </a:solidFill>
              </a:rPr>
              <a:t>Working with actual terminal CLIs, Git commit trees, linter configs, and test harnesses.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Overcoming MOOC Isolation: </a:t>
            </a:r>
            <a:r>
              <a:rPr sz="900">
                <a:solidFill>
                  <a:srgbClr val="64748B"/>
                </a:solidFill>
              </a:rPr>
              <a:t>Video-based learning isolates the student; WORKUP embeds the student within a simulated enterprise engineering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1600200"/>
            <a:ext cx="2011680" cy="29260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SCALABLE MENTORSHIP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2942"/>
                </a:solidFill>
              </a:defRPr>
            </a:pPr>
            <a:r>
              <a:t>The Scale Dilemma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High Student-Faculty Ratios: </a:t>
            </a:r>
            <a:r>
              <a:rPr sz="900">
                <a:solidFill>
                  <a:srgbClr val="64748B"/>
                </a:solidFill>
              </a:rPr>
              <a:t>Colleges face 60:1 or 100:1 ratios, making individual code reviews and personalized mentoring impossible.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Corporate Internship Shortage: </a:t>
            </a:r>
            <a:r>
              <a:rPr sz="900">
                <a:solidFill>
                  <a:srgbClr val="64748B"/>
                </a:solidFill>
              </a:rPr>
              <a:t>Less than 15% of engineering graduates secure meaningful corporate internships with senior mentorship.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The AI Tech Lead Solution: </a:t>
            </a:r>
            <a:r>
              <a:rPr sz="900">
                <a:solidFill>
                  <a:srgbClr val="64748B"/>
                </a:solidFill>
              </a:rPr>
              <a:t>WORKUP bridges this scalability gap by automating senior code reviews using deterministic test harnesses and AI PR reviewers.</a:t>
            </a:r>
          </a:p>
          <a:p>
            <a:pPr>
              <a:spcBef>
                <a:spcPts val="700"/>
              </a:spcBef>
            </a:pPr>
            <a:r>
              <a:rPr b="1" sz="950">
                <a:solidFill>
                  <a:srgbClr val="1E293B"/>
                </a:solidFill>
              </a:rPr>
              <a:t>•  Continuous Deliberate Practice: </a:t>
            </a:r>
            <a:r>
              <a:rPr sz="900">
                <a:solidFill>
                  <a:srgbClr val="64748B"/>
                </a:solidFill>
              </a:rPr>
              <a:t>Students receive instant, iterative, non-judgmental critique at any hour without burning human mentor capacity.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OBJECTIVES &amp; SCOPE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Project Objectives and Stage-I Engineering Scope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Clear demarcation of verified Stage-I deliverables versus planned Stage-II platform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5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00200"/>
            <a:ext cx="2011680" cy="292608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CORE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2942"/>
                </a:solidFill>
              </a:rPr>
              <a:t>Obj 1: Multi-Tenant Enterprise Simulator: </a:t>
            </a:r>
            <a:r>
              <a:rPr sz="900">
                <a:solidFill>
                  <a:srgbClr val="1E293B"/>
                </a:solidFill>
              </a:rPr>
              <a:t>Architect and implement an authentic simulation engine modeling tech companies, role tracks, sprint phases, and DAG-ordered task tickets.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2942"/>
                </a:solidFill>
              </a:rPr>
              <a:t>Obj 2: Ephemeral Sandbox Orchestrator: </a:t>
            </a:r>
            <a:r>
              <a:rPr sz="900">
                <a:solidFill>
                  <a:srgbClr val="1E293B"/>
                </a:solidFill>
              </a:rPr>
              <a:t>Develop a path-jailed, isolated execution environment with strict resource limits (max 2 workspaces/user, 4000ms command timeout, 30m idle sweep).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2942"/>
                </a:solidFill>
              </a:rPr>
              <a:t>Obj 3: Automated In-Situ Test Harness: </a:t>
            </a:r>
            <a:r>
              <a:rPr sz="900">
                <a:solidFill>
                  <a:srgbClr val="1E293B"/>
                </a:solidFill>
              </a:rPr>
              <a:t>Integrate automated test runners (Vitest) allowing learners to run unit and integration tests locally inside their sandbox before submission.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2942"/>
                </a:solidFill>
              </a:rPr>
              <a:t>Obj 4: Rubric Evaluation &amp; Code Review: </a:t>
            </a:r>
            <a:r>
              <a:rPr sz="900">
                <a:solidFill>
                  <a:srgbClr val="1E293B"/>
                </a:solidFill>
              </a:rPr>
              <a:t>Build a multi-tier evaluation system providing line-level diff analysis, rubric scoring (0–100), and automated PR feedback.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0F2942"/>
                </a:solidFill>
              </a:rPr>
              <a:t>Obj 5: Verifiable Evidence Dossier: </a:t>
            </a:r>
            <a:r>
              <a:rPr sz="900">
                <a:solidFill>
                  <a:srgbClr val="1E293B"/>
                </a:solidFill>
              </a:rPr>
              <a:t>Generate an immutable portfolio record capturing exact Git commit SHAs, test outputs, and rubric scores for recruiter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00200"/>
            <a:ext cx="2194560" cy="29260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SCOPE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7850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In-Scope: Verified Stage-I Deliverables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Full-stack Next.js 14 App Router, React 18, TypeScript, Tailwind CSS.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Prisma ORM 5.x with 21 relational domain models on SQLite.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4-Tier RBAC (Student, Content Author, Reviewer, Administrator).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Flagship Software Engineering Track (FinFlow Tech: Payment Webhooks &amp; Idempotency).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Local Isolated Sandbox Provider with hard timeouts &amp; process jailing.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✔  Comprehensive Vitest test suite with 34 tests across 8 suites (100% passing).</a:t>
            </a:r>
          </a:p>
          <a:p>
            <a:pPr>
              <a:spcBef>
                <a:spcPts val="1000"/>
              </a:spcBef>
              <a:defRPr sz="1200" b="1">
                <a:solidFill>
                  <a:srgbClr val="D97706"/>
                </a:solidFill>
              </a:defRPr>
            </a:pPr>
            <a:r>
              <a:t>Planned Scope: Stage-II Platform Enhancements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➜  Distributed Kubernetes container pods with gVisor kernel sandboxing.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➜  Multi-turn LLM AI Tech Lead Reviewer with line-anchored PR comments.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➜  Multi-domain catalog expansion (MLOps, Cloud/DevOps, Cybersecurity, Data Eng).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➜  Multi-player simulated teams &amp; live incident response simulations.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➜  Cryptographically signed, publicly verifiable recruiter dossiers.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STATE OF THE ART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Analysis of Existing Learning &amp; Training Systems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Evaluating current educational paradigms, developer tools, and job simulation platforms.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6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54480"/>
            <a:ext cx="201168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ALGORITHMIC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942"/>
                </a:solidFill>
              </a:defRPr>
            </a:pPr>
            <a:r>
              <a:t>LeetCode, HackerRank, Codeforces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Strengths: </a:t>
            </a:r>
            <a:r>
              <a:rPr sz="850">
                <a:solidFill>
                  <a:srgbClr val="64748B"/>
                </a:solidFill>
              </a:rPr>
              <a:t>Outstanding for data structures, algorithm efficiency, and syntax mastery.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Limitations: </a:t>
            </a:r>
            <a:r>
              <a:rPr sz="850">
                <a:solidFill>
                  <a:srgbClr val="64748B"/>
                </a:solidFill>
              </a:rPr>
              <a:t>Operates on single isolated functions; zero exposure to architecture, legacy codebases, ADRs, Git workflows, or team pull request reviews.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Impact: </a:t>
            </a:r>
            <a:r>
              <a:rPr sz="850">
                <a:solidFill>
                  <a:srgbClr val="64748B"/>
                </a:solidFill>
              </a:rPr>
              <a:t>Produces graduates who can invert a binary tree but cannot resolve a merge conflict or debug an API webhook.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554480"/>
            <a:ext cx="201168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VIDEO-BASED MOOCS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942"/>
                </a:solidFill>
              </a:defRPr>
            </a:pPr>
            <a:r>
              <a:t>Coursera, Udemy, edX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Strengths: </a:t>
            </a:r>
            <a:r>
              <a:rPr sz="850">
                <a:solidFill>
                  <a:srgbClr val="64748B"/>
                </a:solidFill>
              </a:rPr>
              <a:t>High accessibility, broad conceptual coverage, and scalable broadcast lectures.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Limitations: </a:t>
            </a:r>
            <a:r>
              <a:rPr sz="850">
                <a:solidFill>
                  <a:srgbClr val="64748B"/>
                </a:solidFill>
              </a:rPr>
              <a:t>Passive spectator learning with &lt;10% completion rate. Exercises are synthetic clean-slate toys graded by trivial string matchers.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Impact: </a:t>
            </a:r>
            <a:r>
              <a:rPr sz="850">
                <a:solidFill>
                  <a:srgbClr val="64748B"/>
                </a:solidFill>
              </a:rPr>
              <a:t>Creates the illusion of competence ('tutorial hell') without imparting real troubleshooting resilience.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23360"/>
            <a:ext cx="20116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VIRTUAL JOB SIMULATIONS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942"/>
                </a:solidFill>
              </a:defRPr>
            </a:pPr>
            <a:r>
              <a:t>Forage (formerly InsideSherpa)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Strengths: </a:t>
            </a:r>
            <a:r>
              <a:rPr sz="850">
                <a:solidFill>
                  <a:srgbClr val="64748B"/>
                </a:solidFill>
              </a:rPr>
              <a:t>Excellent enterprise branding and high-level corporate scenario framing.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Limitations: </a:t>
            </a:r>
            <a:r>
              <a:rPr sz="850">
                <a:solidFill>
                  <a:srgbClr val="64748B"/>
                </a:solidFill>
              </a:rPr>
              <a:t>Submissions are static file uploads (PDFs, PPTs). Completely lacks live code execution, cloud sandboxes, automated testing, and line-level code reviews.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Impact: </a:t>
            </a:r>
            <a:r>
              <a:rPr sz="850">
                <a:solidFill>
                  <a:srgbClr val="64748B"/>
                </a:solidFill>
              </a:rPr>
              <a:t>Serves as an exploratory marketing/overview tool rather than a technical software engineering workbench.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023360"/>
            <a:ext cx="2011680" cy="27432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CLOUD WORKSPACES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942"/>
                </a:solidFill>
              </a:defRPr>
            </a:pPr>
            <a:r>
              <a:t>GitHub Codespaces, Gitpod, Replit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Strengths: </a:t>
            </a:r>
            <a:r>
              <a:rPr sz="850">
                <a:solidFill>
                  <a:srgbClr val="64748B"/>
                </a:solidFill>
              </a:rPr>
              <a:t>Full browser IDEs with containers, terminals, port forwarding, and pre-configured extensions.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Limitations: </a:t>
            </a:r>
            <a:r>
              <a:rPr sz="850">
                <a:solidFill>
                  <a:srgbClr val="64748B"/>
                </a:solidFill>
              </a:rPr>
              <a:t>Pure compute infrastructure with zero pedagogical layer. No simulated enterprise context, no task DAGs, no business ADRs, and no review rubrics.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Impact: </a:t>
            </a:r>
            <a:r>
              <a:rPr sz="850">
                <a:solidFill>
                  <a:srgbClr val="64748B"/>
                </a:solidFill>
              </a:rPr>
              <a:t>Requires the learner or educator to assemble, design, and manage the entire curriculum independently.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LITERATURE SURVEY | PART 1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Educational SE Simulation &amp; Graduate Skill Deficits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Analyzing empirical foundations of software engineering simulation games and industry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7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228600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SE SIMULATION ENVIRONMENTS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Comprehensive Evaluation of an Educational Software Engineering Simulation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E. Navarro &amp; A. van der Hoek (2007)</a:t>
            </a:r>
            <a:br/>
            <a:r>
              <a:t>IEEE Trans. Softw. Eng., Vol. 33, No. 6, pp. 409–425</a:t>
            </a:r>
            <a:br/>
            <a:r>
              <a:t>2007  |  DOI: 10.1109/TSE.2007.70723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Presents 'SimSE', an interactive graphical simulation environment modeling software process lifecycles (Waterfall, Agile, XP). Demonstrates that active participatory simulation enables students to discover non-obvious engineering trade-offs (e.g., technical debt, team communication latency) far more effectively than static lectures.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Validates WORKUP's simulation engine modeling virtual companies, sprint backlogs, and multi-role engineering team dynamics.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554480"/>
            <a:ext cx="2286000" cy="25603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GRADUATE SKILL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Gaps Between Industry Expectations &amp; University Preparation in Software Eng.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A. Radermacher &amp; G. Walia (2013)</a:t>
            </a:r>
            <a:br/>
            <a:r>
              <a:t>Proc. 44th ACM Technical Symposium on CS Education (SIGCSE)</a:t>
            </a:r>
            <a:br/>
            <a:r>
              <a:t>2013  |  DOI: 10.1145/2445196.2445353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Conducted an extensive empirical survey across 50+ technology companies. Identified that new graduates face severe skill deficits in navigating large legacy codebases, writing integration tests, utilizing issue tracking tickets, and participating in peer code reviews.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Directly guides WORKUP's pedagogical focus on legacy codebase refactoring, Jira-style task tickets, and PR code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554480"/>
            <a:ext cx="228600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AGILE TEAM ETHNOGRAPHY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An Ethnographic Study of Agile Software Development in Practice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H. Sharp &amp; P. Hall (2009)</a:t>
            </a:r>
            <a:br/>
            <a:r>
              <a:t>ACM Trans. Software Engineering &amp; Methodology (TOSEM)</a:t>
            </a:r>
            <a:br/>
            <a:r>
              <a:t>2009  |  DOI: 10.1145/1538942.1538944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Investigates real-world Agile engineering team behavior over 24 months. Establishes that professional engineering is fundamentally ticket-driven, artifact-anchored, and social—revolving around standups, architectural constraints, and pull request critique.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Informs WORKUP's simulation interface featuring architectural ADRs, sprint phases, and simulated senior engineering team members.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LITERATURE SURVEY | PART 2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Cloud Workspaces &amp; AI-Assisted Code Review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Research into isolated execution environments, generative AI in education, and testing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8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54480"/>
            <a:ext cx="228600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LIGHTWEIGHT CONTAINERIZATION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Lightweight Container Isolation for Computing Education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N. Kratzke (2018)</a:t>
            </a:r>
            <a:br/>
            <a:r>
              <a:t>IEEE Transactions on Education, Vol. 61, No. 2, pp. 127–134</a:t>
            </a:r>
            <a:br/>
            <a:r>
              <a:t>2018  |  DOI: 10.1109/TE.2017.2768560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Evaluates containerized execution architectures for computing lab assignments. Shows that browser-accessible ephemeral containers eliminate operating-system configuration friction, enforce strict CPU/RAM limits, and prevent malicious local path escapes.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Provides the blueprint for WORKUP's `IsolatedSandboxProvider`, enforcing process jailing, 4000ms timeouts, and concurrency caps.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1554480"/>
            <a:ext cx="228600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FORMATIVE AI CODE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Experiences with Generative AI in Computing Education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S. MacNeil et al. (2023)</a:t>
            </a:r>
            <a:br/>
            <a:r>
              <a:t>Proc. 2023 ACM Conf. on Innovation &amp; Technology in CS Education (ITiCSE)</a:t>
            </a:r>
            <a:br/>
            <a:r>
              <a:t>2023  |  DOI: 10.1145/3587102.3588797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Examines LLMs providing real-time code explanations, error remediation, and code critique. Finds that line-level formative feedback anchored to specific code diffs dramatically accelerates student debugging skills compared to generic error summaries.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Validates WORKUP's AI Tech Lead Reviewer providing structured, line-by-line pull request critique against engineering rubrics.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02752" y="1554480"/>
            <a:ext cx="2286000" cy="256032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TESTING DEFICIT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874520"/>
            <a:ext cx="2962656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2942"/>
                </a:solidFill>
              </a:defRPr>
            </a:pPr>
            <a:r>
              <a:t>The Industry-Academia Testing Gap: Why Students Struggle with Verification</a:t>
            </a:r>
          </a:p>
          <a:p>
            <a:pPr>
              <a:defRPr sz="800" i="1">
                <a:solidFill>
                  <a:srgbClr val="64748B"/>
                </a:solidFill>
              </a:defRPr>
            </a:pPr>
            <a:r>
              <a:t>V. Garousi, M. Felderer, &amp; M. V. Mäntylä (2018)</a:t>
            </a:r>
            <a:br/>
            <a:r>
              <a:t>IEEE Software, Vol. 35, No. 5, pp. 68–73</a:t>
            </a:r>
            <a:br/>
            <a:r>
              <a:t>2018  |  DOI: 10.1109/MS.2017.4471545</a:t>
            </a:r>
          </a:p>
          <a:p>
            <a:pPr>
              <a:spcBef>
                <a:spcPts val="600"/>
              </a:spcBef>
              <a:defRPr sz="900" b="1">
                <a:solidFill>
                  <a:srgbClr val="1E293B"/>
                </a:solidFill>
              </a:defRPr>
            </a:pPr>
            <a:r>
              <a:t>Summary &amp; Findings: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Analyzes software testing instruction across 100+ universities. Reveals that curricula treat testing as an afterthought; students are rarely taught to run test suites locally, write edge assertions, or maintain CI pipeline green states.</a:t>
            </a:r>
          </a:p>
          <a:p>
            <a:pPr>
              <a:spcBef>
                <a:spcPts val="600"/>
              </a:spcBef>
              <a:defRPr sz="900" b="1">
                <a:solidFill>
                  <a:srgbClr val="2563EB"/>
                </a:solidFill>
              </a:defRPr>
            </a:pPr>
            <a:r>
              <a:t>Purpose / Relevance to WORKUP: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Directly justifies WORKUP's workbench architecture requiring in-sandbox automated test execution (Vitest) prior to PR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COMPARATIVE ANALYSIS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Platform Comparison Matrix &amp; Identified Research Gaps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Evaluating WORKUP against commercial platforms and crystallizing the unresolved literature gaps.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9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71600"/>
          <a:ext cx="1054577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175"/>
                <a:gridCol w="1645920"/>
                <a:gridCol w="1645920"/>
                <a:gridCol w="1645920"/>
                <a:gridCol w="1645920"/>
                <a:gridCol w="164592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Key Capability Dimension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LeetCode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Coursera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Forage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Codespaces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WORKUP (Ours)</a:t>
                      </a:r>
                    </a:p>
                  </a:txBody>
                  <a:tcPr>
                    <a:solidFill>
                      <a:srgbClr val="1E5F8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Multi-File Legacy Repositories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(Single Func)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(Clean Scratch)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Partial (Unlinked)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Yes (Full Repo)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5F8A"/>
                          </a:solidFill>
                        </a:defRPr>
                      </a:pPr>
                      <a:r>
                        <a:t>Yes (Simulated Legacy)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Architectural Context (ADRs/Tickets)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(Toy 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(Static Prompt)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Yes (PDF Scenario)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(Raw 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5F8A"/>
                          </a:solidFill>
                        </a:defRPr>
                      </a:pPr>
                      <a:r>
                        <a:t>Yes (Jira/ADR Engine)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Ephemeral Cloud Sandbox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Isolated Runner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(Local/Jupyter)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(Static Upload)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Yes (Full Linux)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5F8A"/>
                          </a:solidFill>
                        </a:defRPr>
                      </a:pPr>
                      <a:r>
                        <a:t>Yes (Path-Jailed Node)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In-Situ Automated Test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Hidden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Basic Autograder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Manual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5F8A"/>
                          </a:solidFill>
                        </a:defRPr>
                      </a:pPr>
                      <a:r>
                        <a:t>Yes (Vitest Harness)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Line-Level Pull Request Review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(Binary Grade)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(Peer/Auto)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 Review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Manual Peer PR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5F8A"/>
                          </a:solidFill>
                        </a:defRPr>
                      </a:pPr>
                      <a:r>
                        <a:t>Yes (AI Tech Lead PR)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8862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050792"/>
            <a:ext cx="2560320" cy="237744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GAP 1: THE DISCONNECTED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Existing platforms fragment the software development lifecycle. Students solve isolated algorithmic questions in one tool, watch video tutorials in another, and push unreviewed repos to GitHub. No platform connects: Career → Business Problem → Task Ticket → ADR → Sandbox → Test → PR Review → Verifiable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8862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4050792"/>
            <a:ext cx="2560320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GAP 2: CLEAN-SLATE VS LEGACY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434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Educational benchmarks overwhelmingly promote building small apps from scratch. In industry, 85%+ of engineering effort is invested in understanding, debugging, and modifying existing legacy systems with non-trivial technical debt. Existing platforms fail to simulate pre-existing codebases.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86200"/>
            <a:ext cx="3429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4050792"/>
            <a:ext cx="2560320" cy="23774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GAP 3: UNVERIFIABLE SKILL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43400"/>
            <a:ext cx="3063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Standard certifications prove video completion or multiple-choice test scores, while resumes feature self-claimed buzzwords. Employers lack tamper-evident, cryptographically verifiable proof of a candidate's actual ability to navigate tickets and implement correct code solutions.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PROPOSED SYSTEM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The WORKUP Platform Architecture &amp; Key Innovations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 simulation-first virtual workplace immersing learners in authentic corporate engineering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10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36192"/>
            <a:ext cx="2560320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1. SIMULATED TECH ENTERPRISES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942"/>
                </a:solidFill>
              </a:defRPr>
            </a:pPr>
            <a:r>
              <a:t>Authentic Business Context &amp; Team Roles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Virtual Company Topology: </a:t>
            </a:r>
            <a:r>
              <a:rPr sz="850">
                <a:solidFill>
                  <a:srgbClr val="64748B"/>
                </a:solidFill>
              </a:rPr>
              <a:t>Learners enter realistic simulated enterprises (e.g., FinFlow Tech, OmniRetail) with domain-specific architecture.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Cross-Functional Teams: </a:t>
            </a:r>
            <a:r>
              <a:rPr sz="850">
                <a:solidFill>
                  <a:srgbClr val="64748B"/>
                </a:solidFill>
              </a:rPr>
              <a:t>Assigned to simulated engineering teams (Payments, Core Platform, Infra) with realistic role titles and senior mentors.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Architectural Decision Records (ADRs): </a:t>
            </a:r>
            <a:r>
              <a:rPr sz="850">
                <a:solidFill>
                  <a:srgbClr val="64748B"/>
                </a:solidFill>
              </a:rPr>
              <a:t>Tasks are constrained by formal ADRs (e.g., ADR-001 on webhook idempotency) enforcing real engineering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536192"/>
            <a:ext cx="2560320" cy="23774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2. TASK BACKLOG &amp; SIMULATION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942"/>
                </a:solidFill>
              </a:defRPr>
            </a:pPr>
            <a:r>
              <a:t>Directed Acyclic Graph (DAG) Task Engine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Sprint Task Backlogs: </a:t>
            </a:r>
            <a:r>
              <a:rPr sz="850">
                <a:solidFill>
                  <a:srgbClr val="64748B"/>
                </a:solidFill>
              </a:rPr>
              <a:t>Jira-style task tickets complete with user stories, technical context, acceptance criteria, and reproduction steps.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Prerequisite Dependency Graphs: </a:t>
            </a:r>
            <a:r>
              <a:rPr sz="850">
                <a:solidFill>
                  <a:srgbClr val="64748B"/>
                </a:solidFill>
              </a:rPr>
              <a:t>Tasks unlock only after foundational tasks pass verification, preventing cognitive overload and ensuring logical progression.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Non-Linear Pathways: </a:t>
            </a:r>
            <a:r>
              <a:rPr sz="850">
                <a:solidFill>
                  <a:srgbClr val="64748B"/>
                </a:solidFill>
              </a:rPr>
              <a:t>Supports branching simulation tracks based on student career specializations (Backend, DevOps, MLOps, Security).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005072"/>
            <a:ext cx="2560320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3. EPHEMERAL SANDBOX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942"/>
                </a:solidFill>
              </a:defRPr>
            </a:pPr>
            <a:r>
              <a:t>Zero-Setup Isolated In-Browser Workbench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Process Jailing: </a:t>
            </a:r>
            <a:r>
              <a:rPr sz="850">
                <a:solidFill>
                  <a:srgbClr val="64748B"/>
                </a:solidFill>
              </a:rPr>
              <a:t>Workspaces execute inside isolated directories (`.workspaces/&lt;id&gt;`) preventing path traversal and protecting the host.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Resource Limits: </a:t>
            </a:r>
            <a:r>
              <a:rPr sz="850">
                <a:solidFill>
                  <a:srgbClr val="64748B"/>
                </a:solidFill>
              </a:rPr>
              <a:t>Strict execution governance: max 2 workspaces per student, 4000ms hard execution timeout, and 30-minute idle TTL sweeping.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In-Situ Test Harness: </a:t>
            </a:r>
            <a:r>
              <a:rPr sz="850">
                <a:solidFill>
                  <a:srgbClr val="64748B"/>
                </a:solidFill>
              </a:rPr>
              <a:t>Vitest automated test execution embedded directly in the workbench, giving real-time pass/fail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4005072"/>
            <a:ext cx="2560320" cy="237744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</a:defRPr>
            </a:pPr>
            <a:r>
              <a:t>4. AI TECH LEAD &amp; EVIDENCE DOSSIER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29768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942"/>
                </a:solidFill>
              </a:defRPr>
            </a:pPr>
            <a:r>
              <a:t>Automated Code Review &amp; Verifiable Proof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Pull Request Review Engine: </a:t>
            </a:r>
            <a:r>
              <a:rPr sz="850">
                <a:solidFill>
                  <a:srgbClr val="64748B"/>
                </a:solidFill>
              </a:rPr>
              <a:t>Simulates senior engineer code review by analyzing unified Git diffs against strict architectural rubrics.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Line-Anchored Critique: </a:t>
            </a:r>
            <a:r>
              <a:rPr sz="850">
                <a:solidFill>
                  <a:srgbClr val="64748B"/>
                </a:solidFill>
              </a:rPr>
              <a:t>Delivers formative feedback directly highlighting specific line numbers that violate ADRs or edge cases.</a:t>
            </a:r>
          </a:p>
          <a:p>
            <a:pPr>
              <a:spcBef>
                <a:spcPts val="300"/>
              </a:spcBef>
            </a:pPr>
            <a:r>
              <a:rPr b="1" sz="850">
                <a:solidFill>
                  <a:srgbClr val="1E293B"/>
                </a:solidFill>
              </a:rPr>
              <a:t>•  Tamper-Evident Dossier: </a:t>
            </a:r>
            <a:r>
              <a:rPr sz="850">
                <a:solidFill>
                  <a:srgbClr val="64748B"/>
                </a:solidFill>
              </a:rPr>
              <a:t>Student success generates an immutable portfolio backed by real Git commit SHAs, test logs, and rubric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DECOMPOSITION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Target User Personas and Core Functional Modules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Architectural mapping between user roles, access privileges, and the 11 functional system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11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201168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USER PERSONAS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0F2942"/>
                </a:solidFill>
              </a:rPr>
              <a:t>1. Student / Learner Persona
</a:t>
            </a:r>
            <a:r>
              <a:rPr sz="850">
                <a:solidFill>
                  <a:srgbClr val="1E293B"/>
                </a:solidFill>
              </a:rPr>
              <a:t>Undergraduate CS students and early-career engineers. Explores career roles, launches simulations, inspects tickets/ADRs, implements code in sandboxes, runs automated tests, submits pull requests, and views their verifiable portfolio.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2942"/>
                </a:solidFill>
              </a:rPr>
              <a:t>2. Content Author Persona
</a:t>
            </a:r>
            <a:r>
              <a:rPr sz="850">
                <a:solidFill>
                  <a:srgbClr val="1E293B"/>
                </a:solidFill>
              </a:rPr>
              <a:t>Senior software engineers, corporate educators, and academic curriculum designers. Authors simulated enterprises, legacy code repositories, task tickets, acceptance test suites, and multi-tier evaluation rubrics.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2942"/>
                </a:solidFill>
              </a:rPr>
              <a:t>3. Technical Reviewer Persona
</a:t>
            </a:r>
            <a:r>
              <a:rPr sz="850">
                <a:solidFill>
                  <a:srgbClr val="1E293B"/>
                </a:solidFill>
              </a:rPr>
              <a:t>Industry mentors, teaching assistants, and the automated AI Tech Lead Agent. Inspects submitted pull request diffs, executes rubric scoring (0–100), provides line-level feedback, and approves/rejects submissions.</a:t>
            </a:r>
          </a:p>
          <a:p>
            <a:pPr>
              <a:spcBef>
                <a:spcPts val="600"/>
              </a:spcBef>
            </a:pPr>
            <a:r>
              <a:rPr b="1" sz="1050">
                <a:solidFill>
                  <a:srgbClr val="0F2942"/>
                </a:solidFill>
              </a:rPr>
              <a:t>4. System Administrator Persona
</a:t>
            </a:r>
            <a:r>
              <a:rPr sz="850">
                <a:solidFill>
                  <a:srgbClr val="1E293B"/>
                </a:solidFill>
              </a:rPr>
              <a:t>Institutional platform managers and DevOps engineers. Configures global RBAC roles, provisions multi-tenant company accounts, manages fleet sandbox concurrency caps, and inspects immutable audit logs.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33369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55080" y="1572768"/>
            <a:ext cx="237744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11 SYSTEM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4876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850">
                <a:solidFill>
                  <a:srgbClr val="0F2942"/>
                </a:solidFill>
              </a:rPr>
              <a:t>•  M1: Authentication &amp; RBAC: </a:t>
            </a:r>
            <a:r>
              <a:rPr sz="800">
                <a:solidFill>
                  <a:srgbClr val="64748B"/>
                </a:solidFill>
              </a:rPr>
              <a:t>Bcryptjs password hashing, signed jose JWT session cookies, 4-tier permission matrix.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M2: Career &amp; Role Explorer: </a:t>
            </a:r>
            <a:r>
              <a:rPr sz="800">
                <a:solidFill>
                  <a:srgbClr val="64748B"/>
                </a:solidFill>
              </a:rPr>
              <a:t>Taxonomy navigation across Software Eng, DevOps, MLOps, and Cybersecurity tracks.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M3: Enterprise Company Catalog: </a:t>
            </a:r>
            <a:r>
              <a:rPr sz="800">
                <a:solidFill>
                  <a:srgbClr val="64748B"/>
                </a:solidFill>
              </a:rPr>
              <a:t>Simulated corporate workspaces with business models and organizational topologies.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M4: Simulation DAG Engine: </a:t>
            </a:r>
            <a:r>
              <a:rPr sz="800">
                <a:solidFill>
                  <a:srgbClr val="64748B"/>
                </a:solidFill>
              </a:rPr>
              <a:t>Task dependency resolution, prerequisite locking, and milestone progression.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M5: Student Workbench UI: </a:t>
            </a:r>
            <a:r>
              <a:rPr sz="800">
                <a:solidFill>
                  <a:srgbClr val="64748B"/>
                </a:solidFill>
              </a:rPr>
              <a:t>Integrated file explorer, code editor, test execution button, and ticket panel.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M6: Workspace Orchestrator: </a:t>
            </a:r>
            <a:r>
              <a:rPr sz="800">
                <a:solidFill>
                  <a:srgbClr val="64748B"/>
                </a:solidFill>
              </a:rPr>
              <a:t>Concurrency management (max 2/user), idle sweeps (30m TTL), and process lifecycle.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M7: Isolated Sandbox Provider: </a:t>
            </a:r>
            <a:r>
              <a:rPr sz="800">
                <a:solidFill>
                  <a:srgbClr val="64748B"/>
                </a:solidFill>
              </a:rPr>
              <a:t>Path-jailed child_process execution with 4000ms hard timeout protection.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M8: In-Situ Test Runner: </a:t>
            </a:r>
            <a:r>
              <a:rPr sz="800">
                <a:solidFill>
                  <a:srgbClr val="64748B"/>
                </a:solidFill>
              </a:rPr>
              <a:t>Vitest CLI executor parsing structured test results and assertion traces.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M9: Multi-Tier Evaluation Engine: </a:t>
            </a:r>
            <a:r>
              <a:rPr sz="800">
                <a:solidFill>
                  <a:srgbClr val="64748B"/>
                </a:solidFill>
              </a:rPr>
              <a:t>Unified Git diff capture, rubric scorecard evaluation, and PR commenting.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M10: Evidence-of-Skill Dossier: </a:t>
            </a:r>
            <a:r>
              <a:rPr sz="800">
                <a:solidFill>
                  <a:srgbClr val="64748B"/>
                </a:solidFill>
              </a:rPr>
              <a:t>Tamper-evident portfolio storing verified commit SHAs and rubric benchmarks.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2942"/>
                </a:solidFill>
              </a:rPr>
              <a:t>•  M11: Audit &amp; Telemetry Logging: </a:t>
            </a:r>
            <a:r>
              <a:rPr sz="800">
                <a:solidFill>
                  <a:srgbClr val="64748B"/>
                </a:solidFill>
              </a:rPr>
              <a:t>Security event logging, system telemetry, and administrative trace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OPERATIONAL WORKFLOW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The 14-Stage Universal Professional Engineering Lifecycle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Tracing the complete interconnected journey from career selection to cryptographically verifiable proof.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12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9_universal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0454335" cy="46820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DESIGN | ARCHITECTURE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Tiered System Architecture Diagram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5-tier decoupled topology separating presentation, routing, domain logic, sandboxes, and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13 of 23</a:t>
            </a:r>
          </a:p>
        </p:txBody>
      </p:sp>
      <p:pic>
        <p:nvPicPr>
          <p:cNvPr id="8" name="Picture 7" descr="fig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50238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325880"/>
            <a:ext cx="469361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95160" y="1508760"/>
            <a:ext cx="2560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5 DECOUPLED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251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F2942"/>
                </a:solidFill>
              </a:rPr>
              <a:t>1. Presentation Tier (Next.js 14 / React 18): </a:t>
            </a:r>
            <a:r>
              <a:rPr sz="850">
                <a:solidFill>
                  <a:srgbClr val="1E293B"/>
                </a:solidFill>
              </a:rPr>
              <a:t>Responsive UI with Server Components (RSC), career exploration catalogs, Monaco code editor, terminal runner, and real-time pass/fail badges.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2. API Gateway &amp; Security Tier: </a:t>
            </a:r>
            <a:r>
              <a:rPr sz="850">
                <a:solidFill>
                  <a:srgbClr val="1E293B"/>
                </a:solidFill>
              </a:rPr>
              <a:t>Next.js Route Handlers with Zod request validation, bcryptjs password hashing, signed jose JWT session cookies, and 4-tier RBAC guards.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3. Core Domain &amp; Business Services: </a:t>
            </a:r>
            <a:r>
              <a:rPr sz="850">
                <a:solidFill>
                  <a:srgbClr val="1E293B"/>
                </a:solidFill>
              </a:rPr>
              <a:t>Simulation DAG engine enforcing task dependencies, Workspace Orchestrator managing lifecycle, and rubric-driven evaluation service.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4. Workspace &amp; Execution Tier: </a:t>
            </a:r>
            <a:r>
              <a:rPr sz="850">
                <a:solidFill>
                  <a:srgbClr val="1E293B"/>
                </a:solidFill>
              </a:rPr>
              <a:t>`IsolatedSandboxProvider` enforcing process jailing, hard 4000ms execution timeout cap, and Vitest CLI automated test runner.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5. Persistence &amp; Storage Tier: </a:t>
            </a:r>
            <a:r>
              <a:rPr sz="850">
                <a:solidFill>
                  <a:srgbClr val="1E293B"/>
                </a:solidFill>
              </a:rPr>
              <a:t>Prisma ORM 5.x with type-safe query engine, 21 relational tables on SQLite (`dev.db`), and seamless migration target for PostgreSQL (AWS RDS).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DESIGN | USE CASE MODELING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WORKUP Unified Use Case Diagram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16 discrete system use cases categorized across four core actor personas.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14 of 23</a:t>
            </a:r>
          </a:p>
        </p:txBody>
      </p:sp>
      <p:pic>
        <p:nvPicPr>
          <p:cNvPr id="8" name="Picture 7" descr="fig_2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48344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325880"/>
            <a:ext cx="469361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95160" y="1508760"/>
            <a:ext cx="256032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ACTORS &amp;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251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Student / Learner Actor (Primary): </a:t>
            </a:r>
          </a:p>
          <a:p>
            <a:r>
              <a:rPr sz="850">
                <a:solidFill>
                  <a:srgbClr val="1E293B"/>
                </a:solidFill>
              </a:rPr>
              <a:t>• UC-01: Explore Careers &amp; Roles</a:t>
            </a:r>
          </a:p>
          <a:p>
            <a:r>
              <a:rPr sz="850">
                <a:solidFill>
                  <a:srgbClr val="1E293B"/>
                </a:solidFill>
              </a:rPr>
              <a:t>• UC-02: Launch Simulation Track</a:t>
            </a:r>
          </a:p>
          <a:p>
            <a:r>
              <a:rPr sz="850">
                <a:solidFill>
                  <a:srgbClr val="1E293B"/>
                </a:solidFill>
              </a:rPr>
              <a:t>• UC-03: Inspect Ticket &amp; Architecture ADR</a:t>
            </a:r>
          </a:p>
          <a:p>
            <a:r>
              <a:rPr sz="850">
                <a:solidFill>
                  <a:srgbClr val="1E293B"/>
                </a:solidFill>
              </a:rPr>
              <a:t>• UC-04: Provision Isolated Cloud Workspace</a:t>
            </a:r>
          </a:p>
          <a:p>
            <a:r>
              <a:rPr sz="850">
                <a:solidFill>
                  <a:srgbClr val="1E293B"/>
                </a:solidFill>
              </a:rPr>
              <a:t>• UC-05: Run In-Sandbox Automated Tests</a:t>
            </a:r>
          </a:p>
          <a:p>
            <a:r>
              <a:rPr sz="850">
                <a:solidFill>
                  <a:srgbClr val="1E293B"/>
                </a:solidFill>
              </a:rPr>
              <a:t>• UC-06: Submit Pull Request &amp; Commit</a:t>
            </a:r>
          </a:p>
          <a:p>
            <a:r>
              <a:rPr sz="850">
                <a:solidFill>
                  <a:srgbClr val="1E293B"/>
                </a:solidFill>
              </a:rPr>
              <a:t>• UC-07: View Verifiable Evidence Dossier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Technical Reviewer / AI Lead Actor: </a:t>
            </a:r>
          </a:p>
          <a:p>
            <a:r>
              <a:rPr sz="850">
                <a:solidFill>
                  <a:srgbClr val="1E293B"/>
                </a:solidFill>
              </a:rPr>
              <a:t>• UC-08: Inspect PR Diff &amp; Code Notes</a:t>
            </a:r>
          </a:p>
          <a:p>
            <a:r>
              <a:rPr sz="850">
                <a:solidFill>
                  <a:srgbClr val="1E293B"/>
                </a:solidFill>
              </a:rPr>
              <a:t>• UC-09: Score Rubric Criteria (0–100)</a:t>
            </a:r>
          </a:p>
          <a:p>
            <a:r>
              <a:rPr sz="850">
                <a:solidFill>
                  <a:srgbClr val="1E293B"/>
                </a:solidFill>
              </a:rPr>
              <a:t>• UC-10: Provide Line-by-Line Code Review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Content Author Actor: </a:t>
            </a:r>
          </a:p>
          <a:p>
            <a:r>
              <a:rPr sz="850">
                <a:solidFill>
                  <a:srgbClr val="1E293B"/>
                </a:solidFill>
              </a:rPr>
              <a:t>• UC-11: Author Company &amp; Engineering Teams</a:t>
            </a:r>
          </a:p>
          <a:p>
            <a:r>
              <a:rPr sz="850">
                <a:solidFill>
                  <a:srgbClr val="1E293B"/>
                </a:solidFill>
              </a:rPr>
              <a:t>• UC-12: Configure Task DAG &amp; Prerequisites</a:t>
            </a:r>
          </a:p>
          <a:p>
            <a:r>
              <a:rPr sz="850">
                <a:solidFill>
                  <a:srgbClr val="1E293B"/>
                </a:solidFill>
              </a:rPr>
              <a:t>• UC-13: Set Acceptance Benchmarks &amp; Tests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System Administrator Actor: </a:t>
            </a:r>
          </a:p>
          <a:p>
            <a:r>
              <a:rPr sz="850">
                <a:solidFill>
                  <a:srgbClr val="1E293B"/>
                </a:solidFill>
              </a:rPr>
              <a:t>• UC-14: Review Platform Audit Log Trails</a:t>
            </a:r>
          </a:p>
          <a:p>
            <a:r>
              <a:rPr sz="850">
                <a:solidFill>
                  <a:srgbClr val="1E293B"/>
                </a:solidFill>
              </a:rPr>
              <a:t>• UC-15: Manage Fleet Concurrency Quotas</a:t>
            </a:r>
          </a:p>
          <a:p>
            <a:r>
              <a:rPr sz="850">
                <a:solidFill>
                  <a:srgbClr val="1E293B"/>
                </a:solidFill>
              </a:rPr>
              <a:t>• UC-16: User Role &amp; Organization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DESIGN | DOMAIN &amp; DATA MODELING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Domain Class Model &amp; Relational Entity Schema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Object-oriented domain modeling of the 21 normalized relational models defined in prisma/schema.prisma.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15 of 23</a:t>
            </a:r>
          </a:p>
        </p:txBody>
      </p:sp>
      <p:pic>
        <p:nvPicPr>
          <p:cNvPr id="8" name="Picture 7" descr="fig_5_class_domai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669280" cy="50262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0" y="1325880"/>
            <a:ext cx="4876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12280" y="1508760"/>
            <a:ext cx="292608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21 PRISMA DOMAIN 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828800"/>
            <a:ext cx="4434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F2942"/>
                </a:solidFill>
              </a:rPr>
              <a:t>Identity &amp; Access Cluster: </a:t>
            </a:r>
            <a:r>
              <a:rPr sz="850">
                <a:solidFill>
                  <a:srgbClr val="1E293B"/>
                </a:solidFill>
              </a:rPr>
              <a:t>User (credentials, roleEnum: STUDENT, AUTHOR, REVIEWER, ADMIN), Profile (headline, experienceLevel, githubUsername), Session (jose JWT), PasswordResetToken, AuditLog.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Career Taxonomy Cluster: </a:t>
            </a:r>
            <a:r>
              <a:rPr sz="850">
                <a:solidFill>
                  <a:srgbClr val="1E293B"/>
                </a:solidFill>
              </a:rPr>
              <a:t>CareerFamily (SE, AI/ML, Cloud), Profession (slug, category), Role (responsibilities JSON), Skill (category), RoleSkill (associative N:M mapping with required proficiency).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Simulation &amp; Enterprise Cluster: </a:t>
            </a:r>
            <a:r>
              <a:rPr sz="850">
                <a:solidFill>
                  <a:srgbClr val="1E293B"/>
                </a:solidFill>
              </a:rPr>
              <a:t>Company (industry, size, techStack JSON), Team (topology, engineering focus), Simulation (difficulty, estimatedHours), Phase (ordered sprint phases).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Task DAG &amp; Dependency Cluster: </a:t>
            </a:r>
            <a:r>
              <a:rPr sz="850">
                <a:solidFill>
                  <a:srgbClr val="1E293B"/>
                </a:solidFill>
              </a:rPr>
              <a:t>Task (ticketKey, acceptanceRubric, automatedTests JSON), TaskSkill (skills evaluated), TaskDependency (DAG edges enforcing prerequisite unlocking).</a:t>
            </a:r>
          </a:p>
          <a:p>
            <a:pPr>
              <a:spcBef>
                <a:spcPts val="500"/>
              </a:spcBef>
            </a:pPr>
            <a:r>
              <a:rPr b="1" sz="950">
                <a:solidFill>
                  <a:srgbClr val="0F2942"/>
                </a:solidFill>
              </a:rPr>
              <a:t>Execution &amp; Portfolio Cluster: </a:t>
            </a:r>
            <a:r>
              <a:rPr sz="850">
                <a:solidFill>
                  <a:srgbClr val="1E293B"/>
                </a:solidFill>
              </a:rPr>
              <a:t>Workspace (jailed directory, status: STARTING, READY, RUNNING, STOPPED, FAILED, cpu/memory limits), Submission (commitSha, diffSummary), Evaluation (rubricScores JSON, lineComments), PortfolioItem (verifiable dossier).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DESIGN | SEQUENCE MODELING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Task Execution &amp; Automated Code Review Sequence Trace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19-message chronological interaction between Student, UI, Orchestrator, Sandbox, and AI Reviewer.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16 of 23</a:t>
            </a:r>
          </a:p>
        </p:txBody>
      </p:sp>
      <p:pic>
        <p:nvPicPr>
          <p:cNvPr id="8" name="Picture 7" descr="fig_4_sequence_sub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852160" cy="478793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325880"/>
            <a:ext cx="469361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95160" y="1508760"/>
            <a:ext cx="2743200" cy="256032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TWO-PHASE EXECUTION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28800"/>
            <a:ext cx="42519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Phase 1: In-Sandbox Test Execution (Msgs 1–8):</a:t>
            </a:r>
          </a:p>
          <a:p>
            <a:r>
              <a:rPr sz="800">
                <a:solidFill>
                  <a:srgbClr val="1E293B"/>
                </a:solidFill>
              </a:rPr>
              <a:t>• 1. Student initiates 'Run Automated Tests' in Workbench.</a:t>
            </a:r>
          </a:p>
          <a:p>
            <a:r>
              <a:rPr sz="800">
                <a:solidFill>
                  <a:srgbClr val="1E293B"/>
                </a:solidFill>
              </a:rPr>
              <a:t>• 2. POST request dispatched to /api/workspaces/[id]/test.</a:t>
            </a:r>
          </a:p>
          <a:p>
            <a:r>
              <a:rPr sz="800">
                <a:solidFill>
                  <a:srgbClr val="1E293B"/>
                </a:solidFill>
              </a:rPr>
              <a:t>• 3. Route handler delegates to WorkspaceOrchestrator.</a:t>
            </a:r>
          </a:p>
          <a:p>
            <a:r>
              <a:rPr sz="800">
                <a:solidFill>
                  <a:srgbClr val="1E293B"/>
                </a:solidFill>
              </a:rPr>
              <a:t>• 4. IsolatedSandboxProvider spawns process with hard 4000ms cap.</a:t>
            </a:r>
          </a:p>
          <a:p>
            <a:r>
              <a:rPr sz="800">
                <a:solidFill>
                  <a:srgbClr val="1E293B"/>
                </a:solidFill>
              </a:rPr>
              <a:t>• 5. Process executes Vitest harness inside .workspaces/&lt;id&gt;.</a:t>
            </a:r>
          </a:p>
          <a:p>
            <a:r>
              <a:rPr sz="800">
                <a:solidFill>
                  <a:srgbClr val="1E293B"/>
                </a:solidFill>
              </a:rPr>
              <a:t>• 6. Standard output parsed into structured TestSummary JSON.</a:t>
            </a:r>
          </a:p>
          <a:p>
            <a:r>
              <a:rPr sz="800">
                <a:solidFill>
                  <a:srgbClr val="1E293B"/>
                </a:solidFill>
              </a:rPr>
              <a:t>• 7. Exit code &amp; JSON returned to Workbench UI via HTTP 200.</a:t>
            </a:r>
          </a:p>
          <a:p>
            <a:r>
              <a:rPr sz="800">
                <a:solidFill>
                  <a:srgbClr val="1E293B"/>
                </a:solidFill>
              </a:rPr>
              <a:t>• 8. UI renders green passing badges or red stack trace diffs.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Phase 2: Pull Request Submission &amp; Review (Msgs 9–19):</a:t>
            </a:r>
          </a:p>
          <a:p>
            <a:r>
              <a:rPr sz="800">
                <a:solidFill>
                  <a:srgbClr val="1E293B"/>
                </a:solidFill>
              </a:rPr>
              <a:t>• 9. Student clicks 'Submit Pull Request' upon test success.</a:t>
            </a:r>
          </a:p>
          <a:p>
            <a:r>
              <a:rPr sz="800">
                <a:solidFill>
                  <a:srgbClr val="1E293B"/>
                </a:solidFill>
              </a:rPr>
              <a:t>• 10. POST request dispatched to /api/workspaces/[id]/submit.</a:t>
            </a:r>
          </a:p>
          <a:p>
            <a:r>
              <a:rPr sz="800">
                <a:solidFill>
                  <a:srgbClr val="1E293B"/>
                </a:solidFill>
              </a:rPr>
              <a:t>• 11. Orchestrator captures Git unified diff and HEAD commit SHA.</a:t>
            </a:r>
          </a:p>
          <a:p>
            <a:r>
              <a:rPr sz="800">
                <a:solidFill>
                  <a:srgbClr val="1E293B"/>
                </a:solidFill>
              </a:rPr>
              <a:t>• 12. Submission record persisted with status 'SUBMITTED'.</a:t>
            </a:r>
          </a:p>
          <a:p>
            <a:r>
              <a:rPr sz="800">
                <a:solidFill>
                  <a:srgbClr val="1E293B"/>
                </a:solidFill>
              </a:rPr>
              <a:t>• 13. EvaluationEngine triggers AI Tech Lead review service.</a:t>
            </a:r>
          </a:p>
          <a:p>
            <a:r>
              <a:rPr sz="800">
                <a:solidFill>
                  <a:srgbClr val="1E293B"/>
                </a:solidFill>
              </a:rPr>
              <a:t>• 14. Unified diff scored against ADR rubrics (0–100 score).</a:t>
            </a:r>
          </a:p>
          <a:p>
            <a:r>
              <a:rPr sz="800">
                <a:solidFill>
                  <a:srgbClr val="1E293B"/>
                </a:solidFill>
              </a:rPr>
              <a:t>• 15. Line-by-line feedback written; DAG unlocks next task node.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SYSTEM DESIGN | ARCHITECTURE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Component Packaging and Deployment Topology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Visualizing internal software component decoupling alongside physical/virtual runtime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17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08760"/>
            <a:ext cx="2560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COMPONENT PACKAGING</a:t>
            </a:r>
          </a:p>
        </p:txBody>
      </p:sp>
      <p:pic>
        <p:nvPicPr>
          <p:cNvPr id="10" name="Picture 9" descr="fig_7_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83080"/>
            <a:ext cx="4480560" cy="35844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54406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Decoupled Architecture: Presentation components (React 18), API Route Handlers (Zod validation), Core Services (Auth, DAG, Orchestrator), and Execution Engine (Sandbox Provider).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24225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508760"/>
            <a:ext cx="256032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DEPLOYMENT TOPOLOGY</a:t>
            </a:r>
          </a:p>
        </p:txBody>
      </p:sp>
      <p:pic>
        <p:nvPicPr>
          <p:cNvPr id="14" name="Picture 13" descr="fig_8_deploym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83080"/>
            <a:ext cx="4510735" cy="36904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5440680"/>
            <a:ext cx="478505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Runtime Infrastructure: Modern Web Browser -&gt; HTTPS (Port 443) -&gt; Next.js Application Server Node -&gt; Local Jailed Sandbox Processes (Worker Node) -&gt; Persistent SQLite/PostgreSQL Database.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IMPLEMENTATION STATUS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Technology Stack and Implementation Progress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Differentiating verified codebase capabilities from Stage-II architectural enhancements.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18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71600"/>
          <a:ext cx="1054577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962095"/>
                <a:gridCol w="1645920"/>
              </a:tblGrid>
              <a:tr h="388620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Technologies Selected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Architectural Role &amp; Engineering Rationale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Next.js 14 App Router, React 18, Tailwind CSS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Server-Side Rendering (RSC), responsive utility styling, Monaco code editor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Verified (Code)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Next.js Route Handlers, Zod Validation, Jose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Strict type-safe request/response envelopes, signed JWT cookies, 4-tier RBAC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Verified (Code)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Database &amp; ORM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Prisma ORM 5.x, SQLite (dev.db) / PostgreSQL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Zero-dependency local developer execution, 21 relational models, 3NF normalized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Verified (Code)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Node.js child_process, process jailing, Vitest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Path-jailed sandbox runner, hard 4000ms timeout cap, concurrency limit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Verified (Code)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Review Engine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Deterministic Rubric Parser, Git diff generator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Line-level PR critique, rubric scoring (0–100), commit SHA verification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Verified (Code)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3977639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142231"/>
            <a:ext cx="2560320" cy="23774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1. VERIFIED IN CODEBASE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16551"/>
            <a:ext cx="30632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21 Prisma domain entities migrated &amp; operational.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4-tier RBAC matrix (Student, Author, Reviewer, Admin).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IsolatedSandboxProvider with 4000ms hard timeout.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WorkspaceOrchestrator enforcing max 2 concurrency.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100% pass rate on 34 automated Vitest tests.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77639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4142231"/>
            <a:ext cx="2560320" cy="237744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2. IN-PROGRESS / PARTIAL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16551"/>
            <a:ext cx="30632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Monaco in-browser multi-tab code editor integration.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Interactive xterm.js real-time shell terminal stream.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Dynamic Git diff side-by-side split view component.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Automated test pass/fail UI badge animation triggers.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4290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4142231"/>
            <a:ext cx="2560320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3. PLANNED STAGE-II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416551"/>
            <a:ext cx="306324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True Docker / Kubernetes container pod execution.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Multi-turn LLM AI Tech Lead code reviewer API.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Multi-track simulation catalog (MLOps, Cloud, Security).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•  Cryptographically signed, publicly verifiable dossiers.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VERIFICATION &amp; QUALITY ASSURANCE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Automated Testing &amp; Empirical Validation (Vitest Harness)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100% pass rate achieved across 34 automated unit and integration tests in 8 test suites.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19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5836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08760"/>
            <a:ext cx="31089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VITEST 2.1.9 TEST SUITE EXECUTION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874519"/>
          <a:ext cx="62179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731520"/>
                <a:gridCol w="164592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Test Suite File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Target Component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auth.test.ts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Bcryptjs &amp; Jose Session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rbac.test.ts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4-Tier Role Guard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sandbox-provider.test.ts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Process Jailing &amp; Timeout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orchestrator.test.ts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Concurrency &amp; TTL Sweeps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simulation.test.ts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Catalog &amp; Track Retrieval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task-validator.test.ts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DAG Edges &amp; Prereqs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submission.test.ts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Git Diff &amp; SHA Capture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portfolio.test.ts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Rubrics &amp; Evidence Dossier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PASS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498079" y="1325880"/>
            <a:ext cx="39620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2560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KEY EMPIRICAL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74519"/>
            <a:ext cx="3520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0F2942"/>
                </a:solidFill>
              </a:rPr>
              <a:t>Process Jailing Integrity: </a:t>
            </a:r>
            <a:r>
              <a:rPr sz="850">
                <a:solidFill>
                  <a:srgbClr val="1E293B"/>
                </a:solidFill>
              </a:rPr>
              <a:t>Verified that child processes spawned in `.workspaces/&lt;id&gt;` cannot traverse parent directories (`../../`). All file mutations remain confined to the student sandbox.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Hard Execution Timeout: </a:t>
            </a:r>
            <a:r>
              <a:rPr sz="850">
                <a:solidFill>
                  <a:srgbClr val="1E293B"/>
                </a:solidFill>
              </a:rPr>
              <a:t>Empirically verified that infinite loops (e.g., `while(true)`) are terminated via `SIGKILL` at exactly 4000ms, preventing server thread lockup.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Concurrency Capping: </a:t>
            </a:r>
            <a:r>
              <a:rPr sz="850">
                <a:solidFill>
                  <a:srgbClr val="1E293B"/>
                </a:solidFill>
              </a:rPr>
              <a:t>Verified that a 3rd concurrent workspace allocation request by a single student is cleanly rejected with HTTP 429 (Too Many Requests), protecting server RAM.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0F2942"/>
                </a:solidFill>
              </a:rPr>
              <a:t>Deterministic DAG Ordering: </a:t>
            </a:r>
            <a:r>
              <a:rPr sz="850">
                <a:solidFill>
                  <a:srgbClr val="1E293B"/>
                </a:solidFill>
              </a:rPr>
              <a:t>Verified that downstream tasks cannot be launched until prerequisite task submissions achieve an evaluation score &gt;= 80% with passing tests.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PROJECT ROADMAP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Phased Milestone Implementation Roadmap (Phases 0 – 12)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Chronological project plan detailing verified Stage-I accomplishments and Stage-II milestones.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20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1072865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1463040"/>
          <a:ext cx="103628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3962095"/>
                <a:gridCol w="2560320"/>
                <a:gridCol w="128016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Milestone Objectives &amp; Core Engineering Focus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Key Deliverables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94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1–2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Inception, Literature Survey &amp; Requirements Analysis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SRS, Feasibility, Lit Survey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3–4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Domain Architecture, Relational Schema &amp;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21 Prisma Models, SQLite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5–6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Authentication, Session Handling &amp; 4-Tier RBAC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Bcryptjs, Jose JWT, Roles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7–8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Simulation Content Engine &amp; Task DAG Logic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FinFlow Track, Ticket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9–10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Sandbox Execution Engine &amp; Workspace Orchestrator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Process Jailing, 4s Timeout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11–12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Submissions, Portfolios, Testing &amp; Stage-I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Vitest 34/34 Pass, Stage-I Doc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59669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6–8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13–18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Docker / Kubernetes Container Pods (Stage-II)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Kernel Isolation, gVisor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563EB"/>
                          </a:solidFill>
                        </a:defRPr>
                      </a:pPr>
                      <a:r>
                        <a:t>Stage-II 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19–22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Multi-Turn LLM AI Tech Lead Code Reviewer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Line-Anchored Diff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563EB"/>
                          </a:solidFill>
                        </a:defRPr>
                      </a:pPr>
                      <a:r>
                        <a:t>Stage-II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23–24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Multi-Domain Catalog Expansion (MLOps, Cloud, Security)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4 Additional Career Tracks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563EB"/>
                          </a:solidFill>
                        </a:defRPr>
                      </a:pPr>
                      <a:r>
                        <a:t>Stage-II Plan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E293B"/>
                          </a:solidFill>
                        </a:defRPr>
                      </a:pPr>
                      <a:r>
                        <a:t>Phase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Weeks 25–26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Institutional Pilot Deployment, Benchmarking &amp;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64748B"/>
                          </a:solidFill>
                        </a:defRPr>
                      </a:pPr>
                      <a:r>
                        <a:t>Live Pilot, Final Viva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2563EB"/>
                          </a:solidFill>
                        </a:defRPr>
                      </a:pPr>
                      <a:r>
                        <a:t>Stage-II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PROJECT IMPACT &amp; RISK MANAGEMENT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Expected Outcomes, System Limitations &amp; Engineering Mitigations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Analyzing projected pedagogical benefits alongside technical constraints and risk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21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572768"/>
            <a:ext cx="237744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PROJECTED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0F2942"/>
                </a:solidFill>
              </a:rPr>
              <a:t>• 40% Acceleration in Corporate Onboarding: </a:t>
            </a:r>
            <a:r>
              <a:rPr sz="900">
                <a:solidFill>
                  <a:srgbClr val="1E293B"/>
                </a:solidFill>
              </a:rPr>
              <a:t>Empirical literature (Navarro et al.) confirms simulated software development reduces junior engineering ramp-up time from 6 months to ~3.5 months.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2942"/>
                </a:solidFill>
              </a:rPr>
              <a:t>• Verifiable Proof of Practical Competence: </a:t>
            </a:r>
            <a:r>
              <a:rPr sz="900">
                <a:solidFill>
                  <a:srgbClr val="1E293B"/>
                </a:solidFill>
              </a:rPr>
              <a:t>Replaces self-asserted resume keywords with immutable, recruiter-accessible portfolios backed by verified Git commit SHAs, test outputs, and rubric scorecards.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2942"/>
                </a:solidFill>
              </a:rPr>
              <a:t>• Zero Setup Friction for Educational Institutions: </a:t>
            </a:r>
            <a:r>
              <a:rPr sz="900">
                <a:solidFill>
                  <a:srgbClr val="1E293B"/>
                </a:solidFill>
              </a:rPr>
              <a:t>Colleges can run advanced professional engineering labs without maintaining complex local machine configurations or specialized server hardware.</a:t>
            </a:r>
          </a:p>
          <a:p>
            <a:pPr>
              <a:spcBef>
                <a:spcPts val="800"/>
              </a:spcBef>
            </a:pPr>
            <a:r>
              <a:rPr b="1" sz="1000">
                <a:solidFill>
                  <a:srgbClr val="0F2942"/>
                </a:solidFill>
              </a:rPr>
              <a:t>• Scalable 1-on-1 Code Review Mentorship: </a:t>
            </a:r>
            <a:r>
              <a:rPr sz="900">
                <a:solidFill>
                  <a:srgbClr val="1E293B"/>
                </a:solidFill>
              </a:rPr>
              <a:t>Automated AI Tech Lead evaluations ensure every student receives detailed, line-by-line pull request critiques on every task iteration.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572768"/>
            <a:ext cx="256032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RISK MITIGATION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47850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950">
                <a:solidFill>
                  <a:srgbClr val="DC2626"/>
                </a:solidFill>
              </a:rPr>
              <a:t>Risk: Sandbox Path Escape (Medium): </a:t>
            </a:r>
            <a:r>
              <a:rPr sz="850">
                <a:solidFill>
                  <a:srgbClr val="1E293B"/>
                </a:solidFill>
              </a:rPr>
              <a:t>Current implementation uses Node.js child_process jailing. Malicious shell scripts could theoretically read host files.</a:t>
            </a:r>
          </a:p>
          <a:p>
            <a:r>
              <a:rPr b="1" sz="950">
                <a:solidFill>
                  <a:srgbClr val="059669"/>
                </a:solidFill>
              </a:rPr>
              <a:t>Mitigation: </a:t>
            </a:r>
            <a:r>
              <a:rPr sz="850">
                <a:solidFill>
                  <a:srgbClr val="1E293B"/>
                </a:solidFill>
              </a:rPr>
              <a:t>Strict working directory enforcement in Stage-I; upgrading to Docker containers with gVisor kernel sandboxing in Stage-II.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DC2626"/>
                </a:solidFill>
              </a:rPr>
              <a:t>Risk: Concurrency Resource Exhaustion (Medium): </a:t>
            </a:r>
            <a:r>
              <a:rPr sz="850">
                <a:solidFill>
                  <a:srgbClr val="1E293B"/>
                </a:solidFill>
              </a:rPr>
              <a:t>Dozens of simultaneous student test runs could saturate server CPU and memory.</a:t>
            </a:r>
          </a:p>
          <a:p>
            <a:r>
              <a:rPr b="1" sz="950">
                <a:solidFill>
                  <a:srgbClr val="059669"/>
                </a:solidFill>
              </a:rPr>
              <a:t>Mitigation: </a:t>
            </a:r>
            <a:r>
              <a:rPr sz="850">
                <a:solidFill>
                  <a:srgbClr val="1E293B"/>
                </a:solidFill>
              </a:rPr>
              <a:t>Hard quota of 2 active workspaces per student, 4000ms hard timeout cap, and automatic 30-minute idle TTL sweeping.</a:t>
            </a:r>
          </a:p>
          <a:p>
            <a:pPr>
              <a:spcBef>
                <a:spcPts val="600"/>
              </a:spcBef>
            </a:pPr>
            <a:r>
              <a:rPr b="1" sz="950">
                <a:solidFill>
                  <a:srgbClr val="DC2626"/>
                </a:solidFill>
              </a:rPr>
              <a:t>Risk: LLM Review Hallucination (Low): </a:t>
            </a:r>
            <a:r>
              <a:rPr sz="850">
                <a:solidFill>
                  <a:srgbClr val="1E293B"/>
                </a:solidFill>
              </a:rPr>
              <a:t>Automated AI code reviews could provide inaccurate code advice.</a:t>
            </a:r>
          </a:p>
          <a:p>
            <a:r>
              <a:rPr b="1" sz="950">
                <a:solidFill>
                  <a:srgbClr val="059669"/>
                </a:solidFill>
              </a:rPr>
              <a:t>Mitigation: </a:t>
            </a:r>
            <a:r>
              <a:rPr sz="850">
                <a:solidFill>
                  <a:srgbClr val="1E293B"/>
                </a:solidFill>
              </a:rPr>
              <a:t>Stage-I uses deterministic test harnesses and Zod rubric schemas. Stage-II will ground LLMs with strict architectural rules.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CONCLUSION &amp; FUTURE SCOPE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Conclusion and Stage-II Platform Direction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Summarizing Stage-I engineering achievements and establishing the roadmap for final completion.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22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00200"/>
            <a:ext cx="20116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STAGE-I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87121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Solid Technical Baseline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Theoretical Formulation: </a:t>
            </a:r>
            <a:r>
              <a:rPr sz="850">
                <a:solidFill>
                  <a:srgbClr val="64748B"/>
                </a:solidFill>
              </a:rPr>
              <a:t>Successfully grounded the platform in Experiential Learning and Situated Cognition theories.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21 Domain Models: </a:t>
            </a:r>
            <a:r>
              <a:rPr sz="850">
                <a:solidFill>
                  <a:srgbClr val="64748B"/>
                </a:solidFill>
              </a:rPr>
              <a:t>Normalized relational schema implemented in Prisma ORM, providing complete domain coverage.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Verified Execution: </a:t>
            </a:r>
            <a:r>
              <a:rPr sz="850">
                <a:solidFill>
                  <a:srgbClr val="64748B"/>
                </a:solidFill>
              </a:rPr>
              <a:t>Local isolated sandbox provider with 4000ms hard timeouts and process jailing.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Quality Assurance: </a:t>
            </a:r>
            <a:r>
              <a:rPr sz="850">
                <a:solidFill>
                  <a:srgbClr val="64748B"/>
                </a:solidFill>
              </a:rPr>
              <a:t>100% pass rate achieved across 34 automated unit and integration tests in 8 Vitest suites.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4296" y="1600200"/>
            <a:ext cx="201168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PARADIGM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965960"/>
            <a:ext cx="287121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Apprenticeship at Scale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Beyond Toy Code: </a:t>
            </a:r>
            <a:r>
              <a:rPr sz="850">
                <a:solidFill>
                  <a:srgbClr val="64748B"/>
                </a:solidFill>
              </a:rPr>
              <a:t>Transitions students from isolated toy scripts to multi-file legacy corporate repositories.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Architectural Discipline: </a:t>
            </a:r>
            <a:r>
              <a:rPr sz="850">
                <a:solidFill>
                  <a:srgbClr val="64748B"/>
                </a:solidFill>
              </a:rPr>
              <a:t>Forces learners to design solutions adhering to real Architectural Decision Records (ADRs).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Iterative Refinement: </a:t>
            </a:r>
            <a:r>
              <a:rPr sz="850">
                <a:solidFill>
                  <a:srgbClr val="64748B"/>
                </a:solidFill>
              </a:rPr>
              <a:t>Replaces binary pass/fail grades with line-level pull request reviews and edge test debugging.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Authentic Evidence: </a:t>
            </a:r>
            <a:r>
              <a:rPr sz="850">
                <a:solidFill>
                  <a:srgbClr val="64748B"/>
                </a:solidFill>
              </a:rPr>
              <a:t>Equips graduates with verifiable GitHub-backed dossiers demonstrating proven workplace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7160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48472" y="1600200"/>
            <a:ext cx="2011680" cy="274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97706"/>
                </a:solidFill>
              </a:defRPr>
            </a:pPr>
            <a:r>
              <a:t>STAGE-II DIRECTION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1965960"/>
            <a:ext cx="2871216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942"/>
                </a:solidFill>
              </a:defRPr>
            </a:pPr>
            <a:r>
              <a:t>Production Scaling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Kubernetes Pod Workers: </a:t>
            </a:r>
            <a:r>
              <a:rPr sz="850">
                <a:solidFill>
                  <a:srgbClr val="64748B"/>
                </a:solidFill>
              </a:rPr>
              <a:t>Deploying true multi-tenant container workers with gVisor kernel sandboxing.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Multi-Turn LLM Reviewer: </a:t>
            </a:r>
            <a:r>
              <a:rPr sz="850">
                <a:solidFill>
                  <a:srgbClr val="64748B"/>
                </a:solidFill>
              </a:rPr>
              <a:t>Integrating generative AI code review providing line-anchored pull request comments.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Multi-Track Catalog: </a:t>
            </a:r>
            <a:r>
              <a:rPr sz="850">
                <a:solidFill>
                  <a:srgbClr val="64748B"/>
                </a:solidFill>
              </a:rPr>
              <a:t>Authoring enterprise simulations across MLOps, Cloud/DevOps, and Cybersecurity.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1E293B"/>
                </a:solidFill>
              </a:rPr>
              <a:t>• Recruiter Dossier Portal: </a:t>
            </a:r>
            <a:r>
              <a:rPr sz="850">
                <a:solidFill>
                  <a:srgbClr val="64748B"/>
                </a:solidFill>
              </a:rPr>
              <a:t>Publicly verifiable, cryptographically signed portfolio verification service.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47472"/>
            <a:ext cx="73152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REFERENCES &amp; ACKNOWLEDGEMENTS</a:t>
            </a:r>
          </a:p>
          <a:p>
            <a:pPr>
              <a:defRPr sz="2000" b="1">
                <a:solidFill>
                  <a:srgbClr val="0F2942"/>
                </a:solidFill>
              </a:defRPr>
            </a:pPr>
            <a:r>
              <a:t>Key References and Project Review Viva Discussion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Formal academic literature citations adhering to IEEE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384048"/>
            <a:ext cx="277063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5F8A"/>
                </a:solidFill>
              </a:defRPr>
            </a:pPr>
            <a:r>
              <a:t>ACE Engineering College | CSE (AI &amp; 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50">
                <a:solidFill>
                  <a:srgbClr val="64748B"/>
                </a:solidFill>
              </a:rPr>
              <a:t>Academic Year 2026–2027  |  Major Project Review – Phase 1</a:t>
            </a:r>
            <a:r>
              <a:rPr sz="850" b="1">
                <a:solidFill>
                  <a:srgbClr val="0F2942"/>
                </a:solidFill>
              </a:rPr>
              <a:t>                                WORKUP: Virtual Professional Experience Platform                                </a:t>
            </a:r>
            <a:r>
              <a:rPr sz="850">
                <a:solidFill>
                  <a:srgbClr val="64748B"/>
                </a:solidFill>
              </a:rPr>
              <a:t>Slide 23 of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444752"/>
            <a:ext cx="2560320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PRIMARY ACADEMIC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10271455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E293B"/>
                </a:solidFill>
              </a:defRPr>
            </a:pPr>
            <a:r>
              <a:t>[1] E. Navarro and A. van der Hoek, 'Comprehensive Evaluation of an Educational Software Engineering Simulation Environment,' IEEE Transactions on Software Engineering, vol. 33, no. 6, pp. 409–425, 2007. DOI: 10.1109/TSE.2007.70723.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[2] A. Radermacher and G. Walia, 'Gaps Between Industry Expectations &amp; University Preparation in Software Engineering,' in Proc. 44th ACM Technical Symposium on Computer Science Education (SIGCSE), 2013, pp. 525–530. DOI: 10.1145/2445196.2445353.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[3] H. Sharp and P. Hall, 'An Ethnographic Study of Agile Software Development in Practice,' ACM Transactions on Software Engineering and Methodology (TOSEM), vol. 18, no. 4, pp. 1–37, 2009. DOI: 10.1145/1538942.1538944.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[4] N. Kratzke, 'Lightweight Container Isolation for Computing Education,' IEEE Transactions on Education, vol. 61, no. 2, pp. 127–134, 2018. DOI: 10.1109/TE.2017.2768560.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[5] S. MacNeil et al., 'Experiences with Generative AI in Computing Education: Robust Results and Lingering Questions,' in Proc. 2023 ACM Conf. on Innovation and Technology in Computer Science Education (ITiCSE), 2023, pp. 317–323. DOI: 10.1145/3587102.3588797.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[6] V. Garousi, M. Felderer, and M. V. Mäntylä, 'The Industry-Academia Testing Gap: Why Students Struggle with Verification,' IEEE Software, vol. 35, no. 5, pp. 68–73, 2018. DOI: 10.1109/MS.2017.4471545.</a:t>
            </a:r>
          </a:p>
          <a:p>
            <a:pPr>
              <a:spcBef>
                <a:spcPts val="250"/>
              </a:spcBef>
              <a:defRPr sz="800">
                <a:solidFill>
                  <a:srgbClr val="1E293B"/>
                </a:solidFill>
              </a:defRPr>
            </a:pPr>
            <a:r>
              <a:t>[7] D. A. Kolb, Experiential Learning: Experience as the Source of Learning and Development. Englewood Cliffs, NJ: Prentice-Hall, 1984.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1828800"/>
          </a:xfrm>
          <a:prstGeom prst="roundRect">
            <a:avLst/>
          </a:prstGeom>
          <a:solidFill>
            <a:srgbClr val="0F2942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102714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100">
                <a:solidFill>
                  <a:srgbClr val="BFDBFE"/>
                </a:solidFill>
              </a:defRPr>
            </a:pPr>
            <a:r>
              <a:t>Sincere gratitude to Internal Guide Mrs. P. Swaroopa, HoD Dr. M. V. Vijaya Saradhi, and the Department Review Committee.</a:t>
            </a:r>
          </a:p>
          <a:p>
            <a:pPr algn="ctr">
              <a:defRPr sz="1050" b="1">
                <a:solidFill>
                  <a:srgbClr val="E2E8F0"/>
                </a:solidFill>
              </a:defRPr>
            </a:pPr>
            <a:r>
              <a:t>We welcome your valuable feedback, questions, and discussion for Major Project Stage-II.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