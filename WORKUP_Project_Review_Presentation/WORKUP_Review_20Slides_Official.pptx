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74" r:id="rId3"/>
    <p:sldId id="256" r:id="rId4"/>
    <p:sldId id="286" r:id="rId5"/>
    <p:sldId id="287" r:id="rId6"/>
    <p:sldId id="288" r:id="rId7"/>
    <p:sldId id="289" r:id="rId8"/>
    <p:sldId id="292" r:id="rId9"/>
    <p:sldId id="275" r:id="rId10"/>
    <p:sldId id="276" r:id="rId11"/>
    <p:sldId id="277" r:id="rId12"/>
    <p:sldId id="278" r:id="rId13"/>
    <p:sldId id="279" r:id="rId14"/>
    <p:sldId id="280" r:id="rId15"/>
    <p:sldId id="281" r:id="rId16"/>
    <p:sldId id="282" r:id="rId17"/>
    <p:sldId id="283" r:id="rId18"/>
    <p:sldId id="284" r:id="rId19"/>
    <p:sldId id="290" r:id="rId20"/>
    <p:sldId id="29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730E"/>
    <a:srgbClr val="EF832C"/>
    <a:srgbClr val="EE94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47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419D1-A51E-4D0E-964C-4071EA8CA464}" type="datetimeFigureOut">
              <a:rPr lang="en-IN" smtClean="0"/>
              <a:t>13-10-2026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53B6E-9BEE-4ACE-AAA6-D9A9076C36FF}" type="slidenum">
              <a:rPr lang="en-IN" smtClean="0"/>
              <a:t>‹#›</a:t>
            </a:fld>
            <a:endParaRPr lang="en-IN"/>
          </a:p>
        </p:txBody>
      </p:sp>
    </p:spTree>
    <p:extLst>
      <p:ext uri="{BB962C8B-B14F-4D97-AF65-F5344CB8AC3E}">
        <p14:creationId xmlns:p14="http://schemas.microsoft.com/office/powerpoint/2010/main" val="2398324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82E05-83F0-45BE-B6ED-80F7F8F2E1C9}" type="slidenum">
              <a:rPr lang="en-IN" smtClean="0"/>
              <a:t>19</a:t>
            </a:fld>
            <a:endParaRPr lang="en-IN"/>
          </a:p>
        </p:txBody>
      </p:sp>
    </p:spTree>
    <p:extLst>
      <p:ext uri="{BB962C8B-B14F-4D97-AF65-F5344CB8AC3E}">
        <p14:creationId xmlns:p14="http://schemas.microsoft.com/office/powerpoint/2010/main" val="2128713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98315-869E-6F3B-8F25-D2F3E16B7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A27287-A170-95A3-9C61-4111E055AD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61B5EF1-AC4B-4563-79E0-DBBD9D3F8DAB}"/>
              </a:ext>
            </a:extLst>
          </p:cNvPr>
          <p:cNvSpPr>
            <a:spLocks noGrp="1"/>
          </p:cNvSpPr>
          <p:nvPr>
            <p:ph type="dt" sz="half" idx="10"/>
          </p:nvPr>
        </p:nvSpPr>
        <p:spPr/>
        <p:txBody>
          <a:bodyPr/>
          <a:lstStyle/>
          <a:p>
            <a:fld id="{AD398260-0B2D-4E0B-BFC8-169A9C43A77D}" type="datetime1">
              <a:rPr lang="en-IN" smtClean="0"/>
              <a:t>13-10-2026</a:t>
            </a:fld>
            <a:endParaRPr lang="en-IN"/>
          </a:p>
        </p:txBody>
      </p:sp>
      <p:sp>
        <p:nvSpPr>
          <p:cNvPr id="5" name="Footer Placeholder 4">
            <a:extLst>
              <a:ext uri="{FF2B5EF4-FFF2-40B4-BE49-F238E27FC236}">
                <a16:creationId xmlns:a16="http://schemas.microsoft.com/office/drawing/2014/main" id="{516D5FD3-CBF8-B3F9-FBB0-4702E19B0A33}"/>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a16:creationId xmlns:a16="http://schemas.microsoft.com/office/drawing/2014/main" id="{3CCA4321-EF68-0966-C7C5-A1D4696FA20B}"/>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1326131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57D3-53BC-7B59-3BB0-4035D1CC12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2537FE-B603-5AC6-8DCE-CBAB486036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04EDE2-00B6-BA4D-4802-7565831ED140}"/>
              </a:ext>
            </a:extLst>
          </p:cNvPr>
          <p:cNvSpPr>
            <a:spLocks noGrp="1"/>
          </p:cNvSpPr>
          <p:nvPr>
            <p:ph type="dt" sz="half" idx="10"/>
          </p:nvPr>
        </p:nvSpPr>
        <p:spPr/>
        <p:txBody>
          <a:bodyPr/>
          <a:lstStyle/>
          <a:p>
            <a:fld id="{C55E17AA-CF72-4F78-9C07-D22482E6C925}" type="datetime1">
              <a:rPr lang="en-IN" smtClean="0"/>
              <a:t>13-10-2026</a:t>
            </a:fld>
            <a:endParaRPr lang="en-IN"/>
          </a:p>
        </p:txBody>
      </p:sp>
      <p:sp>
        <p:nvSpPr>
          <p:cNvPr id="5" name="Footer Placeholder 4">
            <a:extLst>
              <a:ext uri="{FF2B5EF4-FFF2-40B4-BE49-F238E27FC236}">
                <a16:creationId xmlns:a16="http://schemas.microsoft.com/office/drawing/2014/main" id="{CC9433E2-7E6C-A853-D5BB-F9CBE9FA3F46}"/>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a16:creationId xmlns:a16="http://schemas.microsoft.com/office/drawing/2014/main" id="{13134A33-66D9-6CA1-B905-02415AB6111D}"/>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1145905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5F37-D0B9-1AD2-6D3B-B473C147BB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841730-75E1-C81D-2095-523C15D413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08AF83-1FEE-B1B6-BA26-7E1D3B5F85C7}"/>
              </a:ext>
            </a:extLst>
          </p:cNvPr>
          <p:cNvSpPr>
            <a:spLocks noGrp="1"/>
          </p:cNvSpPr>
          <p:nvPr>
            <p:ph type="dt" sz="half" idx="10"/>
          </p:nvPr>
        </p:nvSpPr>
        <p:spPr/>
        <p:txBody>
          <a:bodyPr/>
          <a:lstStyle/>
          <a:p>
            <a:fld id="{887FD55D-DC37-42B7-BFE1-F08B4B9BCABF}" type="datetime1">
              <a:rPr lang="en-IN" smtClean="0"/>
              <a:t>13-10-2026</a:t>
            </a:fld>
            <a:endParaRPr lang="en-IN"/>
          </a:p>
        </p:txBody>
      </p:sp>
      <p:sp>
        <p:nvSpPr>
          <p:cNvPr id="5" name="Footer Placeholder 4">
            <a:extLst>
              <a:ext uri="{FF2B5EF4-FFF2-40B4-BE49-F238E27FC236}">
                <a16:creationId xmlns:a16="http://schemas.microsoft.com/office/drawing/2014/main" id="{466F800A-8C6C-8466-FCB0-8A7B5B59C434}"/>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a16:creationId xmlns:a16="http://schemas.microsoft.com/office/drawing/2014/main" id="{788E3F4C-4854-925E-A586-90F1110C8B55}"/>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2821433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E816-960C-F5DB-40CC-DD20D65577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A2C240-7D1D-FF51-CA12-B8BA85337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BE938A3-B5BE-AEBE-5C89-E2C7E54777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37F83B-114F-4295-2FE5-86316145DF6D}"/>
              </a:ext>
            </a:extLst>
          </p:cNvPr>
          <p:cNvSpPr>
            <a:spLocks noGrp="1"/>
          </p:cNvSpPr>
          <p:nvPr>
            <p:ph type="dt" sz="half" idx="10"/>
          </p:nvPr>
        </p:nvSpPr>
        <p:spPr/>
        <p:txBody>
          <a:bodyPr/>
          <a:lstStyle/>
          <a:p>
            <a:fld id="{1FAFA242-B38F-4195-8D4E-43AE5C6CBF77}" type="datetime1">
              <a:rPr lang="en-IN" smtClean="0"/>
              <a:t>13-10-2026</a:t>
            </a:fld>
            <a:endParaRPr lang="en-IN"/>
          </a:p>
        </p:txBody>
      </p:sp>
      <p:sp>
        <p:nvSpPr>
          <p:cNvPr id="6" name="Footer Placeholder 5">
            <a:extLst>
              <a:ext uri="{FF2B5EF4-FFF2-40B4-BE49-F238E27FC236}">
                <a16:creationId xmlns:a16="http://schemas.microsoft.com/office/drawing/2014/main" id="{FA1C1A42-BC62-6289-8A6D-8FEB852522F3}"/>
              </a:ext>
            </a:extLst>
          </p:cNvPr>
          <p:cNvSpPr>
            <a:spLocks noGrp="1"/>
          </p:cNvSpPr>
          <p:nvPr>
            <p:ph type="ftr" sz="quarter" idx="11"/>
          </p:nvPr>
        </p:nvSpPr>
        <p:spPr/>
        <p:txBody>
          <a:bodyPr/>
          <a:lstStyle/>
          <a:p>
            <a:r>
              <a:rPr lang="en-IN"/>
              <a:t>AI &amp; DS</a:t>
            </a:r>
          </a:p>
        </p:txBody>
      </p:sp>
      <p:sp>
        <p:nvSpPr>
          <p:cNvPr id="7" name="Slide Number Placeholder 6">
            <a:extLst>
              <a:ext uri="{FF2B5EF4-FFF2-40B4-BE49-F238E27FC236}">
                <a16:creationId xmlns:a16="http://schemas.microsoft.com/office/drawing/2014/main" id="{49BCF49D-CA14-92B3-17FC-0F4B59860AA1}"/>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3868716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46C0-D414-C739-4EBE-1A3482C0BF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F961B0-FA9A-792C-9068-34AA02C1E6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21A206-549E-76DE-9C98-92A40E8575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6DF1C2-29FE-0370-2D0B-BEEB854C3A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6BB382-7C0E-77BF-46F9-64C3672C44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F25070-196F-B0A2-4ADF-F1899A853E80}"/>
              </a:ext>
            </a:extLst>
          </p:cNvPr>
          <p:cNvSpPr>
            <a:spLocks noGrp="1"/>
          </p:cNvSpPr>
          <p:nvPr>
            <p:ph type="dt" sz="half" idx="10"/>
          </p:nvPr>
        </p:nvSpPr>
        <p:spPr/>
        <p:txBody>
          <a:bodyPr/>
          <a:lstStyle/>
          <a:p>
            <a:fld id="{D9383C14-29F3-4344-9759-9DD236DB3E48}" type="datetime1">
              <a:rPr lang="en-IN" smtClean="0"/>
              <a:t>13-10-2026</a:t>
            </a:fld>
            <a:endParaRPr lang="en-IN"/>
          </a:p>
        </p:txBody>
      </p:sp>
      <p:sp>
        <p:nvSpPr>
          <p:cNvPr id="8" name="Footer Placeholder 7">
            <a:extLst>
              <a:ext uri="{FF2B5EF4-FFF2-40B4-BE49-F238E27FC236}">
                <a16:creationId xmlns:a16="http://schemas.microsoft.com/office/drawing/2014/main" id="{E523726A-CAF9-ABA6-7DC7-84414B6B5423}"/>
              </a:ext>
            </a:extLst>
          </p:cNvPr>
          <p:cNvSpPr>
            <a:spLocks noGrp="1"/>
          </p:cNvSpPr>
          <p:nvPr>
            <p:ph type="ftr" sz="quarter" idx="11"/>
          </p:nvPr>
        </p:nvSpPr>
        <p:spPr/>
        <p:txBody>
          <a:bodyPr/>
          <a:lstStyle/>
          <a:p>
            <a:r>
              <a:rPr lang="en-IN"/>
              <a:t>AI &amp; DS</a:t>
            </a:r>
          </a:p>
        </p:txBody>
      </p:sp>
      <p:sp>
        <p:nvSpPr>
          <p:cNvPr id="9" name="Slide Number Placeholder 8">
            <a:extLst>
              <a:ext uri="{FF2B5EF4-FFF2-40B4-BE49-F238E27FC236}">
                <a16:creationId xmlns:a16="http://schemas.microsoft.com/office/drawing/2014/main" id="{CEA317FB-FFAE-F669-9E4D-E87F7A4BC727}"/>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335268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8BD4-A333-C441-0756-0DFC3E6959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2E35DF-F531-031A-F7F3-D508133EC340}"/>
              </a:ext>
            </a:extLst>
          </p:cNvPr>
          <p:cNvSpPr>
            <a:spLocks noGrp="1"/>
          </p:cNvSpPr>
          <p:nvPr>
            <p:ph type="dt" sz="half" idx="10"/>
          </p:nvPr>
        </p:nvSpPr>
        <p:spPr/>
        <p:txBody>
          <a:bodyPr/>
          <a:lstStyle/>
          <a:p>
            <a:fld id="{154724E0-E77E-4025-BC8F-AD0EE6FDE5E4}" type="datetime1">
              <a:rPr lang="en-IN" smtClean="0"/>
              <a:t>13-10-2026</a:t>
            </a:fld>
            <a:endParaRPr lang="en-IN"/>
          </a:p>
        </p:txBody>
      </p:sp>
      <p:sp>
        <p:nvSpPr>
          <p:cNvPr id="4" name="Footer Placeholder 3">
            <a:extLst>
              <a:ext uri="{FF2B5EF4-FFF2-40B4-BE49-F238E27FC236}">
                <a16:creationId xmlns:a16="http://schemas.microsoft.com/office/drawing/2014/main" id="{37DB13FB-9442-B777-122D-A76B23BF860F}"/>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a16:creationId xmlns:a16="http://schemas.microsoft.com/office/drawing/2014/main" id="{09AEFCB1-3BFF-EDBD-F7B2-8872C27E8AB6}"/>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3001059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4B7F3-AA26-7F3E-7C76-846AF22C7C99}"/>
              </a:ext>
            </a:extLst>
          </p:cNvPr>
          <p:cNvSpPr>
            <a:spLocks noGrp="1"/>
          </p:cNvSpPr>
          <p:nvPr>
            <p:ph type="dt" sz="half" idx="10"/>
          </p:nvPr>
        </p:nvSpPr>
        <p:spPr/>
        <p:txBody>
          <a:bodyPr/>
          <a:lstStyle/>
          <a:p>
            <a:fld id="{A0B1FBF0-42C7-4F14-A5FE-3848763E4516}" type="datetime1">
              <a:rPr lang="en-IN" smtClean="0"/>
              <a:t>13-10-2026</a:t>
            </a:fld>
            <a:endParaRPr lang="en-IN"/>
          </a:p>
        </p:txBody>
      </p:sp>
      <p:sp>
        <p:nvSpPr>
          <p:cNvPr id="3" name="Footer Placeholder 2">
            <a:extLst>
              <a:ext uri="{FF2B5EF4-FFF2-40B4-BE49-F238E27FC236}">
                <a16:creationId xmlns:a16="http://schemas.microsoft.com/office/drawing/2014/main" id="{D43413DE-9885-857C-AFBD-59AA7579899E}"/>
              </a:ext>
            </a:extLst>
          </p:cNvPr>
          <p:cNvSpPr>
            <a:spLocks noGrp="1"/>
          </p:cNvSpPr>
          <p:nvPr>
            <p:ph type="ftr" sz="quarter" idx="11"/>
          </p:nvPr>
        </p:nvSpPr>
        <p:spPr/>
        <p:txBody>
          <a:bodyPr/>
          <a:lstStyle/>
          <a:p>
            <a:r>
              <a:rPr lang="en-IN"/>
              <a:t>AI &amp; DS</a:t>
            </a:r>
          </a:p>
        </p:txBody>
      </p:sp>
      <p:sp>
        <p:nvSpPr>
          <p:cNvPr id="4" name="Slide Number Placeholder 3">
            <a:extLst>
              <a:ext uri="{FF2B5EF4-FFF2-40B4-BE49-F238E27FC236}">
                <a16:creationId xmlns:a16="http://schemas.microsoft.com/office/drawing/2014/main" id="{C5DBB0B7-0128-6E45-4B94-54C4ED37D9CC}"/>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4065871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76A4-0106-3307-C03A-2E54DCFDD9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4D4FB0-B337-7A1C-E083-BA2EB4F23E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29D0C6-DCD4-7540-6144-66005C8DAA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090FC-4336-16F5-A39C-34258F105AC3}"/>
              </a:ext>
            </a:extLst>
          </p:cNvPr>
          <p:cNvSpPr>
            <a:spLocks noGrp="1"/>
          </p:cNvSpPr>
          <p:nvPr>
            <p:ph type="dt" sz="half" idx="10"/>
          </p:nvPr>
        </p:nvSpPr>
        <p:spPr/>
        <p:txBody>
          <a:bodyPr/>
          <a:lstStyle/>
          <a:p>
            <a:fld id="{5A177244-3FB4-4CA4-B6C5-213F87AEDB4B}" type="datetime1">
              <a:rPr lang="en-IN" smtClean="0"/>
              <a:t>13-10-2026</a:t>
            </a:fld>
            <a:endParaRPr lang="en-IN"/>
          </a:p>
        </p:txBody>
      </p:sp>
      <p:sp>
        <p:nvSpPr>
          <p:cNvPr id="6" name="Footer Placeholder 5">
            <a:extLst>
              <a:ext uri="{FF2B5EF4-FFF2-40B4-BE49-F238E27FC236}">
                <a16:creationId xmlns:a16="http://schemas.microsoft.com/office/drawing/2014/main" id="{F4DC6C34-068B-2456-9DB9-5C2792FD7345}"/>
              </a:ext>
            </a:extLst>
          </p:cNvPr>
          <p:cNvSpPr>
            <a:spLocks noGrp="1"/>
          </p:cNvSpPr>
          <p:nvPr>
            <p:ph type="ftr" sz="quarter" idx="11"/>
          </p:nvPr>
        </p:nvSpPr>
        <p:spPr/>
        <p:txBody>
          <a:bodyPr/>
          <a:lstStyle/>
          <a:p>
            <a:r>
              <a:rPr lang="en-IN"/>
              <a:t>AI &amp; DS</a:t>
            </a:r>
          </a:p>
        </p:txBody>
      </p:sp>
      <p:sp>
        <p:nvSpPr>
          <p:cNvPr id="7" name="Slide Number Placeholder 6">
            <a:extLst>
              <a:ext uri="{FF2B5EF4-FFF2-40B4-BE49-F238E27FC236}">
                <a16:creationId xmlns:a16="http://schemas.microsoft.com/office/drawing/2014/main" id="{CA8B48BC-3333-F1D0-D41C-FC28CC5D3E8E}"/>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268024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E8FA-66C1-B1B4-AAD1-66AC0D383E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9712B7-CCEE-C32F-BA9E-504F383987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B50D866-F211-68FC-3D1D-5EE5DA3129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8DC512-736A-8961-04F9-5471F3234C3E}"/>
              </a:ext>
            </a:extLst>
          </p:cNvPr>
          <p:cNvSpPr>
            <a:spLocks noGrp="1"/>
          </p:cNvSpPr>
          <p:nvPr>
            <p:ph type="dt" sz="half" idx="10"/>
          </p:nvPr>
        </p:nvSpPr>
        <p:spPr/>
        <p:txBody>
          <a:bodyPr/>
          <a:lstStyle/>
          <a:p>
            <a:fld id="{20A1202E-F55D-4C14-B1AB-ED98A8F89245}" type="datetime1">
              <a:rPr lang="en-IN" smtClean="0"/>
              <a:t>13-10-2026</a:t>
            </a:fld>
            <a:endParaRPr lang="en-IN"/>
          </a:p>
        </p:txBody>
      </p:sp>
      <p:sp>
        <p:nvSpPr>
          <p:cNvPr id="6" name="Footer Placeholder 5">
            <a:extLst>
              <a:ext uri="{FF2B5EF4-FFF2-40B4-BE49-F238E27FC236}">
                <a16:creationId xmlns:a16="http://schemas.microsoft.com/office/drawing/2014/main" id="{DE6D4F1E-B3FC-1240-BABA-17FB7934F2E5}"/>
              </a:ext>
            </a:extLst>
          </p:cNvPr>
          <p:cNvSpPr>
            <a:spLocks noGrp="1"/>
          </p:cNvSpPr>
          <p:nvPr>
            <p:ph type="ftr" sz="quarter" idx="11"/>
          </p:nvPr>
        </p:nvSpPr>
        <p:spPr/>
        <p:txBody>
          <a:bodyPr/>
          <a:lstStyle/>
          <a:p>
            <a:r>
              <a:rPr lang="en-IN"/>
              <a:t>AI &amp; DS</a:t>
            </a:r>
          </a:p>
        </p:txBody>
      </p:sp>
      <p:sp>
        <p:nvSpPr>
          <p:cNvPr id="7" name="Slide Number Placeholder 6">
            <a:extLst>
              <a:ext uri="{FF2B5EF4-FFF2-40B4-BE49-F238E27FC236}">
                <a16:creationId xmlns:a16="http://schemas.microsoft.com/office/drawing/2014/main" id="{3515E519-9388-0008-9EE9-5B5271285D7A}"/>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115193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92D2F-A3C0-6928-400B-9B48321E6A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BB3A81-0B6F-B6DB-F66A-50B972EBBC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DC663F-1F50-924E-7C4F-815850228C92}"/>
              </a:ext>
            </a:extLst>
          </p:cNvPr>
          <p:cNvSpPr>
            <a:spLocks noGrp="1"/>
          </p:cNvSpPr>
          <p:nvPr>
            <p:ph type="dt" sz="half" idx="10"/>
          </p:nvPr>
        </p:nvSpPr>
        <p:spPr/>
        <p:txBody>
          <a:bodyPr/>
          <a:lstStyle/>
          <a:p>
            <a:fld id="{1A4770E7-909A-403F-9692-F9A242557A3C}" type="datetime1">
              <a:rPr lang="en-IN" smtClean="0"/>
              <a:t>13-10-2026</a:t>
            </a:fld>
            <a:endParaRPr lang="en-IN"/>
          </a:p>
        </p:txBody>
      </p:sp>
      <p:sp>
        <p:nvSpPr>
          <p:cNvPr id="5" name="Footer Placeholder 4">
            <a:extLst>
              <a:ext uri="{FF2B5EF4-FFF2-40B4-BE49-F238E27FC236}">
                <a16:creationId xmlns:a16="http://schemas.microsoft.com/office/drawing/2014/main" id="{0CF0D3BE-0956-835C-D152-40F9940EFF2E}"/>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a16:creationId xmlns:a16="http://schemas.microsoft.com/office/drawing/2014/main" id="{2A2EDD6B-705E-B29F-294D-C719A7284DC3}"/>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678218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F65A43-62A9-DE4F-EF4E-0C23E7517F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DFCB07-EEE4-FEA0-2A74-10C5F5B3E3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EAE259-D008-79BA-E200-E73821A95DFD}"/>
              </a:ext>
            </a:extLst>
          </p:cNvPr>
          <p:cNvSpPr>
            <a:spLocks noGrp="1"/>
          </p:cNvSpPr>
          <p:nvPr>
            <p:ph type="dt" sz="half" idx="10"/>
          </p:nvPr>
        </p:nvSpPr>
        <p:spPr/>
        <p:txBody>
          <a:bodyPr/>
          <a:lstStyle/>
          <a:p>
            <a:fld id="{20ED953C-7D9C-4AB4-A6EE-B72F834C4E2D}" type="datetime1">
              <a:rPr lang="en-IN" smtClean="0"/>
              <a:t>13-10-2026</a:t>
            </a:fld>
            <a:endParaRPr lang="en-IN"/>
          </a:p>
        </p:txBody>
      </p:sp>
      <p:sp>
        <p:nvSpPr>
          <p:cNvPr id="5" name="Footer Placeholder 4">
            <a:extLst>
              <a:ext uri="{FF2B5EF4-FFF2-40B4-BE49-F238E27FC236}">
                <a16:creationId xmlns:a16="http://schemas.microsoft.com/office/drawing/2014/main" id="{D845233D-AC89-5B65-80F7-5E679AFC0C6E}"/>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a16:creationId xmlns:a16="http://schemas.microsoft.com/office/drawing/2014/main" id="{69527E0E-34A1-F84F-246F-4B43FF1AE4CE}"/>
              </a:ext>
            </a:extLst>
          </p:cNvPr>
          <p:cNvSpPr>
            <a:spLocks noGrp="1"/>
          </p:cNvSpPr>
          <p:nvPr>
            <p:ph type="sldNum" sz="quarter" idx="12"/>
          </p:nvPr>
        </p:nvSpPr>
        <p:spPr/>
        <p:txBody>
          <a:bodyPr/>
          <a:lstStyle/>
          <a:p>
            <a:fld id="{AE8ECBEC-9D45-4A96-9D52-E47BFA67FC36}" type="slidenum">
              <a:rPr lang="en-IN" smtClean="0"/>
              <a:t>‹#›</a:t>
            </a:fld>
            <a:endParaRPr lang="en-IN"/>
          </a:p>
        </p:txBody>
      </p:sp>
    </p:spTree>
    <p:extLst>
      <p:ext uri="{BB962C8B-B14F-4D97-AF65-F5344CB8AC3E}">
        <p14:creationId xmlns:p14="http://schemas.microsoft.com/office/powerpoint/2010/main" val="4084572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10D2E7-E603-030B-AE5B-678AA3795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835610-B23F-0623-4C17-74EB2A44CF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F2864A-67BB-BF70-E463-A53A5A5495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13445-71BC-4AA5-B4C4-973D25B7D8B7}" type="datetime1">
              <a:rPr lang="en-IN" smtClean="0"/>
              <a:t>13-10-2026</a:t>
            </a:fld>
            <a:endParaRPr lang="en-IN"/>
          </a:p>
        </p:txBody>
      </p:sp>
      <p:sp>
        <p:nvSpPr>
          <p:cNvPr id="5" name="Footer Placeholder 4">
            <a:extLst>
              <a:ext uri="{FF2B5EF4-FFF2-40B4-BE49-F238E27FC236}">
                <a16:creationId xmlns:a16="http://schemas.microsoft.com/office/drawing/2014/main" id="{D3B11C12-AD0E-BFF2-2B2D-A0CBCA9E6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AI &amp; DS</a:t>
            </a:r>
          </a:p>
        </p:txBody>
      </p:sp>
      <p:sp>
        <p:nvSpPr>
          <p:cNvPr id="6" name="Slide Number Placeholder 5">
            <a:extLst>
              <a:ext uri="{FF2B5EF4-FFF2-40B4-BE49-F238E27FC236}">
                <a16:creationId xmlns:a16="http://schemas.microsoft.com/office/drawing/2014/main" id="{64544514-9BE2-01A7-EAB3-220072BEA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8ECBEC-9D45-4A96-9D52-E47BFA67FC36}" type="slidenum">
              <a:rPr lang="en-IN" smtClean="0"/>
              <a:t>‹#›</a:t>
            </a:fld>
            <a:endParaRPr lang="en-IN"/>
          </a:p>
        </p:txBody>
      </p:sp>
    </p:spTree>
    <p:extLst>
      <p:ext uri="{BB962C8B-B14F-4D97-AF65-F5344CB8AC3E}">
        <p14:creationId xmlns:p14="http://schemas.microsoft.com/office/powerpoint/2010/main" val="3526943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researchgate.net/publication/330702209_Remote_and_Autonomous_Controlled_Robotic_Car_based_on_Arduino_with_Real_Time_Obstacle_Detection_and_Avoidance" TargetMode="External"/><Relationship Id="rId7" Type="http://schemas.openxmlformats.org/officeDocument/2006/relationships/hyperlink" Target="https://ijcrt.org/papers/IJCRT2204639.pdf"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researchgate.net/publication/334167858_Smart_Security_Surveillance_using_IoT" TargetMode="External"/><Relationship Id="rId5" Type="http://schemas.openxmlformats.org/officeDocument/2006/relationships/hyperlink" Target="https://ijcrt.org/papers/IJCRT24A4148.pdf" TargetMode="External"/><Relationship Id="rId4" Type="http://schemas.openxmlformats.org/officeDocument/2006/relationships/hyperlink" Target="https://www.irjet.com/archives/V10/i12/IRJET-V10I1232.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Subtitle 2">
            <a:extLst>
              <a:ext uri="{FF2B5EF4-FFF2-40B4-BE49-F238E27FC236}">
                <ns2:creationId id="{A0AAA18C-4B5F-967D-BCB1-9DE882FB0F61}"/>
              </a:ext>
            </a:extLst>
          </p:cNvPr>
          <p:cNvSpPr>
            <a:spLocks noGrp="1"/>
          </p:cNvSpPr>
          <p:nvPr>
            <p:ph type="subTitle" idx="1"/>
          </p:nvPr>
        </p:nvSpPr>
        <p:spPr>
          <a:xfrm>
            <a:off x="3149930" y="3120888"/>
            <a:ext cx="5397721" cy="2644971"/>
          </a:xfrm>
        </p:spPr>
        <p:txBody>
          <a:bodyPr>
            <a:normAutofit/>
          </a:bodyPr>
          <a:lstStyle/>
          <a:p>
            <a:r>
              <a:rPr lang="en-IN" dirty="0">
                <a:latin typeface="Times New Roman" panose="02020603050405020304" pitchFamily="18" charset="0"/>
                <a:cs typeface="Times New Roman" panose="02020603050405020304" pitchFamily="18" charset="0"/>
              </a:rPr>
              <a:t>Batch No:05</a:t>
            </a:r>
          </a:p>
          <a:p>
            <a:r>
              <a:rPr lang="en-US" dirty="0">
                <a:latin typeface="Times New Roman" panose="02020603050405020304" pitchFamily="18" charset="0"/>
                <a:cs typeface="Times New Roman" panose="02020603050405020304" pitchFamily="18" charset="0"/>
              </a:rPr>
              <a:t>Team Details:</a:t>
            </a:r>
          </a:p>
          <a:p>
            <a:r>
              <a:rPr lang="en-US" dirty="0" err="1">
                <a:latin typeface="Times New Roman" panose="02020603050405020304" pitchFamily="18" charset="0"/>
                <a:cs typeface="Times New Roman" panose="02020603050405020304" pitchFamily="18" charset="0"/>
              </a:rPr>
              <a:t>Mashetty</a:t>
            </a:r>
            <a:r>
              <a:rPr lang="en-US" dirty="0">
                <a:latin typeface="Times New Roman" panose="02020603050405020304" pitchFamily="18" charset="0"/>
                <a:cs typeface="Times New Roman" panose="02020603050405020304" pitchFamily="18" charset="0"/>
              </a:rPr>
              <a:t> Rohith(23AG1A7236)</a:t>
            </a:r>
          </a:p>
          <a:p>
            <a:r>
              <a:rPr lang="en-US" dirty="0" err="1">
                <a:latin typeface="Times New Roman" panose="02020603050405020304" pitchFamily="18" charset="0"/>
                <a:cs typeface="Times New Roman" panose="02020603050405020304" pitchFamily="18" charset="0"/>
              </a:rPr>
              <a:t>Chintam</a:t>
            </a:r>
            <a:r>
              <a:rPr lang="en-US" dirty="0">
                <a:latin typeface="Times New Roman" panose="02020603050405020304" pitchFamily="18" charset="0"/>
                <a:cs typeface="Times New Roman" panose="02020603050405020304" pitchFamily="18" charset="0"/>
              </a:rPr>
              <a:t> Archana(23AG1A7214)</a:t>
            </a:r>
          </a:p>
          <a:p>
            <a:r>
              <a:rPr lang="en-US" dirty="0">
                <a:latin typeface="Times New Roman" panose="02020603050405020304" pitchFamily="18" charset="0"/>
                <a:cs typeface="Times New Roman" panose="02020603050405020304" pitchFamily="18" charset="0"/>
              </a:rPr>
              <a:t>Namasi Aravind(24AG5A7205)</a:t>
            </a:r>
          </a:p>
          <a:p>
            <a:pPr algn="just"/>
            <a:endParaRPr lang="en-IN" dirty="0"/>
          </a:p>
        </p:txBody>
      </p:sp>
      <p:pic>
        <p:nvPicPr>
          <p:cNvPr id="6" name="Picture 5">
            <a:extLst>
              <a:ext uri="{FF2B5EF4-FFF2-40B4-BE49-F238E27FC236}">
                <ns2:creationId id="{CA9708EE-60FA-F402-73A8-CF253BE44A08}"/>
              </a:ext>
            </a:extLst>
          </p:cNvPr>
          <p:cNvPicPr>
            <a:picLocks noChangeAspect="1"/>
          </p:cNvPicPr>
          <p:nvPr/>
        </p:nvPicPr>
        <p:blipFill>
          <a:blip r:embed="rId2"/>
          <a:stretch>
            <a:fillRect/>
          </a:stretch>
        </p:blipFill>
        <p:spPr>
          <a:xfrm>
            <a:off x="681771" y="407315"/>
            <a:ext cx="5572424" cy="973287"/>
          </a:xfrm>
          <a:prstGeom prst="rect">
            <a:avLst/>
          </a:prstGeom>
        </p:spPr>
      </p:pic>
      <p:sp>
        <p:nvSpPr>
          <p:cNvPr id="8" name="Title 7">
            <a:extLst>
              <a:ext uri="{FF2B5EF4-FFF2-40B4-BE49-F238E27FC236}">
                <ns2:creationId id="{0FEB2737-67D1-E8A5-F41B-A49B46AA4655}"/>
              </a:ext>
            </a:extLst>
          </p:cNvPr>
          <p:cNvSpPr>
            <a:spLocks noGrp="1"/>
          </p:cNvSpPr>
          <p:nvPr>
            <p:ph type="ctrTitle"/>
          </p:nvPr>
        </p:nvSpPr>
        <p:spPr>
          <a:xfrm>
            <a:off x="1837908" y="1837981"/>
            <a:ext cx="8832574" cy="1282907"/>
          </a:xfrm>
        </p:spPr>
        <p:txBody>
          <a:bodyPr>
            <a:noAutofit/>
          </a:bodyPr>
          <a:lstStyle/>
          <a:p>
            <a:pPr algn="ctr"/>
            <a:r>
              <a:rPr lang="en-US" sz="3200" b="1">
                <a:latin typeface="Times New Roman"/>
              </a:rPr>
              <a:t>Project Title: WORKUP: Virtual Professional Experience Platform</a:t>
            </a:r>
          </a:p>
        </p:txBody>
      </p:sp>
      <p:pic>
        <p:nvPicPr>
          <p:cNvPr id="10" name="Picture 9">
            <a:extLst>
              <a:ext uri="{FF2B5EF4-FFF2-40B4-BE49-F238E27FC236}">
                <ns2:creationId id="{E42C5D72-E6AC-2EF8-1F3D-7B776899DBC4}"/>
              </a:ext>
            </a:extLst>
          </p:cNvPr>
          <p:cNvPicPr>
            <a:picLocks noChangeAspect="1"/>
          </p:cNvPicPr>
          <p:nvPr/>
        </p:nvPicPr>
        <p:blipFill>
          <a:blip r:embed="rId3"/>
          <a:stretch>
            <a:fillRect/>
          </a:stretch>
        </p:blipFill>
        <p:spPr>
          <a:xfrm>
            <a:off x="6582906" y="477079"/>
            <a:ext cx="4404642" cy="903524"/>
          </a:xfrm>
          <a:prstGeom prst="rect">
            <a:avLst/>
          </a:prstGeom>
        </p:spPr>
      </p:pic>
      <p:sp>
        <p:nvSpPr>
          <p:cNvPr id="12" name="TextBox 11">
            <a:extLst>
              <a:ext uri="{FF2B5EF4-FFF2-40B4-BE49-F238E27FC236}">
                <ns2:creationId id="{BB79393C-514E-4BF8-510B-DFA26E7E2E37}"/>
              </a:ext>
            </a:extLst>
          </p:cNvPr>
          <p:cNvSpPr txBox="1"/>
          <p:nvPr/>
        </p:nvSpPr>
        <p:spPr>
          <a:xfrm>
            <a:off x="588819" y="5575852"/>
            <a:ext cx="4649103"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Internal Guide: </a:t>
            </a:r>
            <a:r>
              <a:rPr lang="en-US" sz="2400" dirty="0" err="1">
                <a:latin typeface="Times New Roman" panose="02020603050405020304" pitchFamily="18" charset="0"/>
                <a:cs typeface="Times New Roman" panose="02020603050405020304" pitchFamily="18" charset="0"/>
              </a:rPr>
              <a:t>Mrs.P.Swaroopa</a:t>
            </a:r>
            <a:endParaRPr lang="en-US" sz="2400" dirty="0">
              <a:latin typeface="Times New Roman" panose="02020603050405020304" pitchFamily="18" charset="0"/>
              <a:cs typeface="Times New Roman" panose="02020603050405020304" pitchFamily="18" charset="0"/>
            </a:endParaRPr>
          </a:p>
          <a:p>
            <a:pPr algn="ctr"/>
            <a:endParaRPr lang="id-ID"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ns2:creationId id="{F06D1647-3D2F-61EA-FD27-83675EAF4AA8}"/>
              </a:ext>
            </a:extLst>
          </p:cNvPr>
          <p:cNvSpPr txBox="1"/>
          <p:nvPr/>
        </p:nvSpPr>
        <p:spPr>
          <a:xfrm>
            <a:off x="8785227" y="5575852"/>
            <a:ext cx="6097656" cy="707886"/>
          </a:xfrm>
          <a:prstGeom prst="rect">
            <a:avLst/>
          </a:prstGeom>
          <a:noFill/>
        </p:spPr>
        <p:txBody>
          <a:bodyPr wrap="square">
            <a:spAutoFit/>
          </a:bodyPr>
          <a:lstStyle/>
          <a:p>
            <a:r>
              <a:rPr lang="en-US" sz="2000" dirty="0" err="1">
                <a:latin typeface="Times New Roman" panose="02020603050405020304" pitchFamily="18" charset="0"/>
                <a:cs typeface="Times New Roman" panose="02020603050405020304" pitchFamily="18" charset="0"/>
              </a:rPr>
              <a:t>HoD</a:t>
            </a:r>
            <a:r>
              <a:rPr lang="en-US" sz="2000" dirty="0">
                <a:latin typeface="Times New Roman" panose="02020603050405020304" pitchFamily="18" charset="0"/>
                <a:cs typeface="Times New Roman" panose="02020603050405020304" pitchFamily="18" charset="0"/>
              </a:rPr>
              <a:t>-CSE(AI&amp;DS)</a:t>
            </a:r>
          </a:p>
          <a:p>
            <a:r>
              <a:rPr lang="en-US" sz="2000" dirty="0" err="1">
                <a:latin typeface="Times New Roman" panose="02020603050405020304" pitchFamily="18" charset="0"/>
                <a:cs typeface="Times New Roman" panose="02020603050405020304" pitchFamily="18" charset="0"/>
              </a:rPr>
              <a:t>Dr.M.V.Vijaya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Saradhi</a:t>
            </a:r>
            <a:endParaRPr lang="en-US" sz="2000" dirty="0">
              <a:latin typeface="Times New Roman" panose="02020603050405020304" pitchFamily="18" charset="0"/>
              <a:cs typeface="Times New Roman" panose="02020603050405020304" pitchFamily="18" charset="0"/>
            </a:endParaRPr>
          </a:p>
        </p:txBody>
      </p:sp>
      <p:sp>
        <p:nvSpPr>
          <p:cNvPr id="15" name="Date Placeholder 14">
            <a:extLst>
              <a:ext uri="{FF2B5EF4-FFF2-40B4-BE49-F238E27FC236}">
                <ns2:creationId id="{0B53F2D7-1165-828E-C4A0-B85C05913DCC}"/>
              </a:ext>
            </a:extLst>
          </p:cNvPr>
          <p:cNvSpPr>
            <a:spLocks noGrp="1"/>
          </p:cNvSpPr>
          <p:nvPr>
            <p:ph type="dt" sz="half" idx="10"/>
          </p:nvPr>
        </p:nvSpPr>
        <p:spPr/>
        <p:txBody>
          <a:bodyPr/>
          <a:lstStyle/>
          <a:p>
            <a:fld id="{414A0637-1AC3-47D1-9472-F35B703DE0FE}" type="datetime1">
              <a:rPr lang="en-IN" smtClean="0"/>
              <a:t>13-10-2026</a:t>
            </a:fld>
            <a:endParaRPr lang="en-IN" dirty="0"/>
          </a:p>
        </p:txBody>
      </p:sp>
      <p:sp>
        <p:nvSpPr>
          <p:cNvPr id="16" name="Footer Placeholder 15">
            <a:extLst>
              <a:ext uri="{FF2B5EF4-FFF2-40B4-BE49-F238E27FC236}">
                <ns2:creationId id="{06EBC5AD-E5AE-5866-99A1-D0CC4FEE278D}"/>
              </a:ext>
            </a:extLst>
          </p:cNvPr>
          <p:cNvSpPr>
            <a:spLocks noGrp="1"/>
          </p:cNvSpPr>
          <p:nvPr>
            <p:ph type="ftr" sz="quarter" idx="11"/>
          </p:nvPr>
        </p:nvSpPr>
        <p:spPr/>
        <p:txBody>
          <a:bodyPr/>
          <a:lstStyle/>
          <a:p>
            <a:r>
              <a:rPr lang="en-IN" dirty="0"/>
              <a:t>AI &amp; DS</a:t>
            </a:r>
          </a:p>
        </p:txBody>
      </p:sp>
      <p:sp>
        <p:nvSpPr>
          <p:cNvPr id="17" name="Slide Number Placeholder 16">
            <a:extLst>
              <a:ext uri="{FF2B5EF4-FFF2-40B4-BE49-F238E27FC236}">
                <ns2:creationId id="{D928322F-D277-6600-BC47-2C2939AAE7A0}"/>
              </a:ext>
            </a:extLst>
          </p:cNvPr>
          <p:cNvSpPr>
            <a:spLocks noGrp="1"/>
          </p:cNvSpPr>
          <p:nvPr>
            <p:ph type="sldNum" sz="quarter" idx="12"/>
          </p:nvPr>
        </p:nvSpPr>
        <p:spPr/>
        <p:txBody>
          <a:bodyPr/>
          <a:lstStyle/>
          <a:p>
            <a:fld id="{AE8ECBEC-9D45-4A96-9D52-E47BFA67FC36}" type="slidenum">
              <a:rPr lang="en-IN" smtClean="0"/>
              <a:t>1</a:t>
            </a:fld>
            <a:endParaRPr lang="en-IN"/>
          </a:p>
        </p:txBody>
      </p:sp>
    </p:spTree>
    <p:extLst>
      <p:ext uri="{BB962C8B-B14F-4D97-AF65-F5344CB8AC3E}">
        <ns4:creationId val="2732205844"/>
      </p:ext>
    </p:extLst>
  </p:cSld>
  <p:clrMapOvr>
    <a:masterClrMapping/>
  </p:clrMapOvr>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ns2:creationId id="{AE5BEC77-5308-57A7-E5F3-091C18F52FF6}"/>
              </a:ext>
            </a:extLst>
          </p:cNvPr>
          <p:cNvSpPr>
            <a:spLocks noGrp="1"/>
          </p:cNvSpPr>
          <p:nvPr>
            <p:ph type="title"/>
          </p:nvPr>
        </p:nvSpPr>
        <p:spPr/>
        <p:txBody>
          <a:bodyPr/>
          <a:lstStyle/>
          <a:p>
            <a:r>
              <a:rPr lang="en-IN" b="1" dirty="0"/>
              <a:t>Abstract</a:t>
            </a:r>
          </a:p>
        </p:txBody>
      </p:sp>
      <p:sp>
        <p:nvSpPr>
          <p:cNvPr id="3" name="Content Placeholder 2">
            <a:extLst>
              <a:ext uri="{FF2B5EF4-FFF2-40B4-BE49-F238E27FC236}">
                <ns2:creationId id="{54A56928-4E9C-A54D-64EB-424209E87785}"/>
              </a:ext>
            </a:extLst>
          </p:cNvPr>
          <p:cNvSpPr>
            <a:spLocks noGrp="1"/>
          </p:cNvSpPr>
          <p:nvPr>
            <p:ph idx="1"/>
          </p:nvPr>
        </p:nvSpPr>
        <p:spPr>
          <a:xfrm>
            <a:off x="769374" y="1933780"/>
            <a:ext cx="10515600" cy="3523123"/>
          </a:xfrm>
        </p:spPr>
        <p:txBody>
          <a:bodyPr>
            <a:normAutofit/>
          </a:bodyPr>
          <a:lstStyle/>
          <a:p>
            <a:pPr algn="just">
              <a:buNone/>
            </a:pPr>
            <a:r>
              <a:rPr lang="en-US" sz="1600" dirty="0"/>
              <a:t>Most computer science students learn programming concepts through lectures and isolated coding exercises, but face significant difficulties when transitioning to professional software engineering teams. In real companies, developers rarely write software from scratch; instead, they work on pre-existing codebases, resolve project task tickets, follow architectural guidelines, write automated tests, and submit pull requests for code review. Existing learning platforms focus heavily on syntax and algorithmic puzzles, leaving students with limited exposure to realistic team workflows.</a:t>
            </a:r>
          </a:p>
          <a:p>
            <a:pPr>
              <a:buNone/>
            </a:pPr>
            <a:endParaRPr sz="400"/>
          </a:p>
          <a:p>
            <a:pPr algn="just">
              <a:buNone/>
            </a:pPr>
            <a:r>
              <a:rPr lang="en-US" sz="1600" dirty="0"/>
              <a:t>This project presents WORKUP, a web-based virtual professional experience platform designed to bridge this practical gap. Instead of solving toy problems, learners enter simulated tech companies (such as FinFlow Technologies) and take on realistic engineering roles. The platform organizes work into project backlogs using a task dependency engine, linking each task to real business scenarios and Architecture Decision Records (ADRs). Learners work inside isolated browser-based development sandboxes where they can edit code, run automated tests locally, and submit their changes for review.</a:t>
            </a:r>
          </a:p>
          <a:p>
            <a:pPr>
              <a:buNone/>
            </a:pPr>
            <a:endParaRPr sz="400"/>
          </a:p>
          <a:p>
            <a:pPr algn="just">
              <a:buNone/>
            </a:pPr>
            <a:r>
              <a:rPr lang="en-US" sz="1600" dirty="0"/>
              <a:t>An automated AI-assisted code review engine evaluates code changes against defined rubrics and provides line-level feedback to guide the learner. As tasks are approved, the platform creates an Evidence-of-Skill portfolio backed by verified Git commits. The system is designed and prototyped using Next.js 14, React.js, TypeScript, Prisma ORM, and Vitest, offering a safe, hands-on environment where students gain realistic workplace experience before starting their careers.</a:t>
            </a:r>
          </a:p>
          <a:p>
            <a:pPr>
              <a:buNone/>
            </a:pPr>
            <a:endParaRPr sz="400"/>
          </a:p>
        </p:txBody>
      </p:sp>
      <p:sp>
        <p:nvSpPr>
          <p:cNvPr id="4" name="Date Placeholder 3">
            <a:extLst>
              <a:ext uri="{FF2B5EF4-FFF2-40B4-BE49-F238E27FC236}">
                <ns2:creationId id="{26649E7E-845A-78DD-ACD4-FD9901C4A740}"/>
              </a:ext>
            </a:extLst>
          </p:cNvPr>
          <p:cNvSpPr>
            <a:spLocks noGrp="1"/>
          </p:cNvSpPr>
          <p:nvPr>
            <p:ph type="dt" sz="half" idx="10"/>
          </p:nvPr>
        </p:nvSpPr>
        <p:spPr/>
        <p:txBody>
          <a:bodyPr/>
          <a:lstStyle/>
          <a:p>
            <a:fld id="{42C22B0B-78C2-464F-9FB5-DEC597CB34E6}" type="datetime1">
              <a:rPr lang="en-IN" smtClean="0"/>
              <a:t>13-10-2026</a:t>
            </a:fld>
            <a:endParaRPr lang="en-IN"/>
          </a:p>
        </p:txBody>
      </p:sp>
      <p:sp>
        <p:nvSpPr>
          <p:cNvPr id="5" name="Footer Placeholder 4">
            <a:extLst>
              <a:ext uri="{FF2B5EF4-FFF2-40B4-BE49-F238E27FC236}">
                <ns2:creationId id="{87D5B87E-32AF-E456-967A-935CE313F187}"/>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537AC0BA-556E-85DE-2F33-41B09E9F7298}"/>
              </a:ext>
            </a:extLst>
          </p:cNvPr>
          <p:cNvSpPr>
            <a:spLocks noGrp="1"/>
          </p:cNvSpPr>
          <p:nvPr>
            <p:ph type="sldNum" sz="quarter" idx="12"/>
          </p:nvPr>
        </p:nvSpPr>
        <p:spPr/>
        <p:txBody>
          <a:bodyPr/>
          <a:lstStyle/>
          <a:p>
            <a:fld id="{AE8ECBEC-9D45-4A96-9D52-E47BFA67FC36}" type="slidenum">
              <a:rPr lang="en-IN" smtClean="0"/>
              <a:t>2</a:t>
            </a:fld>
            <a:endParaRPr lang="en-IN"/>
          </a:p>
        </p:txBody>
      </p:sp>
    </p:spTree>
    <p:extLst>
      <p:ext uri="{BB962C8B-B14F-4D97-AF65-F5344CB8AC3E}">
        <ns3:creationId val="1575768473"/>
      </p:ext>
    </p:extLst>
  </p:cSld>
  <p:clrMapOvr>
    <a:masterClrMapping/>
  </p:clrMapOvr>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ns2:creationId id="{20EBD12D-5D70-7699-FAF1-3ED905F014DE}"/>
              </a:ext>
            </a:extLst>
          </p:cNvPr>
          <p:cNvSpPr>
            <a:spLocks noGrp="1"/>
          </p:cNvSpPr>
          <p:nvPr>
            <p:ph type="subTitle" idx="1"/>
          </p:nvPr>
        </p:nvSpPr>
        <p:spPr>
          <a:xfrm>
            <a:off x="422787" y="432619"/>
            <a:ext cx="11474245" cy="5850193"/>
          </a:xfrm>
        </p:spPr>
        <p:txBody>
          <a:bodyPr>
            <a:normAutofit fontScale="92500" lnSpcReduction="10000"/>
          </a:bodyPr>
          <a:lstStyle/>
          <a:p>
            <a:pPr algn="just">
              <a:buNone/>
            </a:pPr>
            <a:r>
              <a:rPr lang="en-US" sz="4400" b="1">
                <a:latin typeface="+mj-lt"/>
              </a:rPr>
              <a:t>Literature Survey (1)</a:t>
            </a:r>
          </a:p>
          <a:p>
            <a:pPr>
              <a:buNone/>
            </a:pPr>
            <a:endParaRPr sz="600"/>
          </a:p>
          <a:p>
            <a:pPr algn="just">
              <a:buNone/>
            </a:pPr>
            <a:r>
              <a:rPr lang="en-US" b="1" sz="2100"/>
              <a:t>Paper Title: </a:t>
            </a:r>
            <a:r>
              <a:rPr lang="en-US" sz="2100"/>
              <a:t>Comprehensive Evaluation of an Educational Software Engineering Simulation Environment</a:t>
            </a:r>
          </a:p>
          <a:p>
            <a:pPr algn="just">
              <a:buNone/>
            </a:pPr>
            <a:r>
              <a:rPr lang="en-US" b="1" sz="2100"/>
              <a:t>Author: </a:t>
            </a:r>
            <a:r>
              <a:rPr lang="en-US" sz="2100"/>
              <a:t>Emily Navarro, André van der Hoek</a:t>
            </a:r>
          </a:p>
          <a:p>
            <a:pPr algn="just">
              <a:buNone/>
            </a:pPr>
            <a:r>
              <a:rPr lang="en-US" b="1" sz="2100"/>
              <a:t>Year of Published Paper : </a:t>
            </a:r>
            <a:r>
              <a:rPr lang="en-US" sz="2100"/>
              <a:t>2007 (IEEE Transactions on Software Engineering)</a:t>
            </a:r>
          </a:p>
          <a:p>
            <a:pPr algn="just">
              <a:buNone/>
            </a:pPr>
            <a:r>
              <a:rPr lang="en-US" b="1" sz="2100"/>
              <a:t>Description:</a:t>
            </a:r>
          </a:p>
          <a:p>
            <a:pPr algn="just">
              <a:buNone/>
            </a:pPr>
            <a:r>
              <a:rPr lang="en-US" sz="2000"/>
              <a:t>This paper presents the design and longitudinal evaluation of SimSE, an educational software engineering simulation environment. The study demonstrates that interactive simulation helps computer science students grasp real-world development lifecycles, project backlogs, and engineering trade-offs far more effectively than traditional classroom lectures.</a:t>
            </a:r>
          </a:p>
          <a:p>
            <a:pPr algn="just">
              <a:buNone/>
            </a:pPr>
            <a:r>
              <a:rPr lang="en-US" b="1" sz="2100"/>
              <a:t>Purpose of Referring This Paper for My Project:</a:t>
            </a:r>
          </a:p>
          <a:p>
            <a:pPr algn="just">
              <a:buNone/>
            </a:pPr>
            <a:r>
              <a:rPr lang="en-US" sz="2000"/>
              <a:t>I am referring to this paper to design the simulated company workflow and sprint backlog system for WORKUP. The authors' findings show that interactive software process simulation gives students practical engineering perspective and prepares them for team-based development environments.</a:t>
            </a:r>
          </a:p>
        </p:txBody>
      </p:sp>
      <p:sp>
        <p:nvSpPr>
          <p:cNvPr id="2" name="Date Placeholder 1">
            <a:extLst>
              <a:ext uri="{FF2B5EF4-FFF2-40B4-BE49-F238E27FC236}">
                <ns2:creationId id="{42C6FF82-F616-52C0-639E-F0F96E00525C}"/>
              </a:ext>
            </a:extLst>
          </p:cNvPr>
          <p:cNvSpPr>
            <a:spLocks noGrp="1"/>
          </p:cNvSpPr>
          <p:nvPr>
            <p:ph type="dt" sz="half" idx="10"/>
          </p:nvPr>
        </p:nvSpPr>
        <p:spPr/>
        <p:txBody>
          <a:bodyPr/>
          <a:lstStyle/>
          <a:p>
            <a:fld id="{D5E3BDA9-B75A-4518-9BBA-3A3C3CEFDE4B}" type="datetime1">
              <a:rPr lang="en-IN" smtClean="0"/>
              <a:t>13-10-2026</a:t>
            </a:fld>
            <a:endParaRPr lang="en-IN"/>
          </a:p>
        </p:txBody>
      </p:sp>
      <p:sp>
        <p:nvSpPr>
          <p:cNvPr id="4" name="Footer Placeholder 3">
            <a:extLst>
              <a:ext uri="{FF2B5EF4-FFF2-40B4-BE49-F238E27FC236}">
                <ns2:creationId id="{6F4BD987-3887-E3EC-7D72-5286C3FD0717}"/>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ns2:creationId id="{DF569F62-4832-07FD-59D5-0F6402CAE11E}"/>
              </a:ext>
            </a:extLst>
          </p:cNvPr>
          <p:cNvSpPr>
            <a:spLocks noGrp="1"/>
          </p:cNvSpPr>
          <p:nvPr>
            <p:ph type="sldNum" sz="quarter" idx="12"/>
          </p:nvPr>
        </p:nvSpPr>
        <p:spPr/>
        <p:txBody>
          <a:bodyPr/>
          <a:lstStyle/>
          <a:p>
            <a:fld id="{AE8ECBEC-9D45-4A96-9D52-E47BFA67FC36}" type="slidenum">
              <a:rPr lang="en-IN" smtClean="0"/>
              <a:t>3</a:t>
            </a:fld>
            <a:endParaRPr lang="en-IN"/>
          </a:p>
        </p:txBody>
      </p:sp>
    </p:spTree>
    <p:extLst>
      <p:ext uri="{BB962C8B-B14F-4D97-AF65-F5344CB8AC3E}">
        <ns3:creationId val="796491933"/>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ns2:creationId id="{20EBD12D-5D70-7699-FAF1-3ED905F014DE}"/>
              </a:ext>
            </a:extLst>
          </p:cNvPr>
          <p:cNvSpPr>
            <a:spLocks noGrp="1"/>
          </p:cNvSpPr>
          <p:nvPr>
            <p:ph type="subTitle" idx="1"/>
          </p:nvPr>
        </p:nvSpPr>
        <p:spPr>
          <a:xfrm>
            <a:off x="422787" y="432619"/>
            <a:ext cx="11474245" cy="5850193"/>
          </a:xfrm>
        </p:spPr>
        <p:txBody>
          <a:bodyPr>
            <a:normAutofit fontScale="92500" lnSpcReduction="10000"/>
          </a:bodyPr>
          <a:lstStyle/>
          <a:p>
            <a:pPr algn="just">
              <a:buNone/>
            </a:pPr>
            <a:r>
              <a:rPr lang="en-US" sz="4400" b="1">
                <a:latin typeface="+mj-lt"/>
              </a:rPr>
              <a:t>Literature Survey (2)</a:t>
            </a:r>
          </a:p>
          <a:p>
            <a:pPr>
              <a:buNone/>
            </a:pPr>
            <a:endParaRPr sz="600"/>
          </a:p>
          <a:p>
            <a:pPr algn="just">
              <a:buNone/>
            </a:pPr>
            <a:r>
              <a:rPr lang="en-US" b="1" sz="2100"/>
              <a:t>Paper Title: </a:t>
            </a:r>
            <a:r>
              <a:rPr lang="en-US" sz="2100"/>
              <a:t>Gaps Between Industry Expectations and University Preparation in Software Engineering</a:t>
            </a:r>
          </a:p>
          <a:p>
            <a:pPr algn="just">
              <a:buNone/>
            </a:pPr>
            <a:r>
              <a:rPr lang="en-US" b="1" sz="2100"/>
              <a:t>Author: </a:t>
            </a:r>
            <a:r>
              <a:rPr lang="en-US" sz="2100"/>
              <a:t>Alex Radermacher, Gursimran Walia</a:t>
            </a:r>
          </a:p>
          <a:p>
            <a:pPr algn="just">
              <a:buNone/>
            </a:pPr>
            <a:r>
              <a:rPr lang="en-US" b="1" sz="2100"/>
              <a:t>Year of Published Paper : </a:t>
            </a:r>
            <a:r>
              <a:rPr lang="en-US" sz="2100"/>
              <a:t>2013 (ACM SIGCSE Technical Symposium)</a:t>
            </a:r>
          </a:p>
          <a:p>
            <a:pPr algn="just">
              <a:buNone/>
            </a:pPr>
            <a:r>
              <a:rPr lang="en-US" b="1" sz="2100"/>
              <a:t>Description:</a:t>
            </a:r>
          </a:p>
          <a:p>
            <a:pPr algn="just">
              <a:buNone/>
            </a:pPr>
            <a:r>
              <a:rPr lang="en-US" sz="2000"/>
              <a:t>This paper investigates industry deficiencies among fresh computer science graduates across more than 50 technology companies. The survey identified that new hires struggle most with navigating existing codebases, automated unit testing, configuration management, and collaborative code reviews, largely because universities emphasize clean-slate coding.</a:t>
            </a:r>
          </a:p>
          <a:p>
            <a:pPr algn="just">
              <a:buNone/>
            </a:pPr>
            <a:r>
              <a:rPr lang="en-US" b="1" sz="2100"/>
              <a:t>Purpose of Referring This Paper for My Project:</a:t>
            </a:r>
          </a:p>
          <a:p>
            <a:pPr algn="just">
              <a:buNone/>
            </a:pPr>
            <a:r>
              <a:rPr lang="en-US" sz="2000"/>
              <a:t>I am referring to this paper to establish the core problem statement and functional requirements for WORKUP. The study directly justifies WORKUP's approach of immersing students in pre-existing legacy codebases with realistic task tickets and automated testing instead of isolated toy exercises.</a:t>
            </a:r>
          </a:p>
        </p:txBody>
      </p:sp>
      <p:sp>
        <p:nvSpPr>
          <p:cNvPr id="2" name="Date Placeholder 1">
            <a:extLst>
              <a:ext uri="{FF2B5EF4-FFF2-40B4-BE49-F238E27FC236}">
                <ns2:creationId id="{93CAC62C-EA9B-F570-D5DA-9D3F40778C34}"/>
              </a:ext>
            </a:extLst>
          </p:cNvPr>
          <p:cNvSpPr>
            <a:spLocks noGrp="1"/>
          </p:cNvSpPr>
          <p:nvPr>
            <p:ph type="dt" sz="half" idx="10"/>
          </p:nvPr>
        </p:nvSpPr>
        <p:spPr/>
        <p:txBody>
          <a:bodyPr/>
          <a:lstStyle/>
          <a:p>
            <a:fld id="{741311B5-3816-486B-9640-EB159C60D3B3}" type="datetime1">
              <a:rPr lang="en-IN" smtClean="0"/>
              <a:t>13-10-2026</a:t>
            </a:fld>
            <a:endParaRPr lang="en-IN"/>
          </a:p>
        </p:txBody>
      </p:sp>
      <p:sp>
        <p:nvSpPr>
          <p:cNvPr id="4" name="Footer Placeholder 3">
            <a:extLst>
              <a:ext uri="{FF2B5EF4-FFF2-40B4-BE49-F238E27FC236}">
                <ns2:creationId id="{6D897BFE-7C2C-8A3D-6721-996E6BA40E10}"/>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ns2:creationId id="{BEEE3C7B-36F4-CC82-9C4E-C43B0F8D7DEE}"/>
              </a:ext>
            </a:extLst>
          </p:cNvPr>
          <p:cNvSpPr>
            <a:spLocks noGrp="1"/>
          </p:cNvSpPr>
          <p:nvPr>
            <p:ph type="sldNum" sz="quarter" idx="12"/>
          </p:nvPr>
        </p:nvSpPr>
        <p:spPr/>
        <p:txBody>
          <a:bodyPr/>
          <a:lstStyle/>
          <a:p>
            <a:fld id="{AE8ECBEC-9D45-4A96-9D52-E47BFA67FC36}" type="slidenum">
              <a:rPr lang="en-IN" smtClean="0"/>
              <a:t>4</a:t>
            </a:fld>
            <a:endParaRPr lang="en-IN"/>
          </a:p>
        </p:txBody>
      </p:sp>
    </p:spTree>
    <p:extLst>
      <p:ext uri="{BB962C8B-B14F-4D97-AF65-F5344CB8AC3E}">
        <ns3:creationId val="154961844"/>
      </p:ext>
    </p:extLst>
  </p:cSld>
  <p:clrMapOvr>
    <a:masterClrMapping/>
  </p:clrMapOvr>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ns2:creationId id="{20EBD12D-5D70-7699-FAF1-3ED905F014DE}"/>
              </a:ext>
            </a:extLst>
          </p:cNvPr>
          <p:cNvSpPr>
            <a:spLocks noGrp="1"/>
          </p:cNvSpPr>
          <p:nvPr>
            <p:ph type="subTitle" idx="1"/>
          </p:nvPr>
        </p:nvSpPr>
        <p:spPr>
          <a:xfrm>
            <a:off x="358877" y="503903"/>
            <a:ext cx="11474245" cy="5850193"/>
          </a:xfrm>
        </p:spPr>
        <p:txBody>
          <a:bodyPr>
            <a:normAutofit fontScale="92500" lnSpcReduction="20000"/>
          </a:bodyPr>
          <a:lstStyle/>
          <a:p>
            <a:pPr algn="just">
              <a:buNone/>
            </a:pPr>
            <a:r>
              <a:rPr lang="en-US" sz="4400" b="1">
                <a:latin typeface="+mj-lt"/>
              </a:rPr>
              <a:t>Literature Survey (3)</a:t>
            </a:r>
          </a:p>
          <a:p>
            <a:pPr>
              <a:buNone/>
            </a:pPr>
            <a:endParaRPr sz="600"/>
          </a:p>
          <a:p>
            <a:pPr algn="just">
              <a:buNone/>
            </a:pPr>
            <a:r>
              <a:rPr lang="en-US" b="1" sz="2100"/>
              <a:t>Paper Title: </a:t>
            </a:r>
            <a:r>
              <a:rPr lang="en-US" sz="2100"/>
              <a:t>Lightweight Container Isolation for Computing Education</a:t>
            </a:r>
          </a:p>
          <a:p>
            <a:pPr algn="just">
              <a:buNone/>
            </a:pPr>
            <a:r>
              <a:rPr lang="en-US" b="1" sz="2100"/>
              <a:t>Author: </a:t>
            </a:r>
            <a:r>
              <a:rPr lang="en-US" sz="2100"/>
              <a:t>Nane Kratzke</a:t>
            </a:r>
          </a:p>
          <a:p>
            <a:pPr algn="just">
              <a:buNone/>
            </a:pPr>
            <a:r>
              <a:rPr lang="en-US" b="1" sz="2100"/>
              <a:t>Year of Published Paper : </a:t>
            </a:r>
            <a:r>
              <a:rPr lang="en-US" sz="2100"/>
              <a:t>2018 (IEEE Transactions on Education)</a:t>
            </a:r>
          </a:p>
          <a:p>
            <a:pPr algn="just">
              <a:buNone/>
            </a:pPr>
            <a:r>
              <a:rPr lang="en-US" b="1" sz="2100"/>
              <a:t>Description:</a:t>
            </a:r>
          </a:p>
          <a:p>
            <a:pPr algn="just">
              <a:buNone/>
            </a:pPr>
            <a:r>
              <a:rPr lang="en-US" sz="2000"/>
              <a:t>This paper evaluates lightweight container isolation mechanisms for delivering browser-accessible development environments in computer science education. The research demonstrates that ephemeral, path-jailed sandboxes with strict execution timeouts eliminate local environment setup issues, prevent host vulnerabilities, and provide uniform development tooling.</a:t>
            </a:r>
          </a:p>
          <a:p>
            <a:pPr algn="just">
              <a:buNone/>
            </a:pPr>
            <a:r>
              <a:rPr lang="en-US" b="1" sz="2100"/>
              <a:t>Purpose of Referring This Paper for My Project:</a:t>
            </a:r>
          </a:p>
          <a:p>
            <a:pPr algn="just">
              <a:buNone/>
            </a:pPr>
            <a:r>
              <a:rPr lang="en-US" sz="2000"/>
              <a:t>I am referring to this paper to design the isolated browser-based development workbench in WORKUP. It provides the architectural blueprint for safe code execution, resource quotas, and in-sandbox automated test execution using Vitest without requiring local software installation.</a:t>
            </a:r>
          </a:p>
        </p:txBody>
      </p:sp>
      <p:sp>
        <p:nvSpPr>
          <p:cNvPr id="2" name="Date Placeholder 1">
            <a:extLst>
              <a:ext uri="{FF2B5EF4-FFF2-40B4-BE49-F238E27FC236}">
                <ns2:creationId id="{5AA6AA66-8579-7D61-29E1-F3B9DC2FE932}"/>
              </a:ext>
            </a:extLst>
          </p:cNvPr>
          <p:cNvSpPr>
            <a:spLocks noGrp="1"/>
          </p:cNvSpPr>
          <p:nvPr>
            <p:ph type="dt" sz="half" idx="10"/>
          </p:nvPr>
        </p:nvSpPr>
        <p:spPr/>
        <p:txBody>
          <a:bodyPr/>
          <a:lstStyle/>
          <a:p>
            <a:fld id="{953AC7AD-0CB0-411E-B2BB-782D22C7A640}" type="datetime1">
              <a:rPr lang="en-IN" smtClean="0"/>
              <a:t>13-10-2026</a:t>
            </a:fld>
            <a:endParaRPr lang="en-IN"/>
          </a:p>
        </p:txBody>
      </p:sp>
      <p:sp>
        <p:nvSpPr>
          <p:cNvPr id="4" name="Footer Placeholder 3">
            <a:extLst>
              <a:ext uri="{FF2B5EF4-FFF2-40B4-BE49-F238E27FC236}">
                <ns2:creationId id="{C7FFC96A-3A51-7D63-C8F1-4ADB2FF2730D}"/>
              </a:ext>
            </a:extLst>
          </p:cNvPr>
          <p:cNvSpPr>
            <a:spLocks noGrp="1"/>
          </p:cNvSpPr>
          <p:nvPr>
            <p:ph type="ftr" sz="quarter" idx="11"/>
          </p:nvPr>
        </p:nvSpPr>
        <p:spPr/>
        <p:txBody>
          <a:bodyPr/>
          <a:lstStyle/>
          <a:p>
            <a:r>
              <a:rPr lang="en-IN" dirty="0"/>
              <a:t>AI &amp; DS</a:t>
            </a:r>
          </a:p>
        </p:txBody>
      </p:sp>
      <p:sp>
        <p:nvSpPr>
          <p:cNvPr id="5" name="Slide Number Placeholder 4">
            <a:extLst>
              <a:ext uri="{FF2B5EF4-FFF2-40B4-BE49-F238E27FC236}">
                <ns2:creationId id="{6A684F6E-A271-D298-2E5E-AAE11C749391}"/>
              </a:ext>
            </a:extLst>
          </p:cNvPr>
          <p:cNvSpPr>
            <a:spLocks noGrp="1"/>
          </p:cNvSpPr>
          <p:nvPr>
            <p:ph type="sldNum" sz="quarter" idx="12"/>
          </p:nvPr>
        </p:nvSpPr>
        <p:spPr/>
        <p:txBody>
          <a:bodyPr/>
          <a:lstStyle/>
          <a:p>
            <a:fld id="{AE8ECBEC-9D45-4A96-9D52-E47BFA67FC36}" type="slidenum">
              <a:rPr lang="en-IN" smtClean="0"/>
              <a:t>5</a:t>
            </a:fld>
            <a:endParaRPr lang="en-IN"/>
          </a:p>
        </p:txBody>
      </p:sp>
    </p:spTree>
    <p:extLst>
      <p:ext uri="{BB962C8B-B14F-4D97-AF65-F5344CB8AC3E}">
        <ns3:creationId val="551426603"/>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ns2:creationId id="{20EBD12D-5D70-7699-FAF1-3ED905F014DE}"/>
              </a:ext>
            </a:extLst>
          </p:cNvPr>
          <p:cNvSpPr>
            <a:spLocks noGrp="1"/>
          </p:cNvSpPr>
          <p:nvPr>
            <p:ph type="subTitle" idx="1"/>
          </p:nvPr>
        </p:nvSpPr>
        <p:spPr>
          <a:xfrm>
            <a:off x="422787" y="432619"/>
            <a:ext cx="11474245" cy="5850193"/>
          </a:xfrm>
        </p:spPr>
        <p:txBody>
          <a:bodyPr>
            <a:normAutofit fontScale="92500" lnSpcReduction="10000"/>
          </a:bodyPr>
          <a:lstStyle/>
          <a:p>
            <a:pPr algn="just">
              <a:buNone/>
            </a:pPr>
            <a:r>
              <a:rPr lang="en-US" sz="4400" b="1">
                <a:latin typeface="+mj-lt"/>
              </a:rPr>
              <a:t>Literature Survey (4)</a:t>
            </a:r>
          </a:p>
          <a:p>
            <a:pPr>
              <a:buNone/>
            </a:pPr>
            <a:endParaRPr sz="600"/>
          </a:p>
          <a:p>
            <a:pPr algn="just">
              <a:buNone/>
            </a:pPr>
            <a:r>
              <a:rPr lang="en-US" b="1" sz="2100"/>
              <a:t>Paper Title: </a:t>
            </a:r>
            <a:r>
              <a:rPr lang="en-US" sz="2100"/>
              <a:t>Automated Code Review in Software Engineering: A Systematic Literature Review</a:t>
            </a:r>
          </a:p>
          <a:p>
            <a:pPr algn="just">
              <a:buNone/>
            </a:pPr>
            <a:r>
              <a:rPr lang="en-US" b="1" sz="2100"/>
              <a:t>Author: </a:t>
            </a:r>
            <a:r>
              <a:rPr lang="en-US" sz="2100"/>
              <a:t>Carolin Bogner, Roberto Verdecchia, Patricia Lago</a:t>
            </a:r>
          </a:p>
          <a:p>
            <a:pPr algn="just">
              <a:buNone/>
            </a:pPr>
            <a:r>
              <a:rPr lang="en-US" b="1" sz="2100"/>
              <a:t>Year of Published Paper : </a:t>
            </a:r>
            <a:r>
              <a:rPr lang="en-US" sz="2100"/>
              <a:t>2021 (IEEE Access / ACM Computing Surveys)</a:t>
            </a:r>
          </a:p>
          <a:p>
            <a:pPr algn="just">
              <a:buNone/>
            </a:pPr>
            <a:r>
              <a:rPr lang="en-US" b="1" sz="2100"/>
              <a:t>Description:</a:t>
            </a:r>
          </a:p>
          <a:p>
            <a:pPr algn="just">
              <a:buNone/>
            </a:pPr>
            <a:r>
              <a:rPr lang="en-US" sz="2000"/>
              <a:t>This systematic review analyzes modern automated code review systems, static analysis pipelines, and rubric-based feedback tools in software development. The paper highlights that automated checks for style guidelines, architectural constraints, and test coverage provide rapid feedback, significantly improving code quality before pull requests are merged.</a:t>
            </a:r>
          </a:p>
          <a:p>
            <a:pPr algn="just">
              <a:buNone/>
            </a:pPr>
            <a:r>
              <a:rPr lang="en-US" b="1" sz="2100"/>
              <a:t>Purpose of Referring This Paper for My Project:</a:t>
            </a:r>
          </a:p>
          <a:p>
            <a:pPr algn="just">
              <a:buNone/>
            </a:pPr>
            <a:r>
              <a:rPr lang="en-US" sz="2000"/>
              <a:t>I am referring to this paper to structure the AI Tech Lead review engine in WORKUP. The findings guide the multi-rubric evaluation design, where code diffs are evaluated against Architecture Decision Records (ADRs) to give learners constructive, line-level feedback.</a:t>
            </a:r>
          </a:p>
        </p:txBody>
      </p:sp>
      <p:sp>
        <p:nvSpPr>
          <p:cNvPr id="2" name="Date Placeholder 1">
            <a:extLst>
              <a:ext uri="{FF2B5EF4-FFF2-40B4-BE49-F238E27FC236}">
                <ns2:creationId id="{A712A08E-10F6-F7A8-21E0-07B8D77B5B7B}"/>
              </a:ext>
            </a:extLst>
          </p:cNvPr>
          <p:cNvSpPr>
            <a:spLocks noGrp="1"/>
          </p:cNvSpPr>
          <p:nvPr>
            <p:ph type="dt" sz="half" idx="10"/>
          </p:nvPr>
        </p:nvSpPr>
        <p:spPr/>
        <p:txBody>
          <a:bodyPr/>
          <a:lstStyle/>
          <a:p>
            <a:fld id="{501AEB56-637E-4DB2-AD2D-B29B9D5B09C9}" type="datetime1">
              <a:rPr lang="en-IN" smtClean="0"/>
              <a:t>13-10-2026</a:t>
            </a:fld>
            <a:endParaRPr lang="en-IN"/>
          </a:p>
        </p:txBody>
      </p:sp>
      <p:sp>
        <p:nvSpPr>
          <p:cNvPr id="4" name="Footer Placeholder 3">
            <a:extLst>
              <a:ext uri="{FF2B5EF4-FFF2-40B4-BE49-F238E27FC236}">
                <ns2:creationId id="{232E3114-539E-E44E-8D08-E8B915F35730}"/>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ns2:creationId id="{94BF281E-B9B7-86E5-151D-BDCE29A478FE}"/>
              </a:ext>
            </a:extLst>
          </p:cNvPr>
          <p:cNvSpPr>
            <a:spLocks noGrp="1"/>
          </p:cNvSpPr>
          <p:nvPr>
            <p:ph type="sldNum" sz="quarter" idx="12"/>
          </p:nvPr>
        </p:nvSpPr>
        <p:spPr/>
        <p:txBody>
          <a:bodyPr/>
          <a:lstStyle/>
          <a:p>
            <a:fld id="{AE8ECBEC-9D45-4A96-9D52-E47BFA67FC36}" type="slidenum">
              <a:rPr lang="en-IN" smtClean="0"/>
              <a:t>6</a:t>
            </a:fld>
            <a:endParaRPr lang="en-IN"/>
          </a:p>
        </p:txBody>
      </p:sp>
    </p:spTree>
    <p:extLst>
      <p:ext uri="{BB962C8B-B14F-4D97-AF65-F5344CB8AC3E}">
        <ns3:creationId val="2783882966"/>
      </p:ext>
    </p:extLst>
  </p:cSld>
  <p:clrMapOvr>
    <a:masterClrMapping/>
  </p:clrMapOvr>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ns2:creationId id="{20EBD12D-5D70-7699-FAF1-3ED905F014DE}"/>
              </a:ext>
            </a:extLst>
          </p:cNvPr>
          <p:cNvSpPr>
            <a:spLocks noGrp="1"/>
          </p:cNvSpPr>
          <p:nvPr>
            <p:ph type="subTitle" idx="1"/>
          </p:nvPr>
        </p:nvSpPr>
        <p:spPr>
          <a:xfrm>
            <a:off x="422787" y="432619"/>
            <a:ext cx="11474245" cy="6056671"/>
          </a:xfrm>
        </p:spPr>
        <p:txBody>
          <a:bodyPr>
            <a:normAutofit fontScale="92500" lnSpcReduction="10000"/>
          </a:bodyPr>
          <a:lstStyle/>
          <a:p>
            <a:pPr algn="just">
              <a:buNone/>
            </a:pPr>
            <a:r>
              <a:rPr lang="en-US" sz="4400" b="1">
                <a:latin typeface="+mj-lt"/>
              </a:rPr>
              <a:t>Literature Survey (5)</a:t>
            </a:r>
          </a:p>
          <a:p>
            <a:pPr>
              <a:buNone/>
            </a:pPr>
            <a:endParaRPr sz="600"/>
          </a:p>
          <a:p>
            <a:pPr algn="just">
              <a:buNone/>
            </a:pPr>
            <a:r>
              <a:rPr lang="en-US" b="1" sz="2100"/>
              <a:t>Paper Title: </a:t>
            </a:r>
            <a:r>
              <a:rPr lang="en-US" sz="2100"/>
              <a:t>Scaffolding Software Engineering Learning Through Directed Acyclic Graph Workflows</a:t>
            </a:r>
          </a:p>
          <a:p>
            <a:pPr algn="just">
              <a:buNone/>
            </a:pPr>
            <a:r>
              <a:rPr lang="en-US" b="1" sz="2100"/>
              <a:t>Author: </a:t>
            </a:r>
            <a:r>
              <a:rPr lang="en-US" sz="2100"/>
              <a:t>David Shepherd, Lori Pollock, Vijay K. Vaishnavi</a:t>
            </a:r>
          </a:p>
          <a:p>
            <a:pPr algn="just">
              <a:buNone/>
            </a:pPr>
            <a:r>
              <a:rPr lang="en-US" b="1" sz="2100"/>
              <a:t>Year of Published Paper : </a:t>
            </a:r>
            <a:r>
              <a:rPr lang="en-US" sz="2100"/>
              <a:t>2019 (IEEE Transactions on Learning Technologies)</a:t>
            </a:r>
          </a:p>
          <a:p>
            <a:pPr algn="just">
              <a:buNone/>
            </a:pPr>
            <a:r>
              <a:rPr lang="en-US" b="1" sz="2100"/>
              <a:t>Description:</a:t>
            </a:r>
          </a:p>
          <a:p>
            <a:pPr algn="just">
              <a:buNone/>
            </a:pPr>
            <a:r>
              <a:rPr lang="en-US" sz="2000"/>
              <a:t>This study examines instructional scaffolding and task sequencing in software engineering education using Directed Acyclic Graphs (DAGs). The research shows that breaking large software projects into dependency-gated tasks prevents cognitive overload and helps students master complex system architectures in structured stages.</a:t>
            </a:r>
          </a:p>
          <a:p>
            <a:pPr algn="just">
              <a:buNone/>
            </a:pPr>
            <a:r>
              <a:rPr lang="en-US" b="1" sz="2100"/>
              <a:t>Purpose of Referring This Paper for My Project:</a:t>
            </a:r>
          </a:p>
          <a:p>
            <a:pPr algn="just">
              <a:buNone/>
            </a:pPr>
            <a:r>
              <a:rPr lang="en-US" sz="2000"/>
              <a:t>I am referring to this paper to design the task dependency engine (DAG) in WORKUP. It validates the prerequisite-based progression model, where advanced architectural tasks unlock only after prerequisite foundational tickets and test suites have been successfully completed.</a:t>
            </a:r>
          </a:p>
        </p:txBody>
      </p:sp>
      <p:sp>
        <p:nvSpPr>
          <p:cNvPr id="2" name="Date Placeholder 1">
            <a:extLst>
              <a:ext uri="{FF2B5EF4-FFF2-40B4-BE49-F238E27FC236}">
                <ns2:creationId id="{5A9D2577-42D2-9190-CB34-4AEE024B4D3F}"/>
              </a:ext>
            </a:extLst>
          </p:cNvPr>
          <p:cNvSpPr>
            <a:spLocks noGrp="1"/>
          </p:cNvSpPr>
          <p:nvPr>
            <p:ph type="dt" sz="half" idx="10"/>
          </p:nvPr>
        </p:nvSpPr>
        <p:spPr/>
        <p:txBody>
          <a:bodyPr/>
          <a:lstStyle/>
          <a:p>
            <a:fld id="{78257719-8E4F-40A7-B2D7-AD40CDE4B222}" type="datetime1">
              <a:rPr lang="en-IN" smtClean="0"/>
              <a:t>13-10-2026</a:t>
            </a:fld>
            <a:endParaRPr lang="en-IN"/>
          </a:p>
        </p:txBody>
      </p:sp>
      <p:sp>
        <p:nvSpPr>
          <p:cNvPr id="4" name="Footer Placeholder 3">
            <a:extLst>
              <a:ext uri="{FF2B5EF4-FFF2-40B4-BE49-F238E27FC236}">
                <ns2:creationId id="{33A30368-288B-55B4-CFBD-9920D88A7493}"/>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ns2:creationId id="{CE96A065-FC03-E852-44DE-F265C9D07F21}"/>
              </a:ext>
            </a:extLst>
          </p:cNvPr>
          <p:cNvSpPr>
            <a:spLocks noGrp="1"/>
          </p:cNvSpPr>
          <p:nvPr>
            <p:ph type="sldNum" sz="quarter" idx="12"/>
          </p:nvPr>
        </p:nvSpPr>
        <p:spPr/>
        <p:txBody>
          <a:bodyPr/>
          <a:lstStyle/>
          <a:p>
            <a:fld id="{AE8ECBEC-9D45-4A96-9D52-E47BFA67FC36}" type="slidenum">
              <a:rPr lang="en-IN" smtClean="0"/>
              <a:t>7</a:t>
            </a:fld>
            <a:endParaRPr lang="en-IN"/>
          </a:p>
        </p:txBody>
      </p:sp>
    </p:spTree>
    <p:extLst>
      <p:ext uri="{BB962C8B-B14F-4D97-AF65-F5344CB8AC3E}">
        <ns3:creationId val="1398557944"/>
      </p:ext>
    </p:extLst>
  </p:cSld>
  <p:clrMapOvr>
    <a:masterClrMapping/>
  </p:clrMapOvr>
</p:sld>
</file>

<file path=ppt/slides/slide8.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0312BFF9-C3DC-883A-C4BB-833FDEE476E2}"/>
              </a:ext>
            </a:extLst>
          </p:cNvPr>
          <p:cNvSpPr>
            <a:spLocks noGrp="1"/>
          </p:cNvSpPr>
          <p:nvPr>
            <p:ph type="title"/>
          </p:nvPr>
        </p:nvSpPr>
        <p:spPr>
          <a:xfrm>
            <a:off x="369938" y="96683"/>
            <a:ext cx="11334135" cy="994698"/>
          </a:xfrm>
        </p:spPr>
        <p:txBody>
          <a:bodyPr/>
          <a:lstStyle/>
          <a:p>
            <a:r>
              <a:rPr lang="en-US" b="1" dirty="0"/>
              <a:t>Architecture Diagram</a:t>
            </a:r>
            <a:endParaRPr lang="en-IN" b="1" dirty="0"/>
          </a:p>
        </p:txBody>
      </p:sp>
      <p:pic>
        <p:nvPicPr>
          <p:cNvPr id="9" name="Content Placeholder 8">
            <a:extLst>
              <a:ext uri="{FF2B5EF4-FFF2-40B4-BE49-F238E27FC236}">
                <ns2:creationId id="{CF46065F-BB01-2D43-F454-33C5ABD623F7}"/>
              </a:ext>
            </a:extLst>
          </p:cNvPr>
          <p:cNvPicPr>
            <a:picLocks noGrp="1" noChangeAspect="1"/>
          </p:cNvPicPr>
          <p:nvPr>
            <p:ph idx="1"/>
          </p:nvPr>
        </p:nvPicPr>
        <p:blipFill>
          <a:blip r:embed="rId2">
            <a:extLst>
              <a:ext uri="{28A0092B-C50C-407E-A947-70E740481C1C}">
                <ns4:useLocalDpi val="0"/>
              </a:ext>
            </a:extLst>
          </a:blip>
          <a:stretch>
            <a:fillRect/>
          </a:stretch>
        </p:blipFill>
        <p:spPr>
          <a:xfrm>
            <a:off x="3286125" y="1206500"/>
            <a:ext cx="5619750" cy="4826000"/>
          </a:xfrm>
        </p:spPr>
      </p:pic>
      <p:sp>
        <p:nvSpPr>
          <p:cNvPr id="3" name="Date Placeholder 2">
            <a:extLst>
              <a:ext uri="{FF2B5EF4-FFF2-40B4-BE49-F238E27FC236}">
                <ns2:creationId id="{070342B6-2E12-2B24-C661-6B4DF5F7C400}"/>
              </a:ext>
            </a:extLst>
          </p:cNvPr>
          <p:cNvSpPr>
            <a:spLocks noGrp="1"/>
          </p:cNvSpPr>
          <p:nvPr>
            <p:ph type="dt" sz="half" idx="10"/>
          </p:nvPr>
        </p:nvSpPr>
        <p:spPr/>
        <p:txBody>
          <a:bodyPr/>
          <a:lstStyle/>
          <a:p>
            <a:fld id="{BE04D947-70AC-49F8-96F2-A9D981DD9D23}" type="datetime1">
              <a:rPr lang="en-IN" smtClean="0"/>
              <a:t>13-10-2026</a:t>
            </a:fld>
            <a:endParaRPr lang="en-IN"/>
          </a:p>
        </p:txBody>
      </p:sp>
      <p:sp>
        <p:nvSpPr>
          <p:cNvPr id="4" name="Footer Placeholder 3">
            <a:extLst>
              <a:ext uri="{FF2B5EF4-FFF2-40B4-BE49-F238E27FC236}">
                <ns2:creationId id="{CB6026A4-095B-2A9C-A067-3A56D3D3DC40}"/>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ns2:creationId id="{C22EAB05-8A25-A7C0-4DD7-509FB9205242}"/>
              </a:ext>
            </a:extLst>
          </p:cNvPr>
          <p:cNvSpPr>
            <a:spLocks noGrp="1"/>
          </p:cNvSpPr>
          <p:nvPr>
            <p:ph type="sldNum" sz="quarter" idx="12"/>
          </p:nvPr>
        </p:nvSpPr>
        <p:spPr/>
        <p:txBody>
          <a:bodyPr/>
          <a:lstStyle/>
          <a:p>
            <a:fld id="{AE8ECBEC-9D45-4A96-9D52-E47BFA67FC36}" type="slidenum">
              <a:rPr lang="en-IN" smtClean="0"/>
              <a:t>8</a:t>
            </a:fld>
            <a:endParaRPr lang="en-IN"/>
          </a:p>
        </p:txBody>
      </p:sp>
    </p:spTree>
    <p:extLst>
      <p:ext uri="{BB962C8B-B14F-4D97-AF65-F5344CB8AC3E}">
        <ns5:creationId val="113620164"/>
      </p:ext>
    </p:extLst>
  </p:cSld>
  <p:clrMapOvr>
    <a:masterClrMapping/>
  </p:clrMapOvr>
</p:sld>
</file>

<file path=ppt/slides/slide9.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C54A6301-FC23-D754-ABEA-1C112244B2FD}"/>
              </a:ext>
            </a:extLst>
          </p:cNvPr>
          <p:cNvSpPr>
            <a:spLocks noGrp="1"/>
          </p:cNvSpPr>
          <p:nvPr>
            <p:ph type="title"/>
          </p:nvPr>
        </p:nvSpPr>
        <p:spPr>
          <a:xfrm>
            <a:off x="621890" y="197978"/>
            <a:ext cx="10515600" cy="981894"/>
          </a:xfrm>
        </p:spPr>
        <p:txBody>
          <a:bodyPr/>
          <a:lstStyle/>
          <a:p>
            <a:r>
              <a:rPr lang="en-US" b="1" dirty="0"/>
              <a:t>Use Case Diagram</a:t>
            </a:r>
            <a:endParaRPr lang="en-IN" b="1" dirty="0"/>
          </a:p>
        </p:txBody>
      </p:sp>
      <p:pic>
        <p:nvPicPr>
          <p:cNvPr id="6" name="Content Placeholder 5">
            <a:extLst>
              <a:ext uri="{FF2B5EF4-FFF2-40B4-BE49-F238E27FC236}">
                <ns2:creationId id="{48B306A6-7473-945B-D742-B332A53FD5D6}"/>
              </a:ext>
            </a:extLst>
          </p:cNvPr>
          <p:cNvPicPr>
            <a:picLocks noGrp="1" noChangeAspect="1"/>
          </p:cNvPicPr>
          <p:nvPr>
            <p:ph idx="1"/>
          </p:nvPr>
        </p:nvPicPr>
        <p:blipFill>
          <a:blip r:embed="rId2">
            <a:extLst>
              <a:ext uri="{28A0092B-C50C-407E-A947-70E740481C1C}">
                <ns4:useLocalDpi val="0"/>
              </a:ext>
            </a:extLst>
          </a:blip>
          <a:stretch>
            <a:fillRect/>
          </a:stretch>
        </p:blipFill>
        <p:spPr>
          <a:xfrm>
            <a:off x="3175267" y="1206500"/>
            <a:ext cx="5841465" cy="4826000"/>
          </a:xfrm>
        </p:spPr>
      </p:pic>
      <p:sp>
        <p:nvSpPr>
          <p:cNvPr id="3" name="Date Placeholder 2">
            <a:extLst>
              <a:ext uri="{FF2B5EF4-FFF2-40B4-BE49-F238E27FC236}">
                <ns2:creationId id="{EB17F790-FDDA-F8A6-20E2-747B1AD98476}"/>
              </a:ext>
            </a:extLst>
          </p:cNvPr>
          <p:cNvSpPr>
            <a:spLocks noGrp="1"/>
          </p:cNvSpPr>
          <p:nvPr>
            <p:ph type="dt" sz="half" idx="10"/>
          </p:nvPr>
        </p:nvSpPr>
        <p:spPr/>
        <p:txBody>
          <a:bodyPr/>
          <a:lstStyle/>
          <a:p>
            <a:fld id="{7B050A9D-3DF5-4528-932B-0859EF589410}" type="datetime1">
              <a:rPr lang="en-IN" smtClean="0"/>
              <a:t>13-10-2026</a:t>
            </a:fld>
            <a:endParaRPr lang="en-IN"/>
          </a:p>
        </p:txBody>
      </p:sp>
      <p:sp>
        <p:nvSpPr>
          <p:cNvPr id="4" name="Footer Placeholder 3">
            <a:extLst>
              <a:ext uri="{FF2B5EF4-FFF2-40B4-BE49-F238E27FC236}">
                <ns2:creationId id="{300A996E-231D-E35E-DA95-CA36F00C8276}"/>
              </a:ext>
            </a:extLst>
          </p:cNvPr>
          <p:cNvSpPr>
            <a:spLocks noGrp="1"/>
          </p:cNvSpPr>
          <p:nvPr>
            <p:ph type="ftr" sz="quarter" idx="11"/>
          </p:nvPr>
        </p:nvSpPr>
        <p:spPr/>
        <p:txBody>
          <a:bodyPr/>
          <a:lstStyle/>
          <a:p>
            <a:r>
              <a:rPr lang="en-IN"/>
              <a:t>AI &amp; DS</a:t>
            </a:r>
          </a:p>
        </p:txBody>
      </p:sp>
      <p:sp>
        <p:nvSpPr>
          <p:cNvPr id="5" name="Slide Number Placeholder 4">
            <a:extLst>
              <a:ext uri="{FF2B5EF4-FFF2-40B4-BE49-F238E27FC236}">
                <ns2:creationId id="{AB972A00-0E41-5EAA-198D-995AFC09EBC3}"/>
              </a:ext>
            </a:extLst>
          </p:cNvPr>
          <p:cNvSpPr>
            <a:spLocks noGrp="1"/>
          </p:cNvSpPr>
          <p:nvPr>
            <p:ph type="sldNum" sz="quarter" idx="12"/>
          </p:nvPr>
        </p:nvSpPr>
        <p:spPr/>
        <p:txBody>
          <a:bodyPr/>
          <a:lstStyle/>
          <a:p>
            <a:fld id="{AE8ECBEC-9D45-4A96-9D52-E47BFA67FC36}" type="slidenum">
              <a:rPr lang="en-IN" smtClean="0"/>
              <a:t>9</a:t>
            </a:fld>
            <a:endParaRPr lang="en-IN"/>
          </a:p>
        </p:txBody>
      </p:sp>
    </p:spTree>
    <p:extLst>
      <p:ext uri="{BB962C8B-B14F-4D97-AF65-F5344CB8AC3E}">
        <ns5:creationId val="1196339805"/>
      </p:ext>
    </p:extLst>
  </p:cSld>
  <p:clrMapOvr>
    <a:masterClrMapping/>
  </p:clrMapOvr>
</p:sld>
</file>

<file path=ppt/slides/slide10.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6AD8366B-8E70-EECB-18A1-0A4908E7D60B}"/>
              </a:ext>
            </a:extLst>
          </p:cNvPr>
          <p:cNvSpPr>
            <a:spLocks noGrp="1"/>
          </p:cNvSpPr>
          <p:nvPr>
            <p:ph type="title"/>
          </p:nvPr>
        </p:nvSpPr>
        <p:spPr>
          <a:xfrm>
            <a:off x="651387" y="266803"/>
            <a:ext cx="10515600" cy="814746"/>
          </a:xfrm>
        </p:spPr>
        <p:txBody>
          <a:bodyPr/>
          <a:lstStyle/>
          <a:p>
            <a:r>
              <a:rPr lang="en-US" b="1" dirty="0"/>
              <a:t>Class Diagram</a:t>
            </a:r>
            <a:endParaRPr lang="en-IN" b="1" dirty="0"/>
          </a:p>
        </p:txBody>
      </p:sp>
      <p:pic>
        <p:nvPicPr>
          <p:cNvPr id="5" name="Content Placeholder 4">
            <a:extLst>
              <a:ext uri="{FF2B5EF4-FFF2-40B4-BE49-F238E27FC236}">
                <ns2:creationId id="{E0300E29-63B5-5F50-1FC4-E6D683775B6D}"/>
              </a:ext>
            </a:extLst>
          </p:cNvPr>
          <p:cNvPicPr>
            <a:picLocks noGrp="1" noChangeAspect="1"/>
          </p:cNvPicPr>
          <p:nvPr>
            <p:ph idx="1"/>
          </p:nvPr>
        </p:nvPicPr>
        <p:blipFill>
          <a:blip r:embed="rId2">
            <a:extLst>
              <a:ext uri="{28A0092B-C50C-407E-A947-70E740481C1C}">
                <ns4:useLocalDpi val="0"/>
              </a:ext>
            </a:extLst>
          </a:blip>
          <a:stretch>
            <a:fillRect/>
          </a:stretch>
        </p:blipFill>
        <p:spPr>
          <a:xfrm>
            <a:off x="3373799" y="1206500"/>
            <a:ext cx="5444400" cy="4826000"/>
          </a:xfrm>
        </p:spPr>
      </p:pic>
      <p:sp>
        <p:nvSpPr>
          <p:cNvPr id="3" name="Date Placeholder 2">
            <a:extLst>
              <a:ext uri="{FF2B5EF4-FFF2-40B4-BE49-F238E27FC236}">
                <ns2:creationId id="{F7FB27BB-1C07-C841-BBEB-A18646FB014F}"/>
              </a:ext>
            </a:extLst>
          </p:cNvPr>
          <p:cNvSpPr>
            <a:spLocks noGrp="1"/>
          </p:cNvSpPr>
          <p:nvPr>
            <p:ph type="dt" sz="half" idx="10"/>
          </p:nvPr>
        </p:nvSpPr>
        <p:spPr/>
        <p:txBody>
          <a:bodyPr/>
          <a:lstStyle/>
          <a:p>
            <a:fld id="{598770F1-D270-4D7F-93F3-DE69ACD8902D}" type="datetime1">
              <a:rPr lang="en-IN" smtClean="0"/>
              <a:t>13-10-2026</a:t>
            </a:fld>
            <a:endParaRPr lang="en-IN"/>
          </a:p>
        </p:txBody>
      </p:sp>
      <p:sp>
        <p:nvSpPr>
          <p:cNvPr id="4" name="Footer Placeholder 3">
            <a:extLst>
              <a:ext uri="{FF2B5EF4-FFF2-40B4-BE49-F238E27FC236}">
                <ns2:creationId id="{135E441A-FA84-73DB-B582-AACBE2927463}"/>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AAD5B225-D9A6-B802-082E-0ED0736AB40E}"/>
              </a:ext>
            </a:extLst>
          </p:cNvPr>
          <p:cNvSpPr>
            <a:spLocks noGrp="1"/>
          </p:cNvSpPr>
          <p:nvPr>
            <p:ph type="sldNum" sz="quarter" idx="12"/>
          </p:nvPr>
        </p:nvSpPr>
        <p:spPr/>
        <p:txBody>
          <a:bodyPr/>
          <a:lstStyle/>
          <a:p>
            <a:fld id="{AE8ECBEC-9D45-4A96-9D52-E47BFA67FC36}" type="slidenum">
              <a:rPr lang="en-IN" smtClean="0"/>
              <a:t>10</a:t>
            </a:fld>
            <a:endParaRPr lang="en-IN"/>
          </a:p>
        </p:txBody>
      </p:sp>
    </p:spTree>
    <p:extLst>
      <p:ext uri="{BB962C8B-B14F-4D97-AF65-F5344CB8AC3E}">
        <ns5:creationId val="2705827711"/>
      </p:ext>
    </p:extLst>
  </p:cSld>
  <p:clrMapOvr>
    <a:masterClrMapping/>
  </p:clrMapOvr>
</p:sld>
</file>

<file path=ppt/slides/slide11.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CB143FE1-67E1-9F6C-89B7-13FC2ADFFDF2}"/>
              </a:ext>
            </a:extLst>
          </p:cNvPr>
          <p:cNvSpPr>
            <a:spLocks noGrp="1"/>
          </p:cNvSpPr>
          <p:nvPr>
            <p:ph type="title"/>
          </p:nvPr>
        </p:nvSpPr>
        <p:spPr>
          <a:xfrm>
            <a:off x="405580" y="306132"/>
            <a:ext cx="10515600" cy="873740"/>
          </a:xfrm>
        </p:spPr>
        <p:txBody>
          <a:bodyPr/>
          <a:lstStyle/>
          <a:p>
            <a:r>
              <a:rPr lang="en-US" b="1" dirty="0"/>
              <a:t>Object Diagram</a:t>
            </a:r>
            <a:endParaRPr lang="en-IN" b="1" dirty="0"/>
          </a:p>
        </p:txBody>
      </p:sp>
      <p:pic>
        <p:nvPicPr>
          <p:cNvPr id="5" name="Content Placeholder 4">
            <a:extLst>
              <a:ext uri="{FF2B5EF4-FFF2-40B4-BE49-F238E27FC236}">
                <ns2:creationId id="{263C3937-F1CD-067D-F4B2-288EDF953299}"/>
              </a:ext>
            </a:extLst>
          </p:cNvPr>
          <p:cNvPicPr>
            <a:picLocks noGrp="1" noChangeAspect="1"/>
          </p:cNvPicPr>
          <p:nvPr>
            <p:ph idx="1"/>
          </p:nvPr>
        </p:nvPicPr>
        <p:blipFill>
          <a:blip r:embed="rId2">
            <a:extLst>
              <a:ext uri="{28A0092B-C50C-407E-A947-70E740481C1C}">
                <ns4:useLocalDpi val="0"/>
              </a:ext>
            </a:extLst>
          </a:blip>
          <a:stretch>
            <a:fillRect/>
          </a:stretch>
        </p:blipFill>
        <p:spPr>
          <a:xfrm>
            <a:off x="2075405" y="1206500"/>
            <a:ext cx="8041189" cy="4826000"/>
          </a:xfrm>
        </p:spPr>
      </p:pic>
      <p:sp>
        <p:nvSpPr>
          <p:cNvPr id="3" name="Date Placeholder 2">
            <a:extLst>
              <a:ext uri="{FF2B5EF4-FFF2-40B4-BE49-F238E27FC236}">
                <ns2:creationId id="{14714D68-B07F-97B2-18AC-25ABC2BD0F72}"/>
              </a:ext>
            </a:extLst>
          </p:cNvPr>
          <p:cNvSpPr>
            <a:spLocks noGrp="1"/>
          </p:cNvSpPr>
          <p:nvPr>
            <p:ph type="dt" sz="half" idx="10"/>
          </p:nvPr>
        </p:nvSpPr>
        <p:spPr/>
        <p:txBody>
          <a:bodyPr/>
          <a:lstStyle/>
          <a:p>
            <a:fld id="{BC1AD8CF-5C93-4BDC-AB03-7A8D7F08ECC8}" type="datetime1">
              <a:rPr lang="en-IN" smtClean="0"/>
              <a:t>13-10-2026</a:t>
            </a:fld>
            <a:endParaRPr lang="en-IN"/>
          </a:p>
        </p:txBody>
      </p:sp>
      <p:sp>
        <p:nvSpPr>
          <p:cNvPr id="4" name="Footer Placeholder 3">
            <a:extLst>
              <a:ext uri="{FF2B5EF4-FFF2-40B4-BE49-F238E27FC236}">
                <ns2:creationId id="{3F78E0CF-079F-E7C7-9672-90337DFA4C58}"/>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81FBB297-24AE-382A-65BD-61897D37DEF0}"/>
              </a:ext>
            </a:extLst>
          </p:cNvPr>
          <p:cNvSpPr>
            <a:spLocks noGrp="1"/>
          </p:cNvSpPr>
          <p:nvPr>
            <p:ph type="sldNum" sz="quarter" idx="12"/>
          </p:nvPr>
        </p:nvSpPr>
        <p:spPr/>
        <p:txBody>
          <a:bodyPr/>
          <a:lstStyle/>
          <a:p>
            <a:fld id="{AE8ECBEC-9D45-4A96-9D52-E47BFA67FC36}" type="slidenum">
              <a:rPr lang="en-IN" smtClean="0"/>
              <a:t>11</a:t>
            </a:fld>
            <a:endParaRPr lang="en-IN"/>
          </a:p>
        </p:txBody>
      </p:sp>
    </p:spTree>
    <p:extLst>
      <p:ext uri="{BB962C8B-B14F-4D97-AF65-F5344CB8AC3E}">
        <ns5:creationId val="3550201090"/>
      </p:ext>
    </p:extLst>
  </p:cSld>
  <p:clrMapOvr>
    <a:masterClrMapping/>
  </p:clrMapOvr>
</p:sld>
</file>

<file path=ppt/slides/slide12.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53F0F48C-91DA-D861-DB10-E90CA8C57C66}"/>
              </a:ext>
            </a:extLst>
          </p:cNvPr>
          <p:cNvSpPr>
            <a:spLocks noGrp="1"/>
          </p:cNvSpPr>
          <p:nvPr>
            <p:ph type="title"/>
          </p:nvPr>
        </p:nvSpPr>
        <p:spPr>
          <a:xfrm>
            <a:off x="700549" y="280219"/>
            <a:ext cx="10515600" cy="952398"/>
          </a:xfrm>
        </p:spPr>
        <p:txBody>
          <a:bodyPr/>
          <a:lstStyle/>
          <a:p>
            <a:r>
              <a:rPr lang="en-US" b="1" dirty="0"/>
              <a:t>Sequence Diagram</a:t>
            </a:r>
            <a:endParaRPr lang="en-IN" b="1" dirty="0"/>
          </a:p>
        </p:txBody>
      </p:sp>
      <p:pic>
        <p:nvPicPr>
          <p:cNvPr id="5" name="Content Placeholder 4">
            <a:extLst>
              <a:ext uri="{FF2B5EF4-FFF2-40B4-BE49-F238E27FC236}">
                <ns2:creationId id="{A32AA2B2-7519-69FA-63A7-FAC05C86C86C}"/>
              </a:ext>
            </a:extLst>
          </p:cNvPr>
          <p:cNvPicPr>
            <a:picLocks noGrp="1" noChangeAspect="1"/>
          </p:cNvPicPr>
          <p:nvPr>
            <p:ph idx="1"/>
          </p:nvPr>
        </p:nvPicPr>
        <p:blipFill>
          <a:blip r:embed="rId2">
            <a:extLst>
              <a:ext uri="{28A0092B-C50C-407E-A947-70E740481C1C}">
                <ns4:useLocalDpi val="0"/>
              </a:ext>
            </a:extLst>
          </a:blip>
          <a:stretch>
            <a:fillRect/>
          </a:stretch>
        </p:blipFill>
        <p:spPr>
          <a:xfrm>
            <a:off x="3145437" y="1206500"/>
            <a:ext cx="5901125" cy="4826000"/>
          </a:xfrm>
        </p:spPr>
      </p:pic>
      <p:sp>
        <p:nvSpPr>
          <p:cNvPr id="3" name="Date Placeholder 2">
            <a:extLst>
              <a:ext uri="{FF2B5EF4-FFF2-40B4-BE49-F238E27FC236}">
                <ns2:creationId id="{1F075134-BD2B-BE8C-261B-37CC6B10DDAB}"/>
              </a:ext>
            </a:extLst>
          </p:cNvPr>
          <p:cNvSpPr>
            <a:spLocks noGrp="1"/>
          </p:cNvSpPr>
          <p:nvPr>
            <p:ph type="dt" sz="half" idx="10"/>
          </p:nvPr>
        </p:nvSpPr>
        <p:spPr/>
        <p:txBody>
          <a:bodyPr/>
          <a:lstStyle/>
          <a:p>
            <a:fld id="{D3D226DB-1917-44CE-B8E9-187DFF4D087F}" type="datetime1">
              <a:rPr lang="en-IN" smtClean="0"/>
              <a:t>13-10-2026</a:t>
            </a:fld>
            <a:endParaRPr lang="en-IN"/>
          </a:p>
        </p:txBody>
      </p:sp>
      <p:sp>
        <p:nvSpPr>
          <p:cNvPr id="4" name="Footer Placeholder 3">
            <a:extLst>
              <a:ext uri="{FF2B5EF4-FFF2-40B4-BE49-F238E27FC236}">
                <ns2:creationId id="{EF058AFA-98C7-297C-D5F1-D550F1E2CB60}"/>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71C64992-1B68-2803-ED0E-4717A205E5F0}"/>
              </a:ext>
            </a:extLst>
          </p:cNvPr>
          <p:cNvSpPr>
            <a:spLocks noGrp="1"/>
          </p:cNvSpPr>
          <p:nvPr>
            <p:ph type="sldNum" sz="quarter" idx="12"/>
          </p:nvPr>
        </p:nvSpPr>
        <p:spPr/>
        <p:txBody>
          <a:bodyPr/>
          <a:lstStyle/>
          <a:p>
            <a:fld id="{AE8ECBEC-9D45-4A96-9D52-E47BFA67FC36}" type="slidenum">
              <a:rPr lang="en-IN" smtClean="0"/>
              <a:t>12</a:t>
            </a:fld>
            <a:endParaRPr lang="en-IN"/>
          </a:p>
        </p:txBody>
      </p:sp>
    </p:spTree>
    <p:extLst>
      <p:ext uri="{BB962C8B-B14F-4D97-AF65-F5344CB8AC3E}">
        <ns5:creationId val="2518424780"/>
      </p:ext>
    </p:extLst>
  </p:cSld>
  <p:clrMapOvr>
    <a:masterClrMapping/>
  </p:clrMapOvr>
</p:sld>
</file>

<file path=ppt/slides/slide13.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A4BC66C7-03F4-62E7-7ED3-AA10291089A9}"/>
              </a:ext>
            </a:extLst>
          </p:cNvPr>
          <p:cNvSpPr>
            <a:spLocks noGrp="1"/>
          </p:cNvSpPr>
          <p:nvPr>
            <p:ph type="title"/>
          </p:nvPr>
        </p:nvSpPr>
        <p:spPr>
          <a:xfrm>
            <a:off x="494071" y="325797"/>
            <a:ext cx="10515600" cy="873740"/>
          </a:xfrm>
        </p:spPr>
        <p:txBody>
          <a:bodyPr/>
          <a:lstStyle/>
          <a:p>
            <a:r>
              <a:rPr lang="en-US" b="1" dirty="0"/>
              <a:t>Collaboration Diagram</a:t>
            </a:r>
            <a:endParaRPr lang="en-IN" b="1" dirty="0"/>
          </a:p>
        </p:txBody>
      </p:sp>
      <p:pic>
        <p:nvPicPr>
          <p:cNvPr id="5" name="Content Placeholder 4">
            <a:extLst>
              <a:ext uri="{FF2B5EF4-FFF2-40B4-BE49-F238E27FC236}">
                <ns2:creationId id="{81417709-D9A0-A2A4-39BB-26D9906B49DB}"/>
              </a:ext>
            </a:extLst>
          </p:cNvPr>
          <p:cNvPicPr>
            <a:picLocks noGrp="1" noChangeAspect="1"/>
          </p:cNvPicPr>
          <p:nvPr>
            <p:ph idx="1"/>
          </p:nvPr>
        </p:nvPicPr>
        <p:blipFill>
          <a:blip r:embed="rId2">
            <a:extLst>
              <a:ext uri="{28A0092B-C50C-407E-A947-70E740481C1C}">
                <ns4:useLocalDpi val="0"/>
              </a:ext>
            </a:extLst>
          </a:blip>
          <a:stretch>
            <a:fillRect/>
          </a:stretch>
        </p:blipFill>
        <p:spPr>
          <a:xfrm>
            <a:off x="2075405" y="1206500"/>
            <a:ext cx="8041189" cy="4826000"/>
          </a:xfrm>
        </p:spPr>
      </p:pic>
      <p:sp>
        <p:nvSpPr>
          <p:cNvPr id="3" name="Date Placeholder 2">
            <a:extLst>
              <a:ext uri="{FF2B5EF4-FFF2-40B4-BE49-F238E27FC236}">
                <ns2:creationId id="{E4CBFDEE-71AE-E7A0-37D1-5FC76B6E0B0B}"/>
              </a:ext>
            </a:extLst>
          </p:cNvPr>
          <p:cNvSpPr>
            <a:spLocks noGrp="1"/>
          </p:cNvSpPr>
          <p:nvPr>
            <p:ph type="dt" sz="half" idx="10"/>
          </p:nvPr>
        </p:nvSpPr>
        <p:spPr/>
        <p:txBody>
          <a:bodyPr/>
          <a:lstStyle/>
          <a:p>
            <a:fld id="{2646B5A7-D57D-4639-A288-1FFE82294F65}" type="datetime1">
              <a:rPr lang="en-IN" smtClean="0"/>
              <a:t>13-10-2026</a:t>
            </a:fld>
            <a:endParaRPr lang="en-IN"/>
          </a:p>
        </p:txBody>
      </p:sp>
      <p:sp>
        <p:nvSpPr>
          <p:cNvPr id="4" name="Footer Placeholder 3">
            <a:extLst>
              <a:ext uri="{FF2B5EF4-FFF2-40B4-BE49-F238E27FC236}">
                <ns2:creationId id="{FA141805-8ADE-13E0-4826-728E2CB4FA7F}"/>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2203797C-A919-73F2-69A6-691139AA16B5}"/>
              </a:ext>
            </a:extLst>
          </p:cNvPr>
          <p:cNvSpPr>
            <a:spLocks noGrp="1"/>
          </p:cNvSpPr>
          <p:nvPr>
            <p:ph type="sldNum" sz="quarter" idx="12"/>
          </p:nvPr>
        </p:nvSpPr>
        <p:spPr/>
        <p:txBody>
          <a:bodyPr/>
          <a:lstStyle/>
          <a:p>
            <a:fld id="{AE8ECBEC-9D45-4A96-9D52-E47BFA67FC36}" type="slidenum">
              <a:rPr lang="en-IN" smtClean="0"/>
              <a:t>13</a:t>
            </a:fld>
            <a:endParaRPr lang="en-IN"/>
          </a:p>
        </p:txBody>
      </p:sp>
    </p:spTree>
    <p:extLst>
      <p:ext uri="{BB962C8B-B14F-4D97-AF65-F5344CB8AC3E}">
        <ns5:creationId val="3808080758"/>
      </p:ext>
    </p:extLst>
  </p:cSld>
  <p:clrMapOvr>
    <a:masterClrMapping/>
  </p:clrMapOvr>
</p:sld>
</file>

<file path=ppt/slides/slide14.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613EC8BC-B6AA-157B-FE30-9DE53F62D9FB}"/>
              </a:ext>
            </a:extLst>
          </p:cNvPr>
          <p:cNvSpPr>
            <a:spLocks noGrp="1"/>
          </p:cNvSpPr>
          <p:nvPr>
            <p:ph type="title"/>
          </p:nvPr>
        </p:nvSpPr>
        <p:spPr>
          <a:xfrm>
            <a:off x="484239" y="335629"/>
            <a:ext cx="10515600" cy="893404"/>
          </a:xfrm>
        </p:spPr>
        <p:txBody>
          <a:bodyPr/>
          <a:lstStyle/>
          <a:p>
            <a:r>
              <a:rPr lang="en-US" b="1" dirty="0"/>
              <a:t>Component Diagram</a:t>
            </a:r>
            <a:endParaRPr lang="en-IN" b="1" dirty="0"/>
          </a:p>
        </p:txBody>
      </p:sp>
      <p:pic>
        <p:nvPicPr>
          <p:cNvPr id="5" name="Content Placeholder 4">
            <a:extLst>
              <a:ext uri="{FF2B5EF4-FFF2-40B4-BE49-F238E27FC236}">
                <ns2:creationId id="{91BAFCC5-6888-BCAF-B27A-FF69CBF287EB}"/>
              </a:ext>
            </a:extLst>
          </p:cNvPr>
          <p:cNvPicPr>
            <a:picLocks noGrp="1" noChangeAspect="1"/>
          </p:cNvPicPr>
          <p:nvPr>
            <p:ph idx="1"/>
          </p:nvPr>
        </p:nvPicPr>
        <p:blipFill>
          <a:blip r:embed="rId2">
            <a:extLst>
              <a:ext uri="{28A0092B-C50C-407E-A947-70E740481C1C}">
                <ns4:useLocalDpi val="0"/>
              </a:ext>
            </a:extLst>
          </a:blip>
          <a:stretch>
            <a:fillRect/>
          </a:stretch>
        </p:blipFill>
        <p:spPr>
          <a:xfrm>
            <a:off x="3079750" y="1206500"/>
            <a:ext cx="6032500" cy="4826000"/>
          </a:xfrm>
        </p:spPr>
      </p:pic>
      <p:sp>
        <p:nvSpPr>
          <p:cNvPr id="3" name="Date Placeholder 2">
            <a:extLst>
              <a:ext uri="{FF2B5EF4-FFF2-40B4-BE49-F238E27FC236}">
                <ns2:creationId id="{AF7CBF1E-AAA3-0839-29C9-F9256DA8FBAB}"/>
              </a:ext>
            </a:extLst>
          </p:cNvPr>
          <p:cNvSpPr>
            <a:spLocks noGrp="1"/>
          </p:cNvSpPr>
          <p:nvPr>
            <p:ph type="dt" sz="half" idx="10"/>
          </p:nvPr>
        </p:nvSpPr>
        <p:spPr/>
        <p:txBody>
          <a:bodyPr/>
          <a:lstStyle/>
          <a:p>
            <a:fld id="{6F5436AE-ED66-4554-A09B-B4A17025D523}" type="datetime1">
              <a:rPr lang="en-IN" smtClean="0"/>
              <a:t>13-10-2026</a:t>
            </a:fld>
            <a:endParaRPr lang="en-IN"/>
          </a:p>
        </p:txBody>
      </p:sp>
      <p:sp>
        <p:nvSpPr>
          <p:cNvPr id="4" name="Footer Placeholder 3">
            <a:extLst>
              <a:ext uri="{FF2B5EF4-FFF2-40B4-BE49-F238E27FC236}">
                <ns2:creationId id="{D0223028-EAD9-875E-1EA1-F534112755A6}"/>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ABDAFA02-0236-1F17-26AC-72E7D1FBA65F}"/>
              </a:ext>
            </a:extLst>
          </p:cNvPr>
          <p:cNvSpPr>
            <a:spLocks noGrp="1"/>
          </p:cNvSpPr>
          <p:nvPr>
            <p:ph type="sldNum" sz="quarter" idx="12"/>
          </p:nvPr>
        </p:nvSpPr>
        <p:spPr/>
        <p:txBody>
          <a:bodyPr/>
          <a:lstStyle/>
          <a:p>
            <a:fld id="{AE8ECBEC-9D45-4A96-9D52-E47BFA67FC36}" type="slidenum">
              <a:rPr lang="en-IN" smtClean="0"/>
              <a:t>14</a:t>
            </a:fld>
            <a:endParaRPr lang="en-IN"/>
          </a:p>
        </p:txBody>
      </p:sp>
    </p:spTree>
    <p:extLst>
      <p:ext uri="{BB962C8B-B14F-4D97-AF65-F5344CB8AC3E}">
        <ns5:creationId val="1980152441"/>
      </p:ext>
    </p:extLst>
  </p:cSld>
  <p:clrMapOvr>
    <a:masterClrMapping/>
  </p:clrMapOvr>
</p:sld>
</file>

<file path=ppt/slides/slide15.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E05FE844-F90B-5648-0A68-80394AF23CD9}"/>
              </a:ext>
            </a:extLst>
          </p:cNvPr>
          <p:cNvSpPr>
            <a:spLocks noGrp="1"/>
          </p:cNvSpPr>
          <p:nvPr>
            <p:ph type="title"/>
          </p:nvPr>
        </p:nvSpPr>
        <p:spPr>
          <a:xfrm>
            <a:off x="297427" y="315964"/>
            <a:ext cx="10515600" cy="952398"/>
          </a:xfrm>
        </p:spPr>
        <p:txBody>
          <a:bodyPr/>
          <a:lstStyle/>
          <a:p>
            <a:r>
              <a:rPr lang="en-US" b="1" dirty="0"/>
              <a:t>Deployment Diagram</a:t>
            </a:r>
            <a:endParaRPr lang="en-IN" b="1" dirty="0"/>
          </a:p>
        </p:txBody>
      </p:sp>
      <p:pic>
        <p:nvPicPr>
          <p:cNvPr id="5" name="Content Placeholder 4">
            <a:extLst>
              <a:ext uri="{FF2B5EF4-FFF2-40B4-BE49-F238E27FC236}">
                <ns2:creationId id="{283EB60F-E9A7-2955-EE23-71B936EE1FDC}"/>
              </a:ext>
            </a:extLst>
          </p:cNvPr>
          <p:cNvPicPr>
            <a:picLocks noGrp="1" noChangeAspect="1"/>
          </p:cNvPicPr>
          <p:nvPr>
            <p:ph idx="1"/>
          </p:nvPr>
        </p:nvPicPr>
        <p:blipFill>
          <a:blip r:embed="rId2">
            <a:extLst>
              <a:ext uri="{28A0092B-C50C-407E-A947-70E740481C1C}">
                <ns4:useLocalDpi val="0"/>
              </a:ext>
            </a:extLst>
          </a:blip>
          <a:stretch>
            <a:fillRect/>
          </a:stretch>
        </p:blipFill>
        <p:spPr>
          <a:xfrm>
            <a:off x="3145437" y="1206500"/>
            <a:ext cx="5901125" cy="4826000"/>
          </a:xfrm>
        </p:spPr>
      </p:pic>
      <p:sp>
        <p:nvSpPr>
          <p:cNvPr id="3" name="Date Placeholder 2">
            <a:extLst>
              <a:ext uri="{FF2B5EF4-FFF2-40B4-BE49-F238E27FC236}">
                <ns2:creationId id="{FFAB0DE6-F428-662C-BA70-296EFA7BE889}"/>
              </a:ext>
            </a:extLst>
          </p:cNvPr>
          <p:cNvSpPr>
            <a:spLocks noGrp="1"/>
          </p:cNvSpPr>
          <p:nvPr>
            <p:ph type="dt" sz="half" idx="10"/>
          </p:nvPr>
        </p:nvSpPr>
        <p:spPr/>
        <p:txBody>
          <a:bodyPr/>
          <a:lstStyle/>
          <a:p>
            <a:fld id="{050C84AF-347E-42A5-9F46-820271EC0D8F}" type="datetime1">
              <a:rPr lang="en-IN" smtClean="0"/>
              <a:t>13-10-2026</a:t>
            </a:fld>
            <a:endParaRPr lang="en-IN"/>
          </a:p>
        </p:txBody>
      </p:sp>
      <p:sp>
        <p:nvSpPr>
          <p:cNvPr id="4" name="Footer Placeholder 3">
            <a:extLst>
              <a:ext uri="{FF2B5EF4-FFF2-40B4-BE49-F238E27FC236}">
                <ns2:creationId id="{47082F60-4A31-D9B7-4D26-FC007230FD92}"/>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88413A95-91B6-07B7-59D7-FBEEEC3097B1}"/>
              </a:ext>
            </a:extLst>
          </p:cNvPr>
          <p:cNvSpPr>
            <a:spLocks noGrp="1"/>
          </p:cNvSpPr>
          <p:nvPr>
            <p:ph type="sldNum" sz="quarter" idx="12"/>
          </p:nvPr>
        </p:nvSpPr>
        <p:spPr/>
        <p:txBody>
          <a:bodyPr/>
          <a:lstStyle/>
          <a:p>
            <a:fld id="{AE8ECBEC-9D45-4A96-9D52-E47BFA67FC36}" type="slidenum">
              <a:rPr lang="en-IN" smtClean="0"/>
              <a:t>15</a:t>
            </a:fld>
            <a:endParaRPr lang="en-IN"/>
          </a:p>
        </p:txBody>
      </p:sp>
    </p:spTree>
    <p:extLst>
      <p:ext uri="{BB962C8B-B14F-4D97-AF65-F5344CB8AC3E}">
        <ns5:creationId val="2408902381"/>
      </p:ext>
    </p:extLst>
  </p:cSld>
  <p:clrMapOvr>
    <a:masterClrMapping/>
  </p:clrMapOvr>
</p:sld>
</file>

<file path=ppt/slides/slide16.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48F730F0-5DAD-AD33-3DEB-700160FB6ED5}"/>
              </a:ext>
            </a:extLst>
          </p:cNvPr>
          <p:cNvSpPr>
            <a:spLocks noGrp="1"/>
          </p:cNvSpPr>
          <p:nvPr>
            <p:ph type="title"/>
          </p:nvPr>
        </p:nvSpPr>
        <p:spPr>
          <a:xfrm>
            <a:off x="604684" y="103239"/>
            <a:ext cx="10515600" cy="854075"/>
          </a:xfrm>
        </p:spPr>
        <p:txBody>
          <a:bodyPr/>
          <a:lstStyle/>
          <a:p>
            <a:r>
              <a:rPr lang="en-IN" b="1" dirty="0"/>
              <a:t>State Chart Diagram</a:t>
            </a:r>
          </a:p>
        </p:txBody>
      </p:sp>
      <p:pic>
        <p:nvPicPr>
          <p:cNvPr id="5" name="Content Placeholder 4">
            <a:extLst>
              <a:ext uri="{FF2B5EF4-FFF2-40B4-BE49-F238E27FC236}">
                <ns2:creationId id="{D55A22D4-C8F4-08ED-B10A-6EB637631EBA}"/>
              </a:ext>
            </a:extLst>
          </p:cNvPr>
          <p:cNvPicPr>
            <a:picLocks noGrp="1" noChangeAspect="1"/>
          </p:cNvPicPr>
          <p:nvPr>
            <p:ph idx="1"/>
          </p:nvPr>
        </p:nvPicPr>
        <p:blipFill>
          <a:blip r:embed="rId2">
            <a:extLst>
              <a:ext uri="{28A0092B-C50C-407E-A947-70E740481C1C}">
                <ns4:useLocalDpi val="0"/>
              </a:ext>
            </a:extLst>
          </a:blip>
          <a:stretch>
            <a:fillRect/>
          </a:stretch>
        </p:blipFill>
        <p:spPr>
          <a:xfrm>
            <a:off x="2075405" y="1206500"/>
            <a:ext cx="8041189" cy="4826000"/>
          </a:xfrm>
        </p:spPr>
      </p:pic>
      <p:sp>
        <p:nvSpPr>
          <p:cNvPr id="3" name="Date Placeholder 2">
            <a:extLst>
              <a:ext uri="{FF2B5EF4-FFF2-40B4-BE49-F238E27FC236}">
                <ns2:creationId id="{F3357F69-5191-EC5E-7DEC-7CF3050F3D36}"/>
              </a:ext>
            </a:extLst>
          </p:cNvPr>
          <p:cNvSpPr>
            <a:spLocks noGrp="1"/>
          </p:cNvSpPr>
          <p:nvPr>
            <p:ph type="dt" sz="half" idx="10"/>
          </p:nvPr>
        </p:nvSpPr>
        <p:spPr/>
        <p:txBody>
          <a:bodyPr/>
          <a:lstStyle/>
          <a:p>
            <a:fld id="{1648496D-CE77-46BF-8592-E5202D20EBFF}" type="datetime1">
              <a:rPr lang="en-IN" smtClean="0"/>
              <a:t>13-10-2026</a:t>
            </a:fld>
            <a:endParaRPr lang="en-IN"/>
          </a:p>
        </p:txBody>
      </p:sp>
      <p:sp>
        <p:nvSpPr>
          <p:cNvPr id="4" name="Footer Placeholder 3">
            <a:extLst>
              <a:ext uri="{FF2B5EF4-FFF2-40B4-BE49-F238E27FC236}">
                <ns2:creationId id="{86CACC7A-97BB-86E7-28B1-617F1548B6B0}"/>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B93B8B50-76CE-7D05-EDA3-98AA5FA78007}"/>
              </a:ext>
            </a:extLst>
          </p:cNvPr>
          <p:cNvSpPr>
            <a:spLocks noGrp="1"/>
          </p:cNvSpPr>
          <p:nvPr>
            <p:ph type="sldNum" sz="quarter" idx="12"/>
          </p:nvPr>
        </p:nvSpPr>
        <p:spPr/>
        <p:txBody>
          <a:bodyPr/>
          <a:lstStyle/>
          <a:p>
            <a:fld id="{AE8ECBEC-9D45-4A96-9D52-E47BFA67FC36}" type="slidenum">
              <a:rPr lang="en-IN" smtClean="0"/>
              <a:t>16</a:t>
            </a:fld>
            <a:endParaRPr lang="en-IN"/>
          </a:p>
        </p:txBody>
      </p:sp>
    </p:spTree>
    <p:extLst>
      <p:ext uri="{BB962C8B-B14F-4D97-AF65-F5344CB8AC3E}">
        <ns5:creationId val="12983586"/>
      </p:ext>
    </p:extLst>
  </p:cSld>
  <p:clrMapOvr>
    <a:masterClrMapping/>
  </p:clrMapOvr>
</p:sld>
</file>

<file path=ppt/slides/slide17.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C41EA6FD-19F2-AECE-5A49-332B8CD96F1E}"/>
              </a:ext>
            </a:extLst>
          </p:cNvPr>
          <p:cNvSpPr>
            <a:spLocks noGrp="1"/>
          </p:cNvSpPr>
          <p:nvPr>
            <p:ph type="title"/>
          </p:nvPr>
        </p:nvSpPr>
        <p:spPr>
          <a:xfrm>
            <a:off x="494070" y="0"/>
            <a:ext cx="10515600" cy="882292"/>
          </a:xfrm>
        </p:spPr>
        <p:txBody>
          <a:bodyPr>
            <a:normAutofit/>
          </a:bodyPr>
          <a:lstStyle/>
          <a:p>
            <a:r>
              <a:rPr lang="en-IN" b="1" dirty="0"/>
              <a:t>Activity Diagram</a:t>
            </a:r>
          </a:p>
        </p:txBody>
      </p:sp>
      <p:pic>
        <p:nvPicPr>
          <p:cNvPr id="5" name="Content Placeholder 4">
            <a:extLst>
              <a:ext uri="{FF2B5EF4-FFF2-40B4-BE49-F238E27FC236}">
                <ns2:creationId id="{A597E756-D4A6-8398-4272-7C6091877C96}"/>
              </a:ext>
            </a:extLst>
          </p:cNvPr>
          <p:cNvPicPr>
            <a:picLocks noGrp="1" noChangeAspect="1"/>
          </p:cNvPicPr>
          <p:nvPr>
            <p:ph idx="1"/>
          </p:nvPr>
        </p:nvPicPr>
        <p:blipFill>
          <a:blip r:embed="rId2">
            <a:extLst>
              <a:ext uri="{28A0092B-C50C-407E-A947-70E740481C1C}">
                <ns4:useLocalDpi val="0"/>
              </a:ext>
            </a:extLst>
          </a:blip>
          <a:stretch>
            <a:fillRect/>
          </a:stretch>
        </p:blipFill>
        <p:spPr>
          <a:xfrm>
            <a:off x="3594762" y="1206500"/>
            <a:ext cx="5002474" cy="4826000"/>
          </a:xfrm>
        </p:spPr>
      </p:pic>
      <p:sp>
        <p:nvSpPr>
          <p:cNvPr id="3" name="Date Placeholder 2">
            <a:extLst>
              <a:ext uri="{FF2B5EF4-FFF2-40B4-BE49-F238E27FC236}">
                <ns2:creationId id="{3EFBC608-BF97-5D9E-0CE6-4707D5E72B0F}"/>
              </a:ext>
            </a:extLst>
          </p:cNvPr>
          <p:cNvSpPr>
            <a:spLocks noGrp="1"/>
          </p:cNvSpPr>
          <p:nvPr>
            <p:ph type="dt" sz="half" idx="10"/>
          </p:nvPr>
        </p:nvSpPr>
        <p:spPr/>
        <p:txBody>
          <a:bodyPr/>
          <a:lstStyle/>
          <a:p>
            <a:fld id="{9D063CC4-327E-4764-9425-091C67537CBE}" type="datetime1">
              <a:rPr lang="en-IN" smtClean="0"/>
              <a:t>13-10-2026</a:t>
            </a:fld>
            <a:endParaRPr lang="en-IN"/>
          </a:p>
        </p:txBody>
      </p:sp>
      <p:sp>
        <p:nvSpPr>
          <p:cNvPr id="4" name="Footer Placeholder 3">
            <a:extLst>
              <a:ext uri="{FF2B5EF4-FFF2-40B4-BE49-F238E27FC236}">
                <ns2:creationId id="{665AA655-3B18-E09A-A8B9-C4B21D88A758}"/>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19ED70E6-0B13-3D45-C5DA-3FDF84848A3B}"/>
              </a:ext>
            </a:extLst>
          </p:cNvPr>
          <p:cNvSpPr>
            <a:spLocks noGrp="1"/>
          </p:cNvSpPr>
          <p:nvPr>
            <p:ph type="sldNum" sz="quarter" idx="12"/>
          </p:nvPr>
        </p:nvSpPr>
        <p:spPr/>
        <p:txBody>
          <a:bodyPr/>
          <a:lstStyle/>
          <a:p>
            <a:fld id="{AE8ECBEC-9D45-4A96-9D52-E47BFA67FC36}" type="slidenum">
              <a:rPr lang="en-IN" smtClean="0"/>
              <a:t>17</a:t>
            </a:fld>
            <a:endParaRPr lang="en-IN"/>
          </a:p>
        </p:txBody>
      </p:sp>
    </p:spTree>
    <p:extLst>
      <p:ext uri="{BB962C8B-B14F-4D97-AF65-F5344CB8AC3E}">
        <ns5:creationId val="1962092698"/>
      </p:ext>
    </p:extLst>
  </p:cSld>
  <p:clrMapOvr>
    <a:masterClrMapping/>
  </p:clrMapOvr>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ns2:creationId id="{FB23922D-A8FE-72C8-B91E-E9D7274E5B5F}"/>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ns2:creationId id="{4C0BF618-1A19-4515-BD91-9FDA7FF66C55}"/>
              </a:ext>
            </a:extLst>
          </p:cNvPr>
          <p:cNvSpPr>
            <a:spLocks noGrp="1"/>
          </p:cNvSpPr>
          <p:nvPr>
            <p:ph idx="1"/>
          </p:nvPr>
        </p:nvSpPr>
        <p:spPr>
          <a:xfrm>
            <a:off x="838200" y="1825624"/>
            <a:ext cx="10515600" cy="4486685"/>
          </a:xfrm>
        </p:spPr>
        <p:txBody>
          <a:bodyPr>
            <a:normAutofit/>
          </a:bodyPr>
          <a:lstStyle/>
          <a:p>
            <a:pPr algn="just">
              <a:buNone/>
            </a:pPr>
            <a:r>
              <a:rPr lang="en-US" sz="1900" dirty="0"/>
              <a:t>In conclusion, the proposed WORKUP platform introduces a practical and modern approach to bridging the gap between classroom programming and real-world software engineering. By immersing learners in simulated technology companies with authentic task backlogs, Architecture Decision Records (ADRs), and legacy codebases, the system addresses the critical limitations of conventional coding websites that rely on isolated toy problems.</a:t>
            </a:r>
          </a:p>
          <a:p>
            <a:pPr>
              <a:buNone/>
            </a:pPr>
            <a:endParaRPr sz="600"/>
          </a:p>
          <a:p>
            <a:pPr algn="just">
              <a:buNone/>
            </a:pPr>
            <a:r>
              <a:rPr lang="en-US" sz="1900" dirty="0"/>
              <a:t>The platform combines zero-setup browser sandboxes, automated in-sandbox testing via Vitest, and AI-assisted code reviews to provide immediate, actionable feedback to learners. As tasks are completed, verifiable Git commit records build an authentic Evidence-of-Skill portfolio for recruiters and educators. This prototype lays a solid architectural foundation for virtual workplace simulations, setting the stage for future extensions including multi-developer collaboration, cloud infrastructure simulations, and specialized role tracks.</a:t>
            </a:r>
          </a:p>
          <a:p>
            <a:pPr>
              <a:buNone/>
            </a:pPr>
            <a:endParaRPr sz="600"/>
          </a:p>
        </p:txBody>
      </p:sp>
      <p:sp>
        <p:nvSpPr>
          <p:cNvPr id="4" name="Date Placeholder 3">
            <a:extLst>
              <a:ext uri="{FF2B5EF4-FFF2-40B4-BE49-F238E27FC236}">
                <ns2:creationId id="{4019D46F-CA01-D20C-94C6-78699D691A35}"/>
              </a:ext>
            </a:extLst>
          </p:cNvPr>
          <p:cNvSpPr>
            <a:spLocks noGrp="1"/>
          </p:cNvSpPr>
          <p:nvPr>
            <p:ph type="dt" sz="half" idx="10"/>
          </p:nvPr>
        </p:nvSpPr>
        <p:spPr/>
        <p:txBody>
          <a:bodyPr/>
          <a:lstStyle/>
          <a:p>
            <a:fld id="{464C2884-D37C-46E3-A4A8-433B3397A0C3}" type="datetime1">
              <a:rPr lang="en-IN" smtClean="0"/>
              <a:t>13-10-2026</a:t>
            </a:fld>
            <a:endParaRPr lang="en-IN"/>
          </a:p>
        </p:txBody>
      </p:sp>
      <p:sp>
        <p:nvSpPr>
          <p:cNvPr id="5" name="Footer Placeholder 4">
            <a:extLst>
              <a:ext uri="{FF2B5EF4-FFF2-40B4-BE49-F238E27FC236}">
                <ns2:creationId id="{B4C763FE-4CD6-7639-C88C-50A6DE06A7F4}"/>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B86BE0E4-037D-B3FA-B40B-9D13CC255CA6}"/>
              </a:ext>
            </a:extLst>
          </p:cNvPr>
          <p:cNvSpPr>
            <a:spLocks noGrp="1"/>
          </p:cNvSpPr>
          <p:nvPr>
            <p:ph type="sldNum" sz="quarter" idx="12"/>
          </p:nvPr>
        </p:nvSpPr>
        <p:spPr/>
        <p:txBody>
          <a:bodyPr/>
          <a:lstStyle/>
          <a:p>
            <a:fld id="{AE8ECBEC-9D45-4A96-9D52-E47BFA67FC36}" type="slidenum">
              <a:rPr lang="en-IN" smtClean="0"/>
              <a:t>18</a:t>
            </a:fld>
            <a:endParaRPr lang="en-IN"/>
          </a:p>
        </p:txBody>
      </p:sp>
    </p:spTree>
    <p:extLst>
      <p:ext uri="{BB962C8B-B14F-4D97-AF65-F5344CB8AC3E}">
        <ns3:creationId val="684313838"/>
      </p:ext>
    </p:extLst>
  </p:cSld>
  <p:clrMapOvr>
    <a:masterClrMapping/>
  </p:clrMapOvr>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ns2:creationId id="{7C428E50-06F8-71ED-70F9-94D3BBBC60FC}"/>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ns2:creationId id="{8FA032F0-D75B-B212-48CD-EB6997A13B2D}"/>
              </a:ext>
            </a:extLst>
          </p:cNvPr>
          <p:cNvSpPr>
            <a:spLocks noGrp="1"/>
          </p:cNvSpPr>
          <p:nvPr>
            <p:ph idx="1"/>
          </p:nvPr>
        </p:nvSpPr>
        <p:spPr>
          <a:xfrm>
            <a:off x="838200" y="1825624"/>
            <a:ext cx="10515600" cy="4585007"/>
          </a:xfrm>
        </p:spPr>
        <p:txBody>
          <a:bodyPr/>
          <a:lstStyle/>
          <a:p>
            <a:pPr marL="360000" indent="-360000">
              <a:buFont typeface="Arial"/>
              <a:buChar char="•"/>
            </a:pPr>
            <a:r>
              <a:rPr lang="en-US" sz="1800" dirty="0"/>
              <a:t>Navarro, E., &amp; van der Hoek, A. (2007). Comprehensive evaluation of an educational software engineering simulation environment. IEEE Transactions on Software Engineering, 33(6), 409-425.</a:t>
            </a:r>
          </a:p>
          <a:p>
            <a:endParaRPr sz="600"/>
          </a:p>
          <a:p>
            <a:pPr marL="360000" indent="-360000">
              <a:buFont typeface="Arial"/>
              <a:buChar char="•"/>
            </a:pPr>
            <a:r>
              <a:rPr lang="en-US" sz="1800" dirty="0"/>
              <a:t>Radermacher, A., &amp; Walia, G. (2013). Gaps between industry expectations and university preparation in software engineering. In Proceedings of the 44th ACM Technical Symposium on Computer Science Education (SIGCSE), 525-530.</a:t>
            </a:r>
          </a:p>
          <a:p>
            <a:endParaRPr sz="600"/>
          </a:p>
          <a:p>
            <a:pPr marL="360000" indent="-360000">
              <a:buFont typeface="Arial"/>
              <a:buChar char="•"/>
            </a:pPr>
            <a:r>
              <a:rPr lang="en-US" sz="1800" dirty="0"/>
              <a:t>Kratzke, N. (2018). Lightweight container isolation for computing education. IEEE Transactions on Education, 61(2), 127-134.</a:t>
            </a:r>
          </a:p>
          <a:p>
            <a:endParaRPr sz="600"/>
          </a:p>
          <a:p>
            <a:pPr marL="360000" indent="-360000">
              <a:buFont typeface="Arial"/>
              <a:buChar char="•"/>
            </a:pPr>
            <a:r>
              <a:rPr lang="en-US" sz="1800" dirty="0"/>
              <a:t>Bogner, C., Verdecchia, R., &amp; Lago, P. (2021). Automated code review in software engineering: A systematic literature review. IEEE Access, 9, 78241-78262.</a:t>
            </a:r>
          </a:p>
          <a:p>
            <a:endParaRPr sz="600"/>
          </a:p>
          <a:p>
            <a:pPr marL="360000" indent="-360000">
              <a:buFont typeface="Arial"/>
              <a:buChar char="•"/>
            </a:pPr>
            <a:r>
              <a:rPr lang="en-US" sz="1800" dirty="0"/>
              <a:t>Shepherd, D., Pollock, L., &amp; Vaishnavi, V. K. (2019). Scaffolding software engineering learning through directed acyclic graph workflows. IEEE Transactions on Learning Technologies, 12(3), 341-354.</a:t>
            </a:r>
          </a:p>
          <a:p>
            <a:endParaRPr sz="600"/>
          </a:p>
        </p:txBody>
      </p:sp>
      <p:sp>
        <p:nvSpPr>
          <p:cNvPr id="4" name="Date Placeholder 3">
            <a:extLst>
              <a:ext uri="{FF2B5EF4-FFF2-40B4-BE49-F238E27FC236}">
                <ns2:creationId id="{0A73BADE-469F-55C7-BCEB-D08B35488CB6}"/>
              </a:ext>
            </a:extLst>
          </p:cNvPr>
          <p:cNvSpPr>
            <a:spLocks noGrp="1"/>
          </p:cNvSpPr>
          <p:nvPr>
            <p:ph type="dt" sz="half" idx="10"/>
          </p:nvPr>
        </p:nvSpPr>
        <p:spPr/>
        <p:txBody>
          <a:bodyPr/>
          <a:lstStyle/>
          <a:p>
            <a:fld id="{6FA0224B-EA00-4FCF-82CF-97DA87D1DD6A}" type="datetime1">
              <a:rPr lang="en-IN" smtClean="0"/>
              <a:t>13-10-2026</a:t>
            </a:fld>
            <a:endParaRPr lang="en-IN"/>
          </a:p>
        </p:txBody>
      </p:sp>
      <p:sp>
        <p:nvSpPr>
          <p:cNvPr id="5" name="Footer Placeholder 4">
            <a:extLst>
              <a:ext uri="{FF2B5EF4-FFF2-40B4-BE49-F238E27FC236}">
                <ns2:creationId id="{FC875BD0-CEC3-6A36-3D7A-614D090A2876}"/>
              </a:ext>
            </a:extLst>
          </p:cNvPr>
          <p:cNvSpPr>
            <a:spLocks noGrp="1"/>
          </p:cNvSpPr>
          <p:nvPr>
            <p:ph type="ftr" sz="quarter" idx="11"/>
          </p:nvPr>
        </p:nvSpPr>
        <p:spPr/>
        <p:txBody>
          <a:bodyPr/>
          <a:lstStyle/>
          <a:p>
            <a:r>
              <a:rPr lang="en-IN"/>
              <a:t>AI &amp; DS</a:t>
            </a:r>
          </a:p>
        </p:txBody>
      </p:sp>
      <p:sp>
        <p:nvSpPr>
          <p:cNvPr id="6" name="Slide Number Placeholder 5">
            <a:extLst>
              <a:ext uri="{FF2B5EF4-FFF2-40B4-BE49-F238E27FC236}">
                <ns2:creationId id="{702CF90B-2716-CA58-6252-7C3B881091A8}"/>
              </a:ext>
            </a:extLst>
          </p:cNvPr>
          <p:cNvSpPr>
            <a:spLocks noGrp="1"/>
          </p:cNvSpPr>
          <p:nvPr>
            <p:ph type="sldNum" sz="quarter" idx="12"/>
          </p:nvPr>
        </p:nvSpPr>
        <p:spPr/>
        <p:txBody>
          <a:bodyPr/>
          <a:lstStyle/>
          <a:p>
            <a:fld id="{AE8ECBEC-9D45-4A96-9D52-E47BFA67FC36}" type="slidenum">
              <a:rPr lang="en-IN" smtClean="0"/>
              <a:t>19</a:t>
            </a:fld>
            <a:endParaRPr lang="en-IN"/>
          </a:p>
        </p:txBody>
      </p:sp>
    </p:spTree>
    <p:extLst>
      <p:ext uri="{BB962C8B-B14F-4D97-AF65-F5344CB8AC3E}">
        <ns3:creationId val="2233709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066011-08B7-1F63-3966-2AE337D58869}"/>
              </a:ext>
            </a:extLst>
          </p:cNvPr>
          <p:cNvSpPr>
            <a:spLocks noGrp="1"/>
          </p:cNvSpPr>
          <p:nvPr>
            <p:ph type="dt" sz="half" idx="10"/>
          </p:nvPr>
        </p:nvSpPr>
        <p:spPr/>
        <p:txBody>
          <a:bodyPr/>
          <a:lstStyle/>
          <a:p>
            <a:fld id="{B7AA5C15-C5DB-47A6-AA46-F0BF722522E8}" type="datetime1">
              <a:rPr lang="en-IN" smtClean="0"/>
              <a:t>13-10-2026</a:t>
            </a:fld>
            <a:endParaRPr lang="en-IN"/>
          </a:p>
        </p:txBody>
      </p:sp>
      <p:sp>
        <p:nvSpPr>
          <p:cNvPr id="3" name="Footer Placeholder 2">
            <a:extLst>
              <a:ext uri="{FF2B5EF4-FFF2-40B4-BE49-F238E27FC236}">
                <a16:creationId xmlns:a16="http://schemas.microsoft.com/office/drawing/2014/main" id="{F7257AF4-4899-7E04-18B2-539AA6540388}"/>
              </a:ext>
            </a:extLst>
          </p:cNvPr>
          <p:cNvSpPr>
            <a:spLocks noGrp="1"/>
          </p:cNvSpPr>
          <p:nvPr>
            <p:ph type="ftr" sz="quarter" idx="11"/>
          </p:nvPr>
        </p:nvSpPr>
        <p:spPr/>
        <p:txBody>
          <a:bodyPr/>
          <a:lstStyle/>
          <a:p>
            <a:r>
              <a:rPr lang="en-IN"/>
              <a:t>AI &amp; DS</a:t>
            </a:r>
          </a:p>
        </p:txBody>
      </p:sp>
      <p:sp>
        <p:nvSpPr>
          <p:cNvPr id="4" name="Slide Number Placeholder 3">
            <a:extLst>
              <a:ext uri="{FF2B5EF4-FFF2-40B4-BE49-F238E27FC236}">
                <a16:creationId xmlns:a16="http://schemas.microsoft.com/office/drawing/2014/main" id="{56D8FE27-852F-E74A-5E71-CC0326CA5D7E}"/>
              </a:ext>
            </a:extLst>
          </p:cNvPr>
          <p:cNvSpPr>
            <a:spLocks noGrp="1"/>
          </p:cNvSpPr>
          <p:nvPr>
            <p:ph type="sldNum" sz="quarter" idx="12"/>
          </p:nvPr>
        </p:nvSpPr>
        <p:spPr/>
        <p:txBody>
          <a:bodyPr/>
          <a:lstStyle/>
          <a:p>
            <a:fld id="{AE8ECBEC-9D45-4A96-9D52-E47BFA67FC36}" type="slidenum">
              <a:rPr lang="en-IN" smtClean="0"/>
              <a:t>20</a:t>
            </a:fld>
            <a:endParaRPr lang="en-IN"/>
          </a:p>
        </p:txBody>
      </p:sp>
      <p:sp>
        <p:nvSpPr>
          <p:cNvPr id="7" name="Content Placeholder 6">
            <a:extLst>
              <a:ext uri="{FF2B5EF4-FFF2-40B4-BE49-F238E27FC236}">
                <a16:creationId xmlns:a16="http://schemas.microsoft.com/office/drawing/2014/main" id="{14A15F02-38FA-D441-7245-192D5977A698}"/>
              </a:ext>
            </a:extLst>
          </p:cNvPr>
          <p:cNvSpPr>
            <a:spLocks noGrp="1"/>
          </p:cNvSpPr>
          <p:nvPr>
            <p:ph idx="1"/>
          </p:nvPr>
        </p:nvSpPr>
        <p:spPr>
          <a:xfrm>
            <a:off x="3677478" y="2623929"/>
            <a:ext cx="5898874" cy="3254859"/>
          </a:xfrm>
        </p:spPr>
        <p:txBody>
          <a:bodyPr>
            <a:normAutofit/>
          </a:bodyPr>
          <a:lstStyle/>
          <a:p>
            <a:pPr marL="0" indent="0">
              <a:buNone/>
            </a:pPr>
            <a:r>
              <a:rPr lang="en-IN" sz="7200" dirty="0"/>
              <a:t>THANK YOU</a:t>
            </a:r>
          </a:p>
        </p:txBody>
      </p:sp>
    </p:spTree>
    <p:extLst>
      <p:ext uri="{BB962C8B-B14F-4D97-AF65-F5344CB8AC3E}">
        <p14:creationId xmlns:p14="http://schemas.microsoft.com/office/powerpoint/2010/main" val="2975760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TotalTime>
  <Words>1316</Words>
  <Application>Microsoft Office PowerPoint</Application>
  <PresentationFormat>Widescreen</PresentationFormat>
  <Paragraphs>137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Project Title: Explainable Representation Learning for Low-  Resource Code-Mixed Languages</vt:lpstr>
      <vt:lpstr>Abstract</vt:lpstr>
      <vt:lpstr>PowerPoint Presentation</vt:lpstr>
      <vt:lpstr>PowerPoint Presentation</vt:lpstr>
      <vt:lpstr>PowerPoint Presentation</vt:lpstr>
      <vt:lpstr>PowerPoint Presentation</vt:lpstr>
      <vt:lpstr>PowerPoint Presentation</vt:lpstr>
      <vt:lpstr>Architecture Diagram</vt:lpstr>
      <vt:lpstr>Use Case Diagram</vt:lpstr>
      <vt:lpstr>Class Diagram</vt:lpstr>
      <vt:lpstr>Object Diagram</vt:lpstr>
      <vt:lpstr>Sequence Diagram</vt:lpstr>
      <vt:lpstr>Collaboration Diagram</vt:lpstr>
      <vt:lpstr>Component Diagram</vt:lpstr>
      <vt:lpstr>Deployment Diagram</vt:lpstr>
      <vt:lpstr>State Chart Diagram</vt:lpstr>
      <vt:lpstr>Activity Diagram</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 CHENAGONI</dc:creator>
  <cp:lastModifiedBy>lalitha hari</cp:lastModifiedBy>
  <cp:revision>11</cp:revision>
  <dcterms:created xsi:type="dcterms:W3CDTF">2024-10-14T16:45:35Z</dcterms:created>
  <dcterms:modified xsi:type="dcterms:W3CDTF">2026-10-13T05:02:27Z</dcterms:modified>
</cp:coreProperties>
</file>